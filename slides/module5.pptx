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44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2260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5 leaves the tidy one-body world: past GEO, Earth and Moon share custody of every trajectory. The whole module is really about reference frames — what you choose to hold still changes everything you see. The 2x2 four-frame view is the centerpiece; budget time for it.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Cislunar space is the new operational frontier, and it is enormous compared with the shells we have watched for decades. The Moon sits squarely inside xGEO, so lunar traffic is xGEO traffic. Sell the skill: the same motion can look like chaos or like a frozen diagram depending on the frame.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Moon is about 60 Earth radii away — GEO, our previous 'far,' is barely a tenth of the way. Earth and Moon orbit a shared balance point 4,670 kilometers from Earth's center, buried inside the planet, so Earth wobbles monthly around it. The sim marks the barycenter with an orange cross; have students picture the wobble rather than watch for it, since the tool keeps Earth pinned.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Which body you orbit is a tug-of-war. The Moon's gravitational territory reaches about 61,500 kilometers; the Earth-Moon balance point sits about 85 percent of the way out, not halfway, because the Moon is so much lighter. The same handoff repeats one level up at Earth's own Hill edge, where the Sun takes over.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physics, four cameras. ECI is the star-fixed view; the synodic frame pins the Earth-Moon line, which is where transfers make sense; MCI recenters on the Moon; and ECL-EMBR — barycentric, rotating — freezes both bodies so the Lagrange points stand still. The 2x2 compare view shows all four at once on one clock; it is the module's centerpiece.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Moon holds satellites in ellipses just like Earth, only gentler — orbiting and escaping take a fraction of the speed. The killer detail for transfers: the Moon moves a long way during your multi-day coast, so you aim at where it will be. That duck-hunter instinct is rehearsed here and flown for real in Module 8.</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release-along-the-line exercise makes the 85-percent balance point a discovery, not a fact. Give the four-frame 2x2 view unhurried time — it is where the module's idea clicks. The duck-hunter transfer is deliberately qualitative here; the cockpit version comes in Module 8.</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Nothing about the motion changes when you switch frames — only your ability to read it. Rotating frames turn month-long spirals into frozen geometry. Worksheet 5 builds the habit of asking 'what am I holding still?' before trusting any picture.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640080" y="777240"/>
            <a:ext cx="8229600" cy="365760"/>
          </a:xfrm>
          <a:prstGeom prst="rect">
            <a:avLst/>
          </a:prstGeom>
          <a:noFill/>
        </p:spPr>
        <p:txBody>
          <a:bodyPr wrap="square" lIns="0" tIns="0" rIns="0" bIns="0">
            <a:spAutoFit/>
          </a:bodyPr>
          <a:lstStyle/>
          <a:p>
            <a:pPr algn="l"/>
            <a:r>
              <a:rPr sz="1300" b="1" i="0">
                <a:solidFill>
                  <a:srgbClr val="FFCF4D"/>
                </a:solidFill>
                <a:latin typeface="Arial"/>
              </a:rPr>
              <a:t>ORBIT ACADEMY — CISLUNAR FUNDAMENTALS</a:t>
            </a:r>
          </a:p>
        </p:txBody>
      </p:sp>
      <p:sp>
        <p:nvSpPr>
          <p:cNvPr id="3" name="TextBox 2"/>
          <p:cNvSpPr txBox="1"/>
          <p:nvPr/>
        </p:nvSpPr>
        <p:spPr>
          <a:xfrm>
            <a:off x="640080" y="1783080"/>
            <a:ext cx="3657600" cy="365760"/>
          </a:xfrm>
          <a:prstGeom prst="rect">
            <a:avLst/>
          </a:prstGeom>
          <a:noFill/>
        </p:spPr>
        <p:txBody>
          <a:bodyPr wrap="square" lIns="0" tIns="0" rIns="0" bIns="0">
            <a:spAutoFit/>
          </a:bodyPr>
          <a:lstStyle/>
          <a:p>
            <a:pPr algn="l"/>
            <a:r>
              <a:rPr sz="1500" b="1" i="0">
                <a:solidFill>
                  <a:srgbClr val="7E93B8"/>
                </a:solidFill>
                <a:latin typeface="Arial"/>
              </a:rPr>
              <a:t>MODULE 5</a:t>
            </a:r>
          </a:p>
        </p:txBody>
      </p:sp>
      <p:sp>
        <p:nvSpPr>
          <p:cNvPr id="4" name="TextBox 3"/>
          <p:cNvSpPr txBox="1"/>
          <p:nvPr/>
        </p:nvSpPr>
        <p:spPr>
          <a:xfrm>
            <a:off x="640080" y="2194560"/>
            <a:ext cx="6766560" cy="1737360"/>
          </a:xfrm>
          <a:prstGeom prst="rect">
            <a:avLst/>
          </a:prstGeom>
          <a:noFill/>
        </p:spPr>
        <p:txBody>
          <a:bodyPr wrap="square" lIns="0" tIns="0" rIns="0" bIns="0">
            <a:spAutoFit/>
          </a:bodyPr>
          <a:lstStyle/>
          <a:p>
            <a:pPr algn="l"/>
            <a:r>
              <a:rPr sz="4000" b="1" i="0">
                <a:solidFill>
                  <a:srgbClr val="5FD0FF"/>
                </a:solidFill>
                <a:latin typeface="Arial"/>
              </a:rPr>
              <a:t>xGEO / Cislunar Space &amp; Reference Frames</a:t>
            </a:r>
          </a:p>
        </p:txBody>
      </p:sp>
      <p:sp>
        <p:nvSpPr>
          <p:cNvPr id="5" name="TextBox 4"/>
          <p:cNvSpPr txBox="1"/>
          <p:nvPr/>
        </p:nvSpPr>
        <p:spPr>
          <a:xfrm>
            <a:off x="640080" y="4160520"/>
            <a:ext cx="5943600" cy="1280160"/>
          </a:xfrm>
          <a:prstGeom prst="rect">
            <a:avLst/>
          </a:prstGeom>
          <a:noFill/>
        </p:spPr>
        <p:txBody>
          <a:bodyPr wrap="square" lIns="0" tIns="0" rIns="0" bIns="0">
            <a:spAutoFit/>
          </a:bodyPr>
          <a:lstStyle/>
          <a:p>
            <a:pPr algn="l"/>
            <a:r>
              <a:rPr sz="1500" b="0" i="1">
                <a:solidFill>
                  <a:srgbClr val="CFE3FF"/>
                </a:solidFill>
                <a:latin typeface="Arial"/>
              </a:rPr>
              <a:t>Beyond the GEO belt to the Moon's doorstep — and the frame-switching skill that makes it all make sense.</a:t>
            </a:r>
          </a:p>
        </p:txBody>
      </p:sp>
      <p:sp>
        <p:nvSpPr>
          <p:cNvPr id="6" name="Oval 5"/>
          <p:cNvSpPr/>
          <p:nvPr/>
        </p:nvSpPr>
        <p:spPr>
          <a:xfrm>
            <a:off x="7543800" y="2697479"/>
            <a:ext cx="4206240" cy="1554480"/>
          </a:xfrm>
          <a:prstGeom prst="ellipse">
            <a:avLst/>
          </a:prstGeom>
          <a:noFill/>
          <a:ln w="15875">
            <a:solidFill>
              <a:srgbClr val="5FD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458200" y="2286000"/>
            <a:ext cx="2377440" cy="2377440"/>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144000" y="2971800"/>
            <a:ext cx="1005840" cy="1005840"/>
          </a:xfrm>
          <a:prstGeom prst="ellipse">
            <a:avLst/>
          </a:prstGeom>
          <a:solidFill>
            <a:srgbClr val="0E2A4A"/>
          </a:solid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90604" y="3415284"/>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596628" y="2235708"/>
            <a:ext cx="100584" cy="100584"/>
          </a:xfrm>
          <a:prstGeom prst="ellipse">
            <a:avLst/>
          </a:prstGeom>
          <a:solidFill>
            <a:srgbClr val="39D3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5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Why you care</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91915" y="1316736"/>
            <a:ext cx="11064240" cy="1938992"/>
          </a:xfrm>
          <a:prstGeom prst="rect">
            <a:avLst/>
          </a:prstGeom>
          <a:noFill/>
        </p:spPr>
        <p:txBody>
          <a:bodyPr wrap="square" lIns="0" tIns="0" rIns="0" bIns="0">
            <a:spAutoFit/>
          </a:bodyPr>
          <a:lstStyle/>
          <a:p>
            <a:pPr algn="l"/>
            <a:r>
              <a:rPr sz="2100" b="1" i="0" dirty="0">
                <a:solidFill>
                  <a:srgbClr val="EAF4FF"/>
                </a:solidFill>
                <a:latin typeface="Arial"/>
              </a:rPr>
              <a:t>Operations are moving beyond GEO. </a:t>
            </a:r>
            <a:endParaRPr lang="en-US" sz="2100" b="1" i="0" dirty="0">
              <a:solidFill>
                <a:srgbClr val="EAF4FF"/>
              </a:solidFill>
              <a:latin typeface="Arial"/>
            </a:endParaRPr>
          </a:p>
          <a:p>
            <a:pPr algn="l"/>
            <a:endParaRPr lang="en-US" sz="2100" b="1" i="0" dirty="0">
              <a:solidFill>
                <a:srgbClr val="EAF4FF"/>
              </a:solidFill>
              <a:latin typeface="Arial"/>
            </a:endParaRPr>
          </a:p>
          <a:p>
            <a:pPr algn="l"/>
            <a:r>
              <a:rPr lang="en-US" sz="2100" b="1" dirty="0">
                <a:solidFill>
                  <a:srgbClr val="EAF4FF"/>
                </a:solidFill>
                <a:latin typeface="Arial"/>
              </a:rPr>
              <a:t>The moon is a natural satellite with an orbital period of a month, and it influences orbits far from the Earth. </a:t>
            </a:r>
          </a:p>
          <a:p>
            <a:pPr algn="l"/>
            <a:endParaRPr lang="en-US" sz="2100" b="1" i="0" dirty="0">
              <a:solidFill>
                <a:srgbClr val="EAF4FF"/>
              </a:solidFill>
              <a:latin typeface="Arial"/>
            </a:endParaRPr>
          </a:p>
          <a:p>
            <a:pPr algn="l"/>
            <a:r>
              <a:rPr lang="en-US" sz="2100" b="1" dirty="0">
                <a:solidFill>
                  <a:srgbClr val="EAF4FF"/>
                </a:solidFill>
                <a:latin typeface="Arial"/>
              </a:rPr>
              <a:t>For satellites in xGeo, nailing the reference frame to the Earth makes little sense. </a:t>
            </a:r>
            <a:endParaRPr sz="2100" b="1" i="0" dirty="0">
              <a:solidFill>
                <a:srgbClr val="EAF4FF"/>
              </a:solidFill>
              <a:latin typeface="Arial"/>
            </a:endParaRPr>
          </a:p>
        </p:txBody>
      </p:sp>
      <p:sp>
        <p:nvSpPr>
          <p:cNvPr id="7" name="Rounded Rectangle 6"/>
          <p:cNvSpPr/>
          <p:nvPr/>
        </p:nvSpPr>
        <p:spPr>
          <a:xfrm>
            <a:off x="548640" y="3892581"/>
            <a:ext cx="3593592" cy="228600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4166901"/>
            <a:ext cx="3081528" cy="1737360"/>
          </a:xfrm>
          <a:prstGeom prst="rect">
            <a:avLst/>
          </a:prstGeom>
          <a:noFill/>
        </p:spPr>
        <p:txBody>
          <a:bodyPr wrap="square" lIns="0" tIns="0" rIns="0" bIns="0">
            <a:spAutoFit/>
          </a:bodyPr>
          <a:lstStyle/>
          <a:p>
            <a:pPr algn="l">
              <a:spcAft>
                <a:spcPts val="800"/>
              </a:spcAft>
            </a:pPr>
            <a:r>
              <a:rPr sz="1450" b="1" i="0">
                <a:solidFill>
                  <a:srgbClr val="FFCF4D"/>
                </a:solidFill>
                <a:latin typeface="Arial"/>
              </a:rPr>
              <a:t>xGEO</a:t>
            </a:r>
          </a:p>
          <a:p>
            <a:pPr algn="l"/>
            <a:r>
              <a:rPr sz="1250" b="0" i="0">
                <a:solidFill>
                  <a:srgbClr val="CFE3FF"/>
                </a:solidFill>
                <a:latin typeface="Arial"/>
              </a:rPr>
              <a:t>the volume past the belt (~36,000 km) out to the edge of Earth's grip, ~1.5 million km.</a:t>
            </a:r>
          </a:p>
        </p:txBody>
      </p:sp>
      <p:sp>
        <p:nvSpPr>
          <p:cNvPr id="9" name="Rounded Rectangle 8"/>
          <p:cNvSpPr/>
          <p:nvPr/>
        </p:nvSpPr>
        <p:spPr>
          <a:xfrm>
            <a:off x="4370831" y="3892581"/>
            <a:ext cx="3593592" cy="228600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26864" y="4166901"/>
            <a:ext cx="3081528" cy="1737360"/>
          </a:xfrm>
          <a:prstGeom prst="rect">
            <a:avLst/>
          </a:prstGeom>
          <a:noFill/>
        </p:spPr>
        <p:txBody>
          <a:bodyPr wrap="square" lIns="0" tIns="0" rIns="0" bIns="0">
            <a:spAutoFit/>
          </a:bodyPr>
          <a:lstStyle/>
          <a:p>
            <a:pPr algn="l">
              <a:spcAft>
                <a:spcPts val="800"/>
              </a:spcAft>
            </a:pPr>
            <a:r>
              <a:rPr sz="1450" b="1" i="0">
                <a:solidFill>
                  <a:srgbClr val="FFCF4D"/>
                </a:solidFill>
                <a:latin typeface="Arial"/>
              </a:rPr>
              <a:t>The Moon lives in it</a:t>
            </a:r>
          </a:p>
          <a:p>
            <a:pPr algn="l"/>
            <a:r>
              <a:rPr sz="1250" b="0" i="0">
                <a:solidFill>
                  <a:srgbClr val="CFE3FF"/>
                </a:solidFill>
                <a:latin typeface="Arial"/>
              </a:rPr>
              <a:t>at 384,400 km — traffic to and around it is the coming SDA problem.</a:t>
            </a:r>
          </a:p>
        </p:txBody>
      </p:sp>
      <p:sp>
        <p:nvSpPr>
          <p:cNvPr id="11" name="Rounded Rectangle 10"/>
          <p:cNvSpPr/>
          <p:nvPr/>
        </p:nvSpPr>
        <p:spPr>
          <a:xfrm>
            <a:off x="8193023" y="3892581"/>
            <a:ext cx="3593592" cy="228600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49055" y="4166901"/>
            <a:ext cx="3081528" cy="1737360"/>
          </a:xfrm>
          <a:prstGeom prst="rect">
            <a:avLst/>
          </a:prstGeom>
          <a:noFill/>
        </p:spPr>
        <p:txBody>
          <a:bodyPr wrap="square" lIns="0" tIns="0" rIns="0" bIns="0">
            <a:spAutoFit/>
          </a:bodyPr>
          <a:lstStyle/>
          <a:p>
            <a:pPr algn="l">
              <a:spcAft>
                <a:spcPts val="800"/>
              </a:spcAft>
            </a:pPr>
            <a:r>
              <a:rPr sz="1450" b="1" i="0">
                <a:solidFill>
                  <a:srgbClr val="FFCF4D"/>
                </a:solidFill>
                <a:latin typeface="Arial"/>
              </a:rPr>
              <a:t>Frames are the skill</a:t>
            </a:r>
          </a:p>
          <a:p>
            <a:pPr algn="l"/>
            <a:r>
              <a:rPr sz="1250" b="0" i="0">
                <a:solidFill>
                  <a:srgbClr val="CFE3FF"/>
                </a:solidFill>
                <a:latin typeface="Arial"/>
              </a:rPr>
              <a:t>a hopeless tangle in one frame is a steady, simple picture in another.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5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The scale of it</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9514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78027" y="2148840"/>
            <a:ext cx="315468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384,400 km</a:t>
            </a:r>
          </a:p>
          <a:p>
            <a:pPr algn="ctr"/>
            <a:r>
              <a:rPr sz="1250" b="0" i="0">
                <a:solidFill>
                  <a:srgbClr val="CFE3FF"/>
                </a:solidFill>
                <a:latin typeface="Arial"/>
              </a:rPr>
              <a:t>Earth to Moon — about 60 Earth radii</a:t>
            </a:r>
          </a:p>
        </p:txBody>
      </p:sp>
      <p:sp>
        <p:nvSpPr>
          <p:cNvPr id="8" name="Rounded Rectangle 7"/>
          <p:cNvSpPr/>
          <p:nvPr/>
        </p:nvSpPr>
        <p:spPr>
          <a:xfrm>
            <a:off x="433562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18507" y="2148840"/>
            <a:ext cx="315468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27.3 days</a:t>
            </a:r>
          </a:p>
          <a:p>
            <a:pPr algn="ctr"/>
            <a:r>
              <a:rPr sz="1250" b="0" i="0">
                <a:solidFill>
                  <a:srgbClr val="CFE3FF"/>
                </a:solidFill>
                <a:latin typeface="Arial"/>
              </a:rPr>
              <a:t>one lunar lap</a:t>
            </a:r>
          </a:p>
        </p:txBody>
      </p:sp>
      <p:sp>
        <p:nvSpPr>
          <p:cNvPr id="10" name="Rounded Rectangle 9"/>
          <p:cNvSpPr/>
          <p:nvPr/>
        </p:nvSpPr>
        <p:spPr>
          <a:xfrm>
            <a:off x="817610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58987" y="2148840"/>
            <a:ext cx="315468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4,670 km</a:t>
            </a:r>
          </a:p>
          <a:p>
            <a:pPr algn="ctr"/>
            <a:r>
              <a:rPr sz="1250" b="0" i="0">
                <a:solidFill>
                  <a:srgbClr val="CFE3FF"/>
                </a:solidFill>
                <a:latin typeface="Arial"/>
              </a:rPr>
              <a:t>barycenter's offset from Earth's center</a:t>
            </a:r>
          </a:p>
        </p:txBody>
      </p:sp>
      <p:sp>
        <p:nvSpPr>
          <p:cNvPr id="12" name="TextBox 11"/>
          <p:cNvSpPr txBox="1"/>
          <p:nvPr/>
        </p:nvSpPr>
        <p:spPr>
          <a:xfrm>
            <a:off x="548640" y="4709160"/>
            <a:ext cx="11064240" cy="1280160"/>
          </a:xfrm>
          <a:prstGeom prst="rect">
            <a:avLst/>
          </a:prstGeom>
          <a:noFill/>
        </p:spPr>
        <p:txBody>
          <a:bodyPr wrap="square" lIns="0" tIns="0" rIns="0" bIns="0">
            <a:spAutoFit/>
          </a:bodyPr>
          <a:lstStyle/>
          <a:p>
            <a:pPr algn="l"/>
            <a:r>
              <a:rPr sz="1350" b="0" i="1">
                <a:solidFill>
                  <a:srgbClr val="CFE3FF"/>
                </a:solidFill>
                <a:latin typeface="Arial"/>
              </a:rPr>
              <a:t>Earth and Moon both swing around that shared point — which sits INSIDE the planet, ~1,700 km beneath the surface.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5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The tug-of-war</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9514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78027" y="2148840"/>
            <a:ext cx="315468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~61,500 km</a:t>
            </a:r>
          </a:p>
          <a:p>
            <a:pPr algn="ctr"/>
            <a:r>
              <a:rPr sz="1250" b="0" i="0">
                <a:solidFill>
                  <a:srgbClr val="CFE3FF"/>
                </a:solidFill>
                <a:latin typeface="Arial"/>
              </a:rPr>
              <a:t>the Moon's Hill sphere — its territory</a:t>
            </a:r>
          </a:p>
        </p:txBody>
      </p:sp>
      <p:sp>
        <p:nvSpPr>
          <p:cNvPr id="8" name="Rounded Rectangle 7"/>
          <p:cNvSpPr/>
          <p:nvPr/>
        </p:nvSpPr>
        <p:spPr>
          <a:xfrm>
            <a:off x="433562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18507" y="2148840"/>
            <a:ext cx="315468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~85%</a:t>
            </a:r>
          </a:p>
          <a:p>
            <a:pPr algn="ctr"/>
            <a:r>
              <a:rPr sz="1250" b="0" i="0">
                <a:solidFill>
                  <a:srgbClr val="CFE3FF"/>
                </a:solidFill>
                <a:latin typeface="Arial"/>
              </a:rPr>
              <a:t>of the way to the Moon: the L1 balance point</a:t>
            </a:r>
          </a:p>
        </p:txBody>
      </p:sp>
      <p:sp>
        <p:nvSpPr>
          <p:cNvPr id="10" name="Rounded Rectangle 9"/>
          <p:cNvSpPr/>
          <p:nvPr/>
        </p:nvSpPr>
        <p:spPr>
          <a:xfrm>
            <a:off x="8176107" y="2148840"/>
            <a:ext cx="352044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58987" y="2148840"/>
            <a:ext cx="315468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~1.5M km</a:t>
            </a:r>
          </a:p>
          <a:p>
            <a:pPr algn="ctr"/>
            <a:r>
              <a:rPr sz="1250" b="0" i="0">
                <a:solidFill>
                  <a:srgbClr val="CFE3FF"/>
                </a:solidFill>
                <a:latin typeface="Arial"/>
              </a:rPr>
              <a:t>Earth's own edge — beyond it, the Sun wins</a:t>
            </a:r>
          </a:p>
        </p:txBody>
      </p:sp>
      <p:sp>
        <p:nvSpPr>
          <p:cNvPr id="12" name="TextBox 11"/>
          <p:cNvSpPr txBox="1"/>
          <p:nvPr/>
        </p:nvSpPr>
        <p:spPr>
          <a:xfrm>
            <a:off x="548640" y="4709160"/>
            <a:ext cx="11064240" cy="1280160"/>
          </a:xfrm>
          <a:prstGeom prst="rect">
            <a:avLst/>
          </a:prstGeom>
          <a:noFill/>
        </p:spPr>
        <p:txBody>
          <a:bodyPr wrap="square" lIns="0" tIns="0" rIns="0" bIns="0">
            <a:spAutoFit/>
          </a:bodyPr>
          <a:lstStyle/>
          <a:p>
            <a:pPr algn="l"/>
            <a:r>
              <a:rPr sz="1350" b="0" i="1">
                <a:solidFill>
                  <a:srgbClr val="CFE3FF"/>
                </a:solidFill>
                <a:latin typeface="Arial"/>
              </a:rPr>
              <a:t>Inside a Hill sphere you orbit that body; outside it, the bigger one takes over. The balance point is NOT the midpoint — the Moon is light.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5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Four frames, one motion</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640080" y="170992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1</a:t>
            </a:r>
          </a:p>
        </p:txBody>
      </p:sp>
      <p:sp>
        <p:nvSpPr>
          <p:cNvPr id="7" name="TextBox 6"/>
          <p:cNvSpPr txBox="1"/>
          <p:nvPr/>
        </p:nvSpPr>
        <p:spPr>
          <a:xfrm>
            <a:off x="1234440" y="1691640"/>
            <a:ext cx="10332720" cy="960120"/>
          </a:xfrm>
          <a:prstGeom prst="rect">
            <a:avLst/>
          </a:prstGeom>
          <a:noFill/>
        </p:spPr>
        <p:txBody>
          <a:bodyPr wrap="square" lIns="0" tIns="0" rIns="0" bIns="0">
            <a:spAutoFit/>
          </a:bodyPr>
          <a:lstStyle/>
          <a:p>
            <a:pPr algn="l"/>
            <a:r>
              <a:rPr sz="1400" b="1" i="0">
                <a:solidFill>
                  <a:srgbClr val="EAF4FF"/>
                </a:solidFill>
                <a:latin typeface="Arial"/>
              </a:rPr>
              <a:t>ECI — Earth-centred inertial</a:t>
            </a:r>
            <a:r>
              <a:rPr sz="1300" b="0" i="0">
                <a:solidFill>
                  <a:srgbClr val="7E93B8"/>
                </a:solidFill>
                <a:latin typeface="Arial"/>
              </a:rPr>
              <a:t>  —  </a:t>
            </a:r>
            <a:r>
              <a:rPr sz="1250" b="0" i="0">
                <a:solidFill>
                  <a:srgbClr val="CFE3FF"/>
                </a:solidFill>
                <a:latin typeface="Arial"/>
              </a:rPr>
              <a:t>stars fixed; the Moon circles Earth once a month</a:t>
            </a:r>
          </a:p>
        </p:txBody>
      </p:sp>
      <p:sp>
        <p:nvSpPr>
          <p:cNvPr id="8" name="Oval 7"/>
          <p:cNvSpPr/>
          <p:nvPr/>
        </p:nvSpPr>
        <p:spPr>
          <a:xfrm>
            <a:off x="640080" y="267004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2</a:t>
            </a:r>
          </a:p>
        </p:txBody>
      </p:sp>
      <p:sp>
        <p:nvSpPr>
          <p:cNvPr id="9" name="TextBox 8"/>
          <p:cNvSpPr txBox="1"/>
          <p:nvPr/>
        </p:nvSpPr>
        <p:spPr>
          <a:xfrm>
            <a:off x="1234440" y="2651760"/>
            <a:ext cx="10332720" cy="960120"/>
          </a:xfrm>
          <a:prstGeom prst="rect">
            <a:avLst/>
          </a:prstGeom>
          <a:noFill/>
        </p:spPr>
        <p:txBody>
          <a:bodyPr wrap="square" lIns="0" tIns="0" rIns="0" bIns="0">
            <a:spAutoFit/>
          </a:bodyPr>
          <a:lstStyle/>
          <a:p>
            <a:pPr algn="l"/>
            <a:r>
              <a:rPr sz="1400" b="1" i="0">
                <a:solidFill>
                  <a:srgbClr val="EAF4FF"/>
                </a:solidFill>
                <a:latin typeface="Arial"/>
              </a:rPr>
              <a:t>Synodic — Earth–Moon rotating</a:t>
            </a:r>
            <a:r>
              <a:rPr sz="1300" b="0" i="0">
                <a:solidFill>
                  <a:srgbClr val="7E93B8"/>
                </a:solidFill>
                <a:latin typeface="Arial"/>
              </a:rPr>
              <a:t>  —  </a:t>
            </a:r>
            <a:r>
              <a:rPr sz="1250" b="0" i="0">
                <a:solidFill>
                  <a:srgbClr val="CFE3FF"/>
                </a:solidFill>
                <a:latin typeface="Arial"/>
              </a:rPr>
              <a:t>the Earth–Moon line frozen; transfers read clean</a:t>
            </a:r>
          </a:p>
        </p:txBody>
      </p:sp>
      <p:sp>
        <p:nvSpPr>
          <p:cNvPr id="10" name="Oval 9"/>
          <p:cNvSpPr/>
          <p:nvPr/>
        </p:nvSpPr>
        <p:spPr>
          <a:xfrm>
            <a:off x="640080" y="363016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3</a:t>
            </a:r>
          </a:p>
        </p:txBody>
      </p:sp>
      <p:sp>
        <p:nvSpPr>
          <p:cNvPr id="11" name="TextBox 10"/>
          <p:cNvSpPr txBox="1"/>
          <p:nvPr/>
        </p:nvSpPr>
        <p:spPr>
          <a:xfrm>
            <a:off x="1234440" y="3611880"/>
            <a:ext cx="10332720" cy="960120"/>
          </a:xfrm>
          <a:prstGeom prst="rect">
            <a:avLst/>
          </a:prstGeom>
          <a:noFill/>
        </p:spPr>
        <p:txBody>
          <a:bodyPr wrap="square" lIns="0" tIns="0" rIns="0" bIns="0">
            <a:spAutoFit/>
          </a:bodyPr>
          <a:lstStyle/>
          <a:p>
            <a:pPr algn="l"/>
            <a:r>
              <a:rPr sz="1400" b="1" i="0">
                <a:solidFill>
                  <a:srgbClr val="EAF4FF"/>
                </a:solidFill>
                <a:latin typeface="Arial"/>
              </a:rPr>
              <a:t>MCI — Moon-centred inertial</a:t>
            </a:r>
            <a:r>
              <a:rPr sz="1300" b="0" i="0">
                <a:solidFill>
                  <a:srgbClr val="7E93B8"/>
                </a:solidFill>
                <a:latin typeface="Arial"/>
              </a:rPr>
              <a:t>  —  </a:t>
            </a:r>
            <a:r>
              <a:rPr sz="1250" b="0" i="0">
                <a:solidFill>
                  <a:srgbClr val="CFE3FF"/>
                </a:solidFill>
                <a:latin typeface="Arial"/>
              </a:rPr>
              <a:t>the same dance, seen from the Moon</a:t>
            </a:r>
          </a:p>
        </p:txBody>
      </p:sp>
      <p:sp>
        <p:nvSpPr>
          <p:cNvPr id="12" name="Oval 11"/>
          <p:cNvSpPr/>
          <p:nvPr/>
        </p:nvSpPr>
        <p:spPr>
          <a:xfrm>
            <a:off x="640080" y="4590288"/>
            <a:ext cx="384048" cy="384048"/>
          </a:xfrm>
          <a:prstGeom prst="ellipse">
            <a:avLst/>
          </a:prstGeom>
          <a:solidFill>
            <a:srgbClr val="13294A"/>
          </a:solidFill>
          <a:ln w="12700">
            <a:solidFill>
              <a:srgbClr val="FFCF4D"/>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i="0">
                <a:solidFill>
                  <a:srgbClr val="FFCF4D"/>
                </a:solidFill>
                <a:latin typeface="Arial"/>
              </a:rPr>
              <a:t>4</a:t>
            </a:r>
          </a:p>
        </p:txBody>
      </p:sp>
      <p:sp>
        <p:nvSpPr>
          <p:cNvPr id="13" name="TextBox 12"/>
          <p:cNvSpPr txBox="1"/>
          <p:nvPr/>
        </p:nvSpPr>
        <p:spPr>
          <a:xfrm>
            <a:off x="1234440" y="4572000"/>
            <a:ext cx="10332720" cy="960120"/>
          </a:xfrm>
          <a:prstGeom prst="rect">
            <a:avLst/>
          </a:prstGeom>
          <a:noFill/>
        </p:spPr>
        <p:txBody>
          <a:bodyPr wrap="square" lIns="0" tIns="0" rIns="0" bIns="0">
            <a:spAutoFit/>
          </a:bodyPr>
          <a:lstStyle/>
          <a:p>
            <a:pPr algn="l"/>
            <a:r>
              <a:rPr sz="1400" b="1" i="0">
                <a:solidFill>
                  <a:srgbClr val="EAF4FF"/>
                </a:solidFill>
                <a:latin typeface="Arial"/>
              </a:rPr>
              <a:t>ECL-EMBR — barycentric rotating</a:t>
            </a:r>
            <a:r>
              <a:rPr sz="1300" b="0" i="0">
                <a:solidFill>
                  <a:srgbClr val="7E93B8"/>
                </a:solidFill>
                <a:latin typeface="Arial"/>
              </a:rPr>
              <a:t>  —  </a:t>
            </a:r>
            <a:r>
              <a:rPr sz="1250" b="0" i="0">
                <a:solidFill>
                  <a:srgbClr val="CFE3FF"/>
                </a:solidFill>
                <a:latin typeface="Arial"/>
              </a:rPr>
              <a:t>both bodies freeze; the Lagrange points hold still</a:t>
            </a:r>
          </a:p>
        </p:txBody>
      </p:sp>
      <p:sp>
        <p:nvSpPr>
          <p:cNvPr id="14" name="TextBox 13"/>
          <p:cNvSpPr txBox="1"/>
          <p:nvPr/>
        </p:nvSpPr>
        <p:spPr>
          <a:xfrm>
            <a:off x="548640" y="5806440"/>
            <a:ext cx="11064240" cy="822960"/>
          </a:xfrm>
          <a:prstGeom prst="rect">
            <a:avLst/>
          </a:prstGeom>
          <a:noFill/>
        </p:spPr>
        <p:txBody>
          <a:bodyPr wrap="square" lIns="0" tIns="0" rIns="0" bIns="0">
            <a:spAutoFit/>
          </a:bodyPr>
          <a:lstStyle/>
          <a:p>
            <a:pPr algn="l"/>
            <a:r>
              <a:rPr sz="1350" b="0" i="1">
                <a:solidFill>
                  <a:srgbClr val="CFE3FF"/>
                </a:solidFill>
                <a:latin typeface="Arial"/>
              </a:rPr>
              <a:t>Module 6 lives entirely in that last frame.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5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The Moon is a small, slow world</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363827" y="2148840"/>
            <a:ext cx="457200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46707" y="2148840"/>
            <a:ext cx="420624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1.63 km/s</a:t>
            </a:r>
          </a:p>
          <a:p>
            <a:pPr algn="ctr"/>
            <a:r>
              <a:rPr sz="1250" b="0" i="0">
                <a:solidFill>
                  <a:srgbClr val="CFE3FF"/>
                </a:solidFill>
                <a:latin typeface="Arial"/>
              </a:rPr>
              <a:t>low lunar orbit speed</a:t>
            </a:r>
          </a:p>
        </p:txBody>
      </p:sp>
      <p:sp>
        <p:nvSpPr>
          <p:cNvPr id="8" name="Rounded Rectangle 7"/>
          <p:cNvSpPr/>
          <p:nvPr/>
        </p:nvSpPr>
        <p:spPr>
          <a:xfrm>
            <a:off x="6255867" y="2148840"/>
            <a:ext cx="4572000" cy="214884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38747" y="2148840"/>
            <a:ext cx="4206240" cy="2148840"/>
          </a:xfrm>
          <a:prstGeom prst="rect">
            <a:avLst/>
          </a:prstGeom>
          <a:noFill/>
        </p:spPr>
        <p:txBody>
          <a:bodyPr wrap="square" lIns="0" tIns="0" rIns="0" bIns="0" anchor="ctr">
            <a:spAutoFit/>
          </a:bodyPr>
          <a:lstStyle/>
          <a:p>
            <a:pPr algn="ctr">
              <a:spcAft>
                <a:spcPts val="800"/>
              </a:spcAft>
            </a:pPr>
            <a:r>
              <a:rPr sz="3300" b="1" i="0">
                <a:solidFill>
                  <a:srgbClr val="FFCF4D"/>
                </a:solidFill>
                <a:latin typeface="Arial"/>
              </a:rPr>
              <a:t>2.38 km/s</a:t>
            </a:r>
          </a:p>
          <a:p>
            <a:pPr algn="ctr"/>
            <a:r>
              <a:rPr sz="1250" b="0" i="0">
                <a:solidFill>
                  <a:srgbClr val="CFE3FF"/>
                </a:solidFill>
                <a:latin typeface="Arial"/>
              </a:rPr>
              <a:t>lunar escape — cheap compared to Earth's 11.2</a:t>
            </a:r>
          </a:p>
        </p:txBody>
      </p:sp>
      <p:sp>
        <p:nvSpPr>
          <p:cNvPr id="10" name="TextBox 9"/>
          <p:cNvSpPr txBox="1"/>
          <p:nvPr/>
        </p:nvSpPr>
        <p:spPr>
          <a:xfrm>
            <a:off x="548640" y="4709160"/>
            <a:ext cx="11064240" cy="1280160"/>
          </a:xfrm>
          <a:prstGeom prst="rect">
            <a:avLst/>
          </a:prstGeom>
          <a:noFill/>
        </p:spPr>
        <p:txBody>
          <a:bodyPr wrap="square" lIns="0" tIns="0" rIns="0" bIns="0">
            <a:spAutoFit/>
          </a:bodyPr>
          <a:lstStyle/>
          <a:p>
            <a:pPr algn="l"/>
            <a:r>
              <a:rPr sz="1350" b="0" i="1">
                <a:solidFill>
                  <a:srgbClr val="CFE3FF"/>
                </a:solidFill>
                <a:latin typeface="Arial"/>
              </a:rPr>
              <a:t>And it MOVES while you coast: reaching it means leading it like a duck hunter — burn toward where it will be, not where it 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8686800" cy="292608"/>
          </a:xfrm>
          <a:prstGeom prst="rect">
            <a:avLst/>
          </a:prstGeom>
          <a:noFill/>
        </p:spPr>
        <p:txBody>
          <a:bodyPr wrap="square" lIns="0" tIns="0" rIns="0" bIns="0">
            <a:spAutoFit/>
          </a:bodyPr>
          <a:lstStyle/>
          <a:p>
            <a:pPr algn="l"/>
            <a:r>
              <a:rPr sz="1100" b="1" i="0">
                <a:solidFill>
                  <a:srgbClr val="FFCF4D"/>
                </a:solidFill>
                <a:latin typeface="Arial"/>
              </a:rPr>
              <a:t>MODULE 5 · ORBIT ACADEMY</a:t>
            </a:r>
          </a:p>
        </p:txBody>
      </p:sp>
      <p:sp>
        <p:nvSpPr>
          <p:cNvPr id="3" name="TextBox 2"/>
          <p:cNvSpPr txBox="1"/>
          <p:nvPr/>
        </p:nvSpPr>
        <p:spPr>
          <a:xfrm>
            <a:off x="548640" y="676656"/>
            <a:ext cx="10058400" cy="640080"/>
          </a:xfrm>
          <a:prstGeom prst="rect">
            <a:avLst/>
          </a:prstGeom>
          <a:noFill/>
        </p:spPr>
        <p:txBody>
          <a:bodyPr wrap="square" lIns="0" tIns="0" rIns="0" bIns="0">
            <a:spAutoFit/>
          </a:bodyPr>
          <a:lstStyle/>
          <a:p>
            <a:pPr algn="l"/>
            <a:r>
              <a:rPr sz="2700" b="1" i="0">
                <a:solidFill>
                  <a:srgbClr val="5FD0FF"/>
                </a:solidFill>
                <a:latin typeface="Arial"/>
              </a:rPr>
              <a:t>What you'll do</a:t>
            </a:r>
          </a:p>
        </p:txBody>
      </p:sp>
      <p:sp>
        <p:nvSpPr>
          <p:cNvPr id="4" name="Oval 3"/>
          <p:cNvSpPr/>
          <p:nvPr/>
        </p:nvSpPr>
        <p:spPr>
          <a:xfrm>
            <a:off x="10835640" y="484632"/>
            <a:ext cx="914400" cy="347472"/>
          </a:xfrm>
          <a:prstGeom prst="ellipse">
            <a:avLst/>
          </a:prstGeom>
          <a:noFill/>
          <a:ln w="12700">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708892" y="617219"/>
            <a:ext cx="82296" cy="82296"/>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1645920"/>
            <a:ext cx="2834640" cy="96012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645920"/>
            <a:ext cx="2377440" cy="960120"/>
          </a:xfrm>
          <a:prstGeom prst="rect">
            <a:avLst/>
          </a:prstGeom>
          <a:noFill/>
        </p:spPr>
        <p:txBody>
          <a:bodyPr wrap="square" lIns="0" tIns="0" rIns="0" bIns="0" anchor="ctr">
            <a:spAutoFit/>
          </a:bodyPr>
          <a:lstStyle/>
          <a:p>
            <a:pPr algn="l">
              <a:spcAft>
                <a:spcPts val="300"/>
              </a:spcAft>
            </a:pPr>
            <a:r>
              <a:rPr sz="1500" b="1" i="0">
                <a:solidFill>
                  <a:srgbClr val="39D353"/>
                </a:solidFill>
                <a:latin typeface="Arial"/>
              </a:rPr>
              <a:t>PREDICT</a:t>
            </a:r>
          </a:p>
          <a:p>
            <a:pPr algn="l"/>
            <a:r>
              <a:rPr sz="1050" b="0" i="0">
                <a:solidFill>
                  <a:srgbClr val="7E93B8"/>
                </a:solidFill>
                <a:latin typeface="Arial"/>
              </a:rPr>
              <a:t>call your shot first</a:t>
            </a:r>
          </a:p>
        </p:txBody>
      </p:sp>
      <p:sp>
        <p:nvSpPr>
          <p:cNvPr id="8" name="TextBox 7"/>
          <p:cNvSpPr txBox="1"/>
          <p:nvPr/>
        </p:nvSpPr>
        <p:spPr>
          <a:xfrm>
            <a:off x="3401568" y="1810512"/>
            <a:ext cx="411480" cy="548640"/>
          </a:xfrm>
          <a:prstGeom prst="rect">
            <a:avLst/>
          </a:prstGeom>
          <a:noFill/>
        </p:spPr>
        <p:txBody>
          <a:bodyPr wrap="square" lIns="0" tIns="0" rIns="0" bIns="0">
            <a:spAutoFit/>
          </a:bodyPr>
          <a:lstStyle/>
          <a:p>
            <a:pPr algn="ctr"/>
            <a:r>
              <a:rPr sz="2200" b="1" i="0">
                <a:solidFill>
                  <a:srgbClr val="FFCF4D"/>
                </a:solidFill>
                <a:latin typeface="Arial"/>
              </a:rPr>
              <a:t>→</a:t>
            </a:r>
          </a:p>
        </p:txBody>
      </p:sp>
      <p:sp>
        <p:nvSpPr>
          <p:cNvPr id="9" name="Rounded Rectangle 8"/>
          <p:cNvSpPr/>
          <p:nvPr/>
        </p:nvSpPr>
        <p:spPr>
          <a:xfrm>
            <a:off x="3794759" y="1645920"/>
            <a:ext cx="2834640" cy="96012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023359" y="1645920"/>
            <a:ext cx="2377440" cy="960120"/>
          </a:xfrm>
          <a:prstGeom prst="rect">
            <a:avLst/>
          </a:prstGeom>
          <a:noFill/>
        </p:spPr>
        <p:txBody>
          <a:bodyPr wrap="square" lIns="0" tIns="0" rIns="0" bIns="0" anchor="ctr">
            <a:spAutoFit/>
          </a:bodyPr>
          <a:lstStyle/>
          <a:p>
            <a:pPr algn="l">
              <a:spcAft>
                <a:spcPts val="300"/>
              </a:spcAft>
            </a:pPr>
            <a:r>
              <a:rPr sz="1500" b="1" i="0">
                <a:solidFill>
                  <a:srgbClr val="39D353"/>
                </a:solidFill>
                <a:latin typeface="Arial"/>
              </a:rPr>
              <a:t>TRY</a:t>
            </a:r>
          </a:p>
          <a:p>
            <a:pPr algn="l"/>
            <a:r>
              <a:rPr sz="1050" b="0" i="0">
                <a:solidFill>
                  <a:srgbClr val="7E93B8"/>
                </a:solidFill>
                <a:latin typeface="Arial"/>
              </a:rPr>
              <a:t>run it in the simulator</a:t>
            </a:r>
          </a:p>
        </p:txBody>
      </p:sp>
      <p:sp>
        <p:nvSpPr>
          <p:cNvPr id="11" name="TextBox 10"/>
          <p:cNvSpPr txBox="1"/>
          <p:nvPr/>
        </p:nvSpPr>
        <p:spPr>
          <a:xfrm>
            <a:off x="6647688" y="1810512"/>
            <a:ext cx="411480" cy="548640"/>
          </a:xfrm>
          <a:prstGeom prst="rect">
            <a:avLst/>
          </a:prstGeom>
          <a:noFill/>
        </p:spPr>
        <p:txBody>
          <a:bodyPr wrap="square" lIns="0" tIns="0" rIns="0" bIns="0">
            <a:spAutoFit/>
          </a:bodyPr>
          <a:lstStyle/>
          <a:p>
            <a:pPr algn="ctr"/>
            <a:r>
              <a:rPr sz="2200" b="1" i="0">
                <a:solidFill>
                  <a:srgbClr val="FFCF4D"/>
                </a:solidFill>
                <a:latin typeface="Arial"/>
              </a:rPr>
              <a:t>→</a:t>
            </a:r>
          </a:p>
        </p:txBody>
      </p:sp>
      <p:sp>
        <p:nvSpPr>
          <p:cNvPr id="12" name="Rounded Rectangle 11"/>
          <p:cNvSpPr/>
          <p:nvPr/>
        </p:nvSpPr>
        <p:spPr>
          <a:xfrm>
            <a:off x="7040879" y="1645920"/>
            <a:ext cx="2834640" cy="960120"/>
          </a:xfrm>
          <a:prstGeom prst="roundRect">
            <a:avLst>
              <a:gd name="adj" fmla="val 7000"/>
            </a:avLst>
          </a:prstGeom>
          <a:solidFill>
            <a:srgbClr val="0A1830"/>
          </a:solidFill>
          <a:ln w="1270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69479" y="1645920"/>
            <a:ext cx="2377440" cy="960120"/>
          </a:xfrm>
          <a:prstGeom prst="rect">
            <a:avLst/>
          </a:prstGeom>
          <a:noFill/>
        </p:spPr>
        <p:txBody>
          <a:bodyPr wrap="square" lIns="0" tIns="0" rIns="0" bIns="0" anchor="ctr">
            <a:spAutoFit/>
          </a:bodyPr>
          <a:lstStyle/>
          <a:p>
            <a:pPr algn="l">
              <a:spcAft>
                <a:spcPts val="300"/>
              </a:spcAft>
            </a:pPr>
            <a:r>
              <a:rPr sz="1500" b="1" i="0">
                <a:solidFill>
                  <a:srgbClr val="39D353"/>
                </a:solidFill>
                <a:latin typeface="Arial"/>
              </a:rPr>
              <a:t>OBSERVE</a:t>
            </a:r>
          </a:p>
          <a:p>
            <a:pPr algn="l"/>
            <a:r>
              <a:rPr sz="1050" b="0" i="0">
                <a:solidFill>
                  <a:srgbClr val="7E93B8"/>
                </a:solidFill>
                <a:latin typeface="Arial"/>
              </a:rPr>
              <a:t>note what actually changed</a:t>
            </a:r>
          </a:p>
        </p:txBody>
      </p:sp>
      <p:sp>
        <p:nvSpPr>
          <p:cNvPr id="14" name="Oval 13"/>
          <p:cNvSpPr/>
          <p:nvPr/>
        </p:nvSpPr>
        <p:spPr>
          <a:xfrm>
            <a:off x="690371" y="3278124"/>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3200400"/>
            <a:ext cx="10607040" cy="685800"/>
          </a:xfrm>
          <a:prstGeom prst="rect">
            <a:avLst/>
          </a:prstGeom>
          <a:noFill/>
        </p:spPr>
        <p:txBody>
          <a:bodyPr wrap="square" lIns="0" tIns="0" rIns="0" bIns="0">
            <a:spAutoFit/>
          </a:bodyPr>
          <a:lstStyle/>
          <a:p>
            <a:pPr algn="l"/>
            <a:r>
              <a:rPr sz="1350" b="0" i="0">
                <a:solidFill>
                  <a:srgbClr val="CFE3FF"/>
                </a:solidFill>
                <a:latin typeface="Arial"/>
              </a:rPr>
              <a:t>Put a spacecraft in orbit around the Moon and compare it with orbiting Earth.</a:t>
            </a:r>
          </a:p>
        </p:txBody>
      </p:sp>
      <p:sp>
        <p:nvSpPr>
          <p:cNvPr id="16" name="Oval 15"/>
          <p:cNvSpPr/>
          <p:nvPr/>
        </p:nvSpPr>
        <p:spPr>
          <a:xfrm>
            <a:off x="690371" y="3991356"/>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3913632"/>
            <a:ext cx="10607040" cy="685800"/>
          </a:xfrm>
          <a:prstGeom prst="rect">
            <a:avLst/>
          </a:prstGeom>
          <a:noFill/>
        </p:spPr>
        <p:txBody>
          <a:bodyPr wrap="square" lIns="0" tIns="0" rIns="0" bIns="0">
            <a:spAutoFit/>
          </a:bodyPr>
          <a:lstStyle/>
          <a:p>
            <a:pPr algn="l"/>
            <a:r>
              <a:rPr sz="1350" b="0" i="0">
                <a:solidFill>
                  <a:srgbClr val="CFE3FF"/>
                </a:solidFill>
                <a:latin typeface="Arial"/>
              </a:rPr>
              <a:t>Release objects along the Earth–Moon line and find the point where the winner changes.</a:t>
            </a:r>
          </a:p>
        </p:txBody>
      </p:sp>
      <p:sp>
        <p:nvSpPr>
          <p:cNvPr id="18" name="Oval 17"/>
          <p:cNvSpPr/>
          <p:nvPr/>
        </p:nvSpPr>
        <p:spPr>
          <a:xfrm>
            <a:off x="690371" y="4704588"/>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5840" y="4626864"/>
            <a:ext cx="10607040" cy="685800"/>
          </a:xfrm>
          <a:prstGeom prst="rect">
            <a:avLst/>
          </a:prstGeom>
          <a:noFill/>
        </p:spPr>
        <p:txBody>
          <a:bodyPr wrap="square" lIns="0" tIns="0" rIns="0" bIns="0">
            <a:spAutoFit/>
          </a:bodyPr>
          <a:lstStyle/>
          <a:p>
            <a:pPr algn="l"/>
            <a:r>
              <a:rPr sz="1350" b="0" i="0">
                <a:solidFill>
                  <a:srgbClr val="CFE3FF"/>
                </a:solidFill>
                <a:latin typeface="Arial"/>
              </a:rPr>
              <a:t>Flip one motion through all four frames — then watch the 2×2 view run them side by side.</a:t>
            </a:r>
          </a:p>
        </p:txBody>
      </p:sp>
      <p:sp>
        <p:nvSpPr>
          <p:cNvPr id="20" name="Oval 19"/>
          <p:cNvSpPr/>
          <p:nvPr/>
        </p:nvSpPr>
        <p:spPr>
          <a:xfrm>
            <a:off x="690371" y="5417820"/>
            <a:ext cx="118872" cy="118872"/>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 y="5340096"/>
            <a:ext cx="10607040" cy="685800"/>
          </a:xfrm>
          <a:prstGeom prst="rect">
            <a:avLst/>
          </a:prstGeom>
          <a:noFill/>
        </p:spPr>
        <p:txBody>
          <a:bodyPr wrap="square" lIns="0" tIns="0" rIns="0" bIns="0">
            <a:spAutoFit/>
          </a:bodyPr>
          <a:lstStyle/>
          <a:p>
            <a:pPr algn="l"/>
            <a:r>
              <a:rPr sz="1350" b="0" i="0">
                <a:solidFill>
                  <a:srgbClr val="CFE3FF"/>
                </a:solidFill>
                <a:latin typeface="Arial"/>
              </a:rPr>
              <a:t>Lead the Moon like a duck hunter: aim a two-burn transfer at where it will be.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A14"/>
        </a:solidFill>
        <a:effectLst/>
      </p:bgPr>
    </p:bg>
    <p:spTree>
      <p:nvGrpSpPr>
        <p:cNvPr id="1" name=""/>
        <p:cNvGrpSpPr/>
        <p:nvPr/>
      </p:nvGrpSpPr>
      <p:grpSpPr>
        <a:xfrm>
          <a:off x="0" y="0"/>
          <a:ext cx="0" cy="0"/>
          <a:chOff x="0" y="0"/>
          <a:chExt cx="0" cy="0"/>
        </a:xfrm>
      </p:grpSpPr>
      <p:sp>
        <p:nvSpPr>
          <p:cNvPr id="2" name="Oval 1"/>
          <p:cNvSpPr/>
          <p:nvPr/>
        </p:nvSpPr>
        <p:spPr>
          <a:xfrm>
            <a:off x="4953304" y="548640"/>
            <a:ext cx="2286000" cy="822960"/>
          </a:xfrm>
          <a:prstGeom prst="ellipse">
            <a:avLst/>
          </a:prstGeom>
          <a:noFill/>
          <a:ln w="15875">
            <a:solidFill>
              <a:srgbClr val="2A4A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189012" y="909828"/>
            <a:ext cx="100584" cy="100584"/>
          </a:xfrm>
          <a:prstGeom prst="ellipse">
            <a:avLst/>
          </a:prstGeom>
          <a:solidFill>
            <a:srgbClr val="FFC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055156" y="507492"/>
            <a:ext cx="82296" cy="82296"/>
          </a:xfrm>
          <a:prstGeom prst="ellipse">
            <a:avLst/>
          </a:prstGeom>
          <a:solidFill>
            <a:srgbClr val="39D3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737360"/>
            <a:ext cx="9966960" cy="365760"/>
          </a:xfrm>
          <a:prstGeom prst="rect">
            <a:avLst/>
          </a:prstGeom>
          <a:noFill/>
        </p:spPr>
        <p:txBody>
          <a:bodyPr wrap="square" lIns="0" tIns="0" rIns="0" bIns="0">
            <a:spAutoFit/>
          </a:bodyPr>
          <a:lstStyle/>
          <a:p>
            <a:pPr algn="ctr"/>
            <a:r>
              <a:rPr sz="1250" b="1" i="0">
                <a:solidFill>
                  <a:srgbClr val="FFCF4D"/>
                </a:solidFill>
                <a:latin typeface="Arial"/>
              </a:rPr>
              <a:t>THE ONE THING TO REMEMBER</a:t>
            </a:r>
          </a:p>
        </p:txBody>
      </p:sp>
      <p:sp>
        <p:nvSpPr>
          <p:cNvPr id="6" name="TextBox 5"/>
          <p:cNvSpPr txBox="1"/>
          <p:nvPr/>
        </p:nvSpPr>
        <p:spPr>
          <a:xfrm>
            <a:off x="1234440" y="2743200"/>
            <a:ext cx="9692640" cy="2011680"/>
          </a:xfrm>
          <a:prstGeom prst="rect">
            <a:avLst/>
          </a:prstGeom>
          <a:noFill/>
        </p:spPr>
        <p:txBody>
          <a:bodyPr wrap="square" lIns="0" tIns="0" rIns="0" bIns="0">
            <a:spAutoFit/>
          </a:bodyPr>
          <a:lstStyle/>
          <a:p>
            <a:pPr algn="ctr"/>
            <a:r>
              <a:rPr sz="2900" b="1" i="0">
                <a:solidFill>
                  <a:srgbClr val="5FD0FF"/>
                </a:solidFill>
                <a:latin typeface="Arial"/>
              </a:rPr>
              <a:t>In cislunar space, choosing the reference frame IS the skill — choose well and the tangle goes still.</a:t>
            </a:r>
          </a:p>
        </p:txBody>
      </p:sp>
      <p:sp>
        <p:nvSpPr>
          <p:cNvPr id="7" name="TextBox 6"/>
          <p:cNvSpPr txBox="1"/>
          <p:nvPr/>
        </p:nvSpPr>
        <p:spPr>
          <a:xfrm>
            <a:off x="1097280" y="5212080"/>
            <a:ext cx="9966960" cy="457200"/>
          </a:xfrm>
          <a:prstGeom prst="rect">
            <a:avLst/>
          </a:prstGeom>
          <a:noFill/>
        </p:spPr>
        <p:txBody>
          <a:bodyPr wrap="square" lIns="0" tIns="0" rIns="0" bIns="0">
            <a:spAutoFit/>
          </a:bodyPr>
          <a:lstStyle/>
          <a:p>
            <a:pPr algn="ctr"/>
            <a:r>
              <a:rPr sz="1500" b="1" i="0">
                <a:solidFill>
                  <a:srgbClr val="39D353"/>
                </a:solidFill>
                <a:latin typeface="Arial"/>
              </a:rPr>
              <a:t>Open Worksheet 5 and keep the simulator beside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1022</Words>
  <Application>Microsoft Macintosh PowerPoint</Application>
  <PresentationFormat>Widescreen</PresentationFormat>
  <Paragraphs>78</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Stubbs, Christopher William</cp:lastModifiedBy>
  <cp:revision>2</cp:revision>
  <dcterms:created xsi:type="dcterms:W3CDTF">2013-01-27T09:14:16Z</dcterms:created>
  <dcterms:modified xsi:type="dcterms:W3CDTF">2026-07-20T13:32:29Z</dcterms:modified>
  <cp:category/>
</cp:coreProperties>
</file>