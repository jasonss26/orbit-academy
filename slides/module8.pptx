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65" r:id="rId16"/>
    <p:sldId id="258" r:id="rId4"/>
    <p:sldId id="264" r:id="rId15"/>
    <p:sldId id="259" r:id="rId5"/>
    <p:sldId id="260" r:id="rId6"/>
    <p:sldId id="266" r:id="rId17"/>
    <p:sldId id="261" r:id="rId7"/>
    <p:sldId id="267" r:id="rId18"/>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448"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9.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5.xml"/><Relationship Id="rId16" Type="http://schemas.openxmlformats.org/officeDocument/2006/relationships/slide" Target="slides/slide3.xml"/><Relationship Id="rId17" Type="http://schemas.openxmlformats.org/officeDocument/2006/relationships/slide" Target="slides/slide8.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4527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 8 is the capstone: students stop analyzing orbits and fly them from an Artemis-style cockpit. Two missions in strict order — a GEO servicing run, then the lunar flight it unlocks. Everything from Modules 1 through 7 gets used in anger.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structure is deliberate: plan first, fly second, and the Moon only unlocks after a successful GEO mission. Launch to LEO is automated so the student's job is orbital mechanics, not ascent. The delta-v logbook is the discipline — a mission that doesn't fit the tank on paper won't fit it in flight.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warm-up is the Module 4 recipe flown for real: raise apogee, coast, circularize. The second burn surprises students — you crawl into apogee at 1.6 kilometers per second and must nearly double your speed. At 3,860 of 4,800 meters per second, sloppy thruster work fails the mission; victory is holding station near the target for a full orbit, not touching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Trans-lunar injection is the duck-hunter shot from Module 5 flown with real stakes: the Moon moves roughly 120 degrees during the four-day coast, so you burn toward empty space. Aim the apogee just past the Moon's orbit — about 397,500 kilometers — because a dead-center aim is a collision course. Then you wait, watching the geometry close.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Lunar orbit insertion is the counter-intuitive finale: after days of speeding up and coasting, the arrival burn is a retrograde brake. The Moon's gravity is too weak to capture a spacecraft at flyby speed — shed about 900 meters per second at closest approach or slingshot past. The full mission budget is 7,500; the logbook shows whether the plan ever fit.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views of the same mission: PLAN is where the thinking happens, FLY is where the hands shake. The BURN-NOW cue and ILS-style needles translate everything into pilot language — am I on track, am I on speed. Overburning wastes tank; underburning strands you; the logbook target is the truth.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Insist on the order: logbook complete before anyone touches FLY mode. The GEO run certifies the basic skills; the lunar flight adds the moving target and the retrograde brake. When they hold lunar orbit, they have used every module in the course — say so.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capstone compresses the course into one sentence: budgets are computed before flight, executed with discipline, and capture at the Moon means slowing down when every instinct says go. Students who finish have flown a two-body transfer and a three-body capture. That is the whole arc from Module 1's falling cannonball.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640080" y="777240"/>
            <a:ext cx="8229600" cy="365760"/>
          </a:xfrm>
          <a:prstGeom prst="rect">
            <a:avLst/>
          </a:prstGeom>
          <a:noFill/>
        </p:spPr>
        <p:txBody>
          <a:bodyPr wrap="square" lIns="0" tIns="0" rIns="0" bIns="0">
            <a:spAutoFit/>
          </a:bodyPr>
          <a:lstStyle/>
          <a:p>
            <a:pPr algn="l"/>
            <a:r>
              <a:rPr sz="1300" b="1" i="0">
                <a:solidFill>
                  <a:srgbClr val="FFCF4D"/>
                </a:solidFill>
                <a:latin typeface="Arial"/>
              </a:rPr>
              <a:t>ORBIT ACADEMY — CISLUNAR FUNDAMENTALS</a:t>
            </a:r>
          </a:p>
        </p:txBody>
      </p:sp>
      <p:sp>
        <p:nvSpPr>
          <p:cNvPr id="3" name="TextBox 2"/>
          <p:cNvSpPr txBox="1"/>
          <p:nvPr/>
        </p:nvSpPr>
        <p:spPr>
          <a:xfrm>
            <a:off x="640080" y="1783080"/>
            <a:ext cx="3657600" cy="365760"/>
          </a:xfrm>
          <a:prstGeom prst="rect">
            <a:avLst/>
          </a:prstGeom>
          <a:noFill/>
        </p:spPr>
        <p:txBody>
          <a:bodyPr wrap="square" lIns="0" tIns="0" rIns="0" bIns="0">
            <a:spAutoFit/>
          </a:bodyPr>
          <a:lstStyle/>
          <a:p>
            <a:pPr algn="l"/>
            <a:r>
              <a:rPr sz="1500" b="1" i="0">
                <a:solidFill>
                  <a:srgbClr val="7E93B8"/>
                </a:solidFill>
                <a:latin typeface="Arial"/>
              </a:rPr>
              <a:t>MODULE 8</a:t>
            </a:r>
          </a:p>
        </p:txBody>
      </p:sp>
      <p:sp>
        <p:nvSpPr>
          <p:cNvPr id="4" name="TextBox 3"/>
          <p:cNvSpPr txBox="1"/>
          <p:nvPr/>
        </p:nvSpPr>
        <p:spPr>
          <a:xfrm>
            <a:off x="640080" y="2194560"/>
            <a:ext cx="6766560" cy="1737360"/>
          </a:xfrm>
          <a:prstGeom prst="rect">
            <a:avLst/>
          </a:prstGeom>
          <a:noFill/>
        </p:spPr>
        <p:txBody>
          <a:bodyPr wrap="square" lIns="0" tIns="0" rIns="0" bIns="0">
            <a:spAutoFit/>
          </a:bodyPr>
          <a:lstStyle/>
          <a:p>
            <a:pPr algn="l"/>
            <a:r>
              <a:rPr sz="4000" b="1" i="0">
                <a:solidFill>
                  <a:srgbClr val="5FD0FF"/>
                </a:solidFill>
                <a:latin typeface="Arial"/>
              </a:rPr>
              <a:t>Lunar Transfers &amp; Artemis</a:t>
            </a:r>
          </a:p>
        </p:txBody>
      </p:sp>
      <p:sp>
        <p:nvSpPr>
          <p:cNvPr id="5" name="TextBox 4"/>
          <p:cNvSpPr txBox="1"/>
          <p:nvPr/>
        </p:nvSpPr>
        <p:spPr>
          <a:xfrm>
            <a:off x="640080" y="4160520"/>
            <a:ext cx="5943600" cy="1280160"/>
          </a:xfrm>
          <a:prstGeom prst="rect">
            <a:avLst/>
          </a:prstGeom>
          <a:noFill/>
        </p:spPr>
        <p:txBody>
          <a:bodyPr wrap="square" lIns="0" tIns="0" rIns="0" bIns="0">
            <a:spAutoFit/>
          </a:bodyPr>
          <a:lstStyle/>
          <a:p>
            <a:pPr algn="l"/>
            <a:r>
              <a:rPr sz="1500" b="0" i="1">
                <a:solidFill>
                  <a:srgbClr val="CFE3FF"/>
                </a:solidFill>
                <a:latin typeface="Arial"/>
              </a:rPr>
              <a:t>Stop studying orbits. Plan the burns, budget the tank, and fly — first to GEO, then to the Moon.</a:t>
            </a:r>
          </a:p>
        </p:txBody>
      </p:sp>
      <p:sp>
        <p:nvSpPr>
          <p:cNvPr id="6" name="Oval 5"/>
          <p:cNvSpPr/>
          <p:nvPr/>
        </p:nvSpPr>
        <p:spPr>
          <a:xfrm>
            <a:off x="7543800" y="2697479"/>
            <a:ext cx="4206240" cy="1554480"/>
          </a:xfrm>
          <a:prstGeom prst="ellipse">
            <a:avLst/>
          </a:prstGeom>
          <a:noFill/>
          <a:ln w="15875">
            <a:solidFill>
              <a:srgbClr val="5FD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458200" y="2286000"/>
            <a:ext cx="2377440" cy="2377440"/>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144000" y="2971800"/>
            <a:ext cx="1005840" cy="1005840"/>
          </a:xfrm>
          <a:prstGeom prst="ellipse">
            <a:avLst/>
          </a:prstGeom>
          <a:solidFill>
            <a:srgbClr val="0E2A4A"/>
          </a:solid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690604" y="3415284"/>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596628" y="2235708"/>
            <a:ext cx="100584" cy="100584"/>
          </a:xfrm>
          <a:prstGeom prst="ellipse">
            <a:avLst/>
          </a:prstGeom>
          <a:solidFill>
            <a:srgbClr val="39D3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Why you care</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645920"/>
            <a:ext cx="11064240" cy="1097280"/>
          </a:xfrm>
          <a:prstGeom prst="rect">
            <a:avLst/>
          </a:prstGeom>
          <a:noFill/>
        </p:spPr>
        <p:txBody>
          <a:bodyPr wrap="square" lIns="0" tIns="0" rIns="0" bIns="0">
            <a:spAutoFit/>
          </a:bodyPr>
          <a:lstStyle/>
          <a:p>
            <a:pPr algn="l"/>
            <a:r>
              <a:rPr sz="2100" b="1" i="0">
                <a:solidFill>
                  <a:srgbClr val="EAF4FF"/>
                </a:solidFill>
                <a:latin typeface="Arial"/>
              </a:rPr>
              <a:t>Two cockpit missions. Everything from Modules 1–7, used in anger.</a:t>
            </a:r>
          </a:p>
        </p:txBody>
      </p:sp>
      <p:sp>
        <p:nvSpPr>
          <p:cNvPr id="7" name="Rounded Rectangle 6"/>
          <p:cNvSpPr/>
          <p:nvPr/>
        </p:nvSpPr>
        <p:spPr>
          <a:xfrm>
            <a:off x="548640"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4672" y="3337560"/>
            <a:ext cx="3081528" cy="1737360"/>
          </a:xfrm>
          <a:prstGeom prst="rect">
            <a:avLst/>
          </a:prstGeom>
          <a:noFill/>
        </p:spPr>
        <p:txBody>
          <a:bodyPr wrap="square" lIns="0" tIns="0" rIns="0" bIns="0">
            <a:spAutoFit/>
          </a:bodyPr>
          <a:lstStyle/>
          <a:p>
            <a:pPr algn="l">
              <a:spcAft>
                <a:spcPts val="800"/>
              </a:spcAft>
            </a:pPr>
            <a:r>
              <a:rPr sz="1450" b="1" i="0">
                <a:solidFill>
                  <a:srgbClr val="FFCF4D"/>
                </a:solidFill>
                <a:latin typeface="Arial"/>
              </a:rPr>
              <a:t>Mission 1 — GEO servicing</a:t>
            </a:r>
          </a:p>
          <a:p>
            <a:pPr algn="l"/>
            <a:r>
              <a:rPr sz="1250" b="0" i="0">
                <a:solidFill>
                  <a:srgbClr val="CFE3FF"/>
                </a:solidFill>
                <a:latin typeface="Arial"/>
              </a:rPr>
              <a:t>a two-burn transfer up to the belt, then a phasing leg to rendezvous with a target satellite.</a:t>
            </a:r>
          </a:p>
        </p:txBody>
      </p:sp>
      <p:sp>
        <p:nvSpPr>
          <p:cNvPr id="9" name="Rounded Rectangle 8"/>
          <p:cNvSpPr/>
          <p:nvPr/>
        </p:nvSpPr>
        <p:spPr>
          <a:xfrm>
            <a:off x="4370831"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26864" y="3337560"/>
            <a:ext cx="3081528" cy="1737360"/>
          </a:xfrm>
          <a:prstGeom prst="rect">
            <a:avLst/>
          </a:prstGeom>
          <a:noFill/>
        </p:spPr>
        <p:txBody>
          <a:bodyPr wrap="square" lIns="0" tIns="0" rIns="0" bIns="0">
            <a:spAutoFit/>
          </a:bodyPr>
          <a:lstStyle/>
          <a:p>
            <a:pPr algn="l">
              <a:spcAft>
                <a:spcPts val="800"/>
              </a:spcAft>
            </a:pPr>
            <a:r>
              <a:rPr sz="1450" b="1" i="0">
                <a:solidFill>
                  <a:srgbClr val="FFCF4D"/>
                </a:solidFill>
                <a:latin typeface="Arial"/>
              </a:rPr>
              <a:t>Mission 2 — the Moon</a:t>
            </a:r>
          </a:p>
          <a:p>
            <a:pPr algn="l"/>
            <a:r>
              <a:rPr sz="1250" b="0" i="0">
                <a:solidFill>
                  <a:srgbClr val="CFE3FF"/>
                </a:solidFill>
                <a:latin typeface="Arial"/>
              </a:rPr>
              <a:t>unlocked by a clean GEO run: three burns to a parking orbit around a moving target 384,400 km away.</a:t>
            </a:r>
          </a:p>
        </p:txBody>
      </p:sp>
      <p:sp>
        <p:nvSpPr>
          <p:cNvPr id="11" name="Rounded Rectangle 10"/>
          <p:cNvSpPr/>
          <p:nvPr/>
        </p:nvSpPr>
        <p:spPr>
          <a:xfrm>
            <a:off x="8193023"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49055" y="3337560"/>
            <a:ext cx="3081528" cy="1737360"/>
          </a:xfrm>
          <a:prstGeom prst="rect">
            <a:avLst/>
          </a:prstGeom>
          <a:noFill/>
        </p:spPr>
        <p:txBody>
          <a:bodyPr wrap="square" lIns="0" tIns="0" rIns="0" bIns="0">
            <a:spAutoFit/>
          </a:bodyPr>
          <a:lstStyle/>
          <a:p>
            <a:pPr algn="l">
              <a:spcAft>
                <a:spcPts val="800"/>
              </a:spcAft>
            </a:pPr>
            <a:r>
              <a:rPr sz="1450" b="1" i="0">
                <a:solidFill>
                  <a:srgbClr val="FFCF4D"/>
                </a:solidFill>
                <a:latin typeface="Arial"/>
              </a:rPr>
              <a:t>The logbook decides</a:t>
            </a:r>
          </a:p>
          <a:p>
            <a:pPr algn="l"/>
            <a:r>
              <a:rPr sz="1250" b="0" i="0">
                <a:solidFill>
                  <a:srgbClr val="CFE3FF"/>
                </a:solidFill>
                <a:latin typeface="Arial"/>
              </a:rPr>
              <a:t>tally every burn's Δv before you fly — the tank does not negotiate.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Δv is the currency</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802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a velocity change</a:t>
            </a:r>
          </a:p>
          <a:p>
            <a:pPr algn="ctr"/>
            <a:r>
              <a:rPr sz="1250" b="0" i="0">
                <a:solidFill>
                  <a:srgbClr val="CFE3FF"/>
                </a:solidFill>
                <a:latin typeface="Arial"/>
              </a:rPr>
              <a:t>what a burn physically delivers, in m/s</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1850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exponential</a:t>
            </a:r>
          </a:p>
          <a:p>
            <a:pPr algn="ctr"/>
            <a:r>
              <a:rPr sz="1250" b="0" i="0">
                <a:solidFill>
                  <a:srgbClr val="CFE3FF"/>
                </a:solidFill>
                <a:latin typeface="Arial"/>
              </a:rPr>
              <a:t>each extra km/s costs far more launch mass</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5898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6,500 / 9,500</a:t>
            </a:r>
          </a:p>
          <a:p>
            <a:pPr algn="ctr"/>
            <a:r>
              <a:rPr sz="1250" b="0" i="0">
                <a:solidFill>
                  <a:srgbClr val="CFE3FF"/>
                </a:solidFill>
                <a:latin typeface="Arial"/>
              </a:rPr>
              <a:t>m/s in the tank: GEO run / lunar flight</a:t>
            </a:r>
          </a:p>
        </p:txBody>
      </p:sp>
      <p:sp>
        <p:nvSpPr>
          <p:cNvPr id="12" name="TextBox 11"/>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A burn does exactly one thing: it changes your velocity. Propellant buys that change at a brutal exchange rate (Tsiolkovsky), so spacecraft are designed around a Δv budget — and when the tank is empty the mission ends wherever you happen to be. Keep a logbook and you know before you light the engine whether the plan is affordable.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Mission 1 — GEO servicing</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802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2,400 m/s</a:t>
            </a:r>
          </a:p>
          <a:p>
            <a:pPr algn="ctr"/>
            <a:r>
              <a:rPr sz="1250" b="0" i="0">
                <a:solidFill>
                  <a:srgbClr val="CFE3FF"/>
                </a:solidFill>
                <a:latin typeface="Arial"/>
              </a:rPr>
              <a:t>burn 1: raise apogee to GEO</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1850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1,460 m/s</a:t>
            </a:r>
          </a:p>
          <a:p>
            <a:pPr algn="ctr"/>
            <a:r>
              <a:rPr sz="1250" b="0" i="0">
                <a:solidFill>
                  <a:srgbClr val="CFE3FF"/>
                </a:solidFill>
                <a:latin typeface="Arial"/>
              </a:rPr>
              <a:t>burn 2: circularize at apogee</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5898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3,860 / 6,500</a:t>
            </a:r>
          </a:p>
          <a:p>
            <a:pPr algn="ctr"/>
            <a:r>
              <a:rPr sz="1250" b="0" i="0">
                <a:solidFill>
                  <a:srgbClr val="CFE3FF"/>
                </a:solidFill>
                <a:latin typeface="Arial"/>
              </a:rPr>
              <a:t>planned burns vs the tank</a:t>
            </a:r>
          </a:p>
        </p:txBody>
      </p:sp>
      <p:sp>
        <p:nvSpPr>
          <p:cNvPr id="12" name="TextBox 11"/>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Circularizing hurts because you arrive at apogee doing only 1.6 km/s — and GEO demands 3.1. But reaching the belt is not the mission: you arrive ~8° BEHIND the target satellite and must phase in. Winning means holding within 3.5° of it for a full revolution.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To catch up, drop LOWER</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802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SHORTER lap</a:t>
            </a:r>
          </a:p>
          <a:p>
            <a:pPr algn="ctr"/>
            <a:r>
              <a:rPr sz="1250" b="0" i="0">
                <a:solidFill>
                  <a:srgbClr val="CFE3FF"/>
                </a:solidFill>
                <a:latin typeface="Arial"/>
              </a:rPr>
              <a:t>a lower orbit has a shorter period</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1850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~5°/day</a:t>
            </a:r>
          </a:p>
          <a:p>
            <a:pPr algn="ctr"/>
            <a:r>
              <a:rPr sz="1250" b="0" i="0">
                <a:solidFill>
                  <a:srgbClr val="CFE3FF"/>
                </a:solidFill>
                <a:latin typeface="Arial"/>
              </a:rPr>
              <a:t>drift gained by dipping just 400 km</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5898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736 km</a:t>
            </a:r>
          </a:p>
          <a:p>
            <a:pPr algn="ctr"/>
            <a:r>
              <a:rPr sz="1250" b="0" i="0">
                <a:solidFill>
                  <a:srgbClr val="CFE3FF"/>
                </a:solidFill>
                <a:latin typeface="Arial"/>
              </a:rPr>
              <a:t>one degree along the GEO belt</a:t>
            </a:r>
          </a:p>
        </p:txBody>
      </p:sp>
      <p:sp>
        <p:nvSpPr>
          <p:cNvPr id="12" name="TextBox 11"/>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Chase a satellite ahead of you by burning FORWARD and you raise your orbit, LENGTHEN your period, and it pulls away. Burn REVERSE instead: you drop, your lap shortens, and you creep up on it — then burn FORWARD again to stop the drift. Your speed at the burn point actually falls; it is the PERIOD that wins the race.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Mission 2 — lead the Moon</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802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~120°</a:t>
            </a:r>
          </a:p>
          <a:p>
            <a:pPr algn="ctr"/>
            <a:r>
              <a:rPr sz="1250" b="0" i="0">
                <a:solidFill>
                  <a:srgbClr val="CFE3FF"/>
                </a:solidFill>
                <a:latin typeface="Arial"/>
              </a:rPr>
              <a:t>lead angle — aim where the Moon WILL be</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1850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3,090 m/s</a:t>
            </a:r>
          </a:p>
          <a:p>
            <a:pPr algn="ctr"/>
            <a:r>
              <a:rPr sz="1250" b="0" i="0">
                <a:solidFill>
                  <a:srgbClr val="CFE3FF"/>
                </a:solidFill>
                <a:latin typeface="Arial"/>
              </a:rPr>
              <a:t>the TLI burn out of low orbit</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5898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~4 days</a:t>
            </a:r>
          </a:p>
          <a:p>
            <a:pPr algn="ctr"/>
            <a:r>
              <a:rPr sz="1250" b="0" i="0">
                <a:solidFill>
                  <a:srgbClr val="CFE3FF"/>
                </a:solidFill>
                <a:latin typeface="Arial"/>
              </a:rPr>
              <a:t>the coast — apogee aimed just PAST the Moon</a:t>
            </a:r>
          </a:p>
        </p:txBody>
      </p:sp>
      <p:sp>
        <p:nvSpPr>
          <p:cNvPr id="12" name="TextBox 11"/>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Aim for ~395,000 km — dead-centre on the Moon is a collision, not a capture. And TLI is a knife edge: ±1.5 m/s out of 3,090 flips a clean capture into an impact or a miss.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415498"/>
          </a:xfrm>
          <a:prstGeom prst="rect">
            <a:avLst/>
          </a:prstGeom>
          <a:noFill/>
        </p:spPr>
        <p:txBody>
          <a:bodyPr wrap="square" lIns="0" tIns="0" rIns="0" bIns="0">
            <a:spAutoFit/>
          </a:bodyPr>
          <a:lstStyle/>
          <a:p>
            <a:pPr algn="l"/>
            <a:r>
              <a:rPr sz="2700" b="1" i="0" dirty="0">
                <a:solidFill>
                  <a:srgbClr val="5FD0FF"/>
                </a:solidFill>
                <a:latin typeface="Arial"/>
              </a:rPr>
              <a:t>L</a:t>
            </a:r>
            <a:r>
              <a:rPr lang="en-US" sz="2700" b="1" i="0" dirty="0">
                <a:solidFill>
                  <a:srgbClr val="5FD0FF"/>
                </a:solidFill>
                <a:latin typeface="Arial"/>
              </a:rPr>
              <a:t>unar </a:t>
            </a:r>
            <a:r>
              <a:rPr sz="2700" b="1" i="0" dirty="0">
                <a:solidFill>
                  <a:srgbClr val="5FD0FF"/>
                </a:solidFill>
                <a:latin typeface="Arial"/>
              </a:rPr>
              <a:t>O</a:t>
            </a:r>
            <a:r>
              <a:rPr lang="en-US" sz="2700" b="1" i="0" dirty="0">
                <a:solidFill>
                  <a:srgbClr val="5FD0FF"/>
                </a:solidFill>
                <a:latin typeface="Arial"/>
              </a:rPr>
              <a:t>rbit </a:t>
            </a:r>
            <a:r>
              <a:rPr sz="2700" b="1" i="0" dirty="0">
                <a:solidFill>
                  <a:srgbClr val="5FD0FF"/>
                </a:solidFill>
                <a:latin typeface="Arial"/>
              </a:rPr>
              <a:t>I</a:t>
            </a:r>
            <a:r>
              <a:rPr lang="en-US" sz="2700" b="1" i="0" dirty="0">
                <a:solidFill>
                  <a:srgbClr val="5FD0FF"/>
                </a:solidFill>
                <a:latin typeface="Arial"/>
              </a:rPr>
              <a:t>nsertion</a:t>
            </a:r>
            <a:r>
              <a:rPr sz="2700" b="1" i="0" dirty="0">
                <a:solidFill>
                  <a:srgbClr val="5FD0FF"/>
                </a:solidFill>
                <a:latin typeface="Arial"/>
              </a:rPr>
              <a:t> — brake, backwards</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363827" y="2148840"/>
            <a:ext cx="457200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46707" y="2148840"/>
            <a:ext cx="420624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~600 m/s</a:t>
            </a:r>
          </a:p>
          <a:p>
            <a:pPr algn="ctr"/>
            <a:r>
              <a:rPr sz="1250" b="0" i="0">
                <a:solidFill>
                  <a:srgbClr val="CFE3FF"/>
                </a:solidFill>
                <a:latin typeface="Arial"/>
              </a:rPr>
              <a:t>the brake — REVERSE, at closest approach</a:t>
            </a:r>
          </a:p>
        </p:txBody>
      </p:sp>
      <p:sp>
        <p:nvSpPr>
          <p:cNvPr id="8" name="Rounded Rectangle 7"/>
          <p:cNvSpPr/>
          <p:nvPr/>
        </p:nvSpPr>
        <p:spPr>
          <a:xfrm>
            <a:off x="6255867" y="2148840"/>
            <a:ext cx="457200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38747" y="2148840"/>
            <a:ext cx="420624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9,500 m/s</a:t>
            </a:r>
          </a:p>
          <a:p>
            <a:pPr algn="ctr"/>
            <a:r>
              <a:rPr sz="1250" b="0" i="0">
                <a:solidFill>
                  <a:srgbClr val="CFE3FF"/>
                </a:solidFill>
                <a:latin typeface="Arial"/>
              </a:rPr>
              <a:t>the whole-mission Δv budget</a:t>
            </a:r>
          </a:p>
        </p:txBody>
      </p:sp>
      <p:sp>
        <p:nvSpPr>
          <p:cNvPr id="10" name="TextBox 9"/>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At closest approach you are moving too fast for the Moon's gentle gravity to hold. Skip the brake and you sling right past. Brake to the local circular speed (~600 m/s — less than the 900 you planned) and capture costs you least. Capture leaves an ELLIPSE, so a third burn rounds it out at an apsis: TLI, brake, circularize.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Circularize only at an apsis</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802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AT an apsis</a:t>
            </a:r>
          </a:p>
          <a:p>
            <a:pPr algn="ctr"/>
            <a:r>
              <a:rPr sz="1250" b="0" i="0">
                <a:solidFill>
                  <a:srgbClr val="CFE3FF"/>
                </a:solidFill>
                <a:latin typeface="Arial"/>
              </a:rPr>
              <a:t>radial motion is zero — one burn rounds it out</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1850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anywhere else</a:t>
            </a:r>
          </a:p>
          <a:p>
            <a:pPr algn="ctr"/>
            <a:r>
              <a:rPr sz="1250" b="0" i="0">
                <a:solidFill>
                  <a:srgbClr val="CFE3FF"/>
                </a:solidFill>
                <a:latin typeface="Arial"/>
              </a:rPr>
              <a:t>the fix flips sign every half lap</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5898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~40 m/s</a:t>
            </a:r>
          </a:p>
          <a:p>
            <a:pPr algn="ctr"/>
            <a:r>
              <a:rPr sz="1250" b="0" i="0">
                <a:solidFill>
                  <a:srgbClr val="CFE3FF"/>
                </a:solidFill>
                <a:latin typeface="Arial"/>
              </a:rPr>
              <a:t>what burn 3 costs when the brake was flown well</a:t>
            </a:r>
          </a:p>
        </p:txBody>
      </p:sp>
      <p:sp>
        <p:nvSpPr>
          <p:cNvPr id="12" name="TextBox 11"/>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Your high and low points are the only places where your velocity is already perpendicular to your radius. That is why the cockpit cues the lunar circularization at your next apsis and tells you to WAIT — and why the same rule governs trimming an egg-shaped orbit at GEO. Burn in between and you tilt the orbit instead of rounding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The cockpit</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40080" y="170992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1</a:t>
            </a:r>
          </a:p>
        </p:txBody>
      </p:sp>
      <p:sp>
        <p:nvSpPr>
          <p:cNvPr id="7" name="TextBox 6"/>
          <p:cNvSpPr txBox="1"/>
          <p:nvPr/>
        </p:nvSpPr>
        <p:spPr>
          <a:xfrm>
            <a:off x="1234440" y="1691640"/>
            <a:ext cx="10332720" cy="960120"/>
          </a:xfrm>
          <a:prstGeom prst="rect">
            <a:avLst/>
          </a:prstGeom>
          <a:noFill/>
        </p:spPr>
        <p:txBody>
          <a:bodyPr wrap="square" lIns="0" tIns="0" rIns="0" bIns="0">
            <a:spAutoFit/>
          </a:bodyPr>
          <a:lstStyle/>
          <a:p>
            <a:pPr algn="l"/>
            <a:r>
              <a:rPr sz="1400" b="1" i="0" dirty="0">
                <a:solidFill>
                  <a:srgbClr val="EAF4FF"/>
                </a:solidFill>
                <a:latin typeface="Arial"/>
              </a:rPr>
              <a:t>TRAIN mode</a:t>
            </a:r>
            <a:r>
              <a:rPr sz="1300" b="0" i="0" dirty="0">
                <a:solidFill>
                  <a:srgbClr val="7E93B8"/>
                </a:solidFill>
                <a:latin typeface="Arial"/>
              </a:rPr>
              <a:t>  —  </a:t>
            </a:r>
            <a:r>
              <a:rPr sz="1250" b="0" i="0" dirty="0">
                <a:solidFill>
                  <a:srgbClr val="CFE3FF"/>
                </a:solidFill>
                <a:latin typeface="Arial"/>
              </a:rPr>
              <a:t>free flight, unlimited fuel, nothing scored: build the intuition first</a:t>
            </a:r>
            <a:r>
              <a:rPr sz="1250" b="0" i="0" dirty="0" err="1">
                <a:solidFill>
                  <a:srgbClr val="CFE3FF"/>
                </a:solidFill>
                <a:latin typeface="Arial"/>
              </a:rPr>
              <a:t/>
            </a:r>
            <a:r>
              <a:rPr sz="1250" b="0" i="0" dirty="0">
                <a:solidFill>
                  <a:srgbClr val="CFE3FF"/>
                </a:solidFill>
                <a:latin typeface="Arial"/>
              </a:rPr>
              <a:t/>
            </a:r>
          </a:p>
        </p:txBody>
      </p:sp>
      <p:sp>
        <p:nvSpPr>
          <p:cNvPr id="8" name="Oval 7"/>
          <p:cNvSpPr/>
          <p:nvPr/>
        </p:nvSpPr>
        <p:spPr>
          <a:xfrm>
            <a:off x="640080" y="267004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2</a:t>
            </a:r>
          </a:p>
        </p:txBody>
      </p:sp>
      <p:sp>
        <p:nvSpPr>
          <p:cNvPr id="9" name="TextBox 8"/>
          <p:cNvSpPr txBox="1"/>
          <p:nvPr/>
        </p:nvSpPr>
        <p:spPr>
          <a:xfrm>
            <a:off x="1234440" y="2651760"/>
            <a:ext cx="10332720" cy="960120"/>
          </a:xfrm>
          <a:prstGeom prst="rect">
            <a:avLst/>
          </a:prstGeom>
          <a:noFill/>
        </p:spPr>
        <p:txBody>
          <a:bodyPr wrap="square" lIns="0" tIns="0" rIns="0" bIns="0">
            <a:spAutoFit/>
          </a:bodyPr>
          <a:lstStyle/>
          <a:p>
            <a:pPr algn="l"/>
            <a:r>
              <a:rPr sz="1400" b="1" i="0">
                <a:solidFill>
                  <a:srgbClr val="EAF4FF"/>
                </a:solidFill>
                <a:latin typeface="Arial"/>
              </a:rPr>
              <a:t>PLAN mode</a:t>
            </a:r>
            <a:r>
              <a:rPr sz="1300" b="0" i="0">
                <a:solidFill>
                  <a:srgbClr val="7E93B8"/>
                </a:solidFill>
                <a:latin typeface="Arial"/>
              </a:rPr>
              <a:t>  —  </a:t>
            </a:r>
            <a:r>
              <a:rPr sz="1250" b="0" i="0">
                <a:solidFill>
                  <a:srgbClr val="CFE3FF"/>
                </a:solidFill>
                <a:latin typeface="Arial"/>
              </a:rPr>
              <a:t>dial each burn's </a:t>
            </a:r>
          </a:p>
        </p:txBody>
      </p:sp>
      <p:sp>
        <p:nvSpPr>
          <p:cNvPr id="10" name="Oval 9"/>
          <p:cNvSpPr/>
          <p:nvPr/>
        </p:nvSpPr>
        <p:spPr>
          <a:xfrm>
            <a:off x="640080" y="363016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3</a:t>
            </a:r>
          </a:p>
        </p:txBody>
      </p:sp>
      <p:sp>
        <p:nvSpPr>
          <p:cNvPr id="11" name="TextBox 10"/>
          <p:cNvSpPr txBox="1"/>
          <p:nvPr/>
        </p:nvSpPr>
        <p:spPr>
          <a:xfrm>
            <a:off x="1234440" y="3611880"/>
            <a:ext cx="10332720" cy="960120"/>
          </a:xfrm>
          <a:prstGeom prst="rect">
            <a:avLst/>
          </a:prstGeom>
          <a:noFill/>
        </p:spPr>
        <p:txBody>
          <a:bodyPr wrap="square" lIns="0" tIns="0" rIns="0" bIns="0">
            <a:spAutoFit/>
          </a:bodyPr>
          <a:lstStyle/>
          <a:p>
            <a:pPr algn="l"/>
            <a:r>
              <a:rPr sz="1400" b="1" i="0">
                <a:solidFill>
                  <a:srgbClr val="EAF4FF"/>
                </a:solidFill>
                <a:latin typeface="Arial"/>
              </a:rPr>
              <a:t>FLY mode</a:t>
            </a:r>
            <a:r>
              <a:rPr sz="1300" b="0" i="0">
                <a:solidFill>
                  <a:srgbClr val="7E93B8"/>
                </a:solidFill>
                <a:latin typeface="Arial"/>
              </a:rPr>
              <a:t>  —  </a:t>
            </a:r>
            <a:r>
              <a:rPr sz="1250" b="0" i="0">
                <a:solidFill>
                  <a:srgbClr val="CFE3FF"/>
                </a:solidFill>
                <a:latin typeface="Arial"/>
              </a:rPr>
              <a:t>the scored mission: countdown, BURN NOW cue, or 🤖 AUTO FLY to watch it flown</a:t>
            </a:r>
          </a:p>
        </p:txBody>
      </p:sp>
      <p:sp>
        <p:nvSpPr>
          <p:cNvPr id="12" name="Oval 11"/>
          <p:cNvSpPr/>
          <p:nvPr/>
        </p:nvSpPr>
        <p:spPr>
          <a:xfrm>
            <a:off x="640080" y="459028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i="0">
                <a:solidFill>
                  <a:srgbClr val="FFCF4D"/>
                </a:solidFill>
                <a:latin typeface="Arial"/>
              </a:rPr>
              <a:t>4</a:t>
            </a:r>
          </a:p>
        </p:txBody>
      </p:sp>
      <p:sp>
        <p:nvSpPr>
          <p:cNvPr id="13" name="TextBox 12"/>
          <p:cNvSpPr txBox="1"/>
          <p:nvPr/>
        </p:nvSpPr>
        <p:spPr>
          <a:xfrm>
            <a:off x="1234440" y="4572000"/>
            <a:ext cx="10332720" cy="960120"/>
          </a:xfrm>
          <a:prstGeom prst="rect">
            <a:avLst/>
          </a:prstGeom>
          <a:noFill/>
        </p:spPr>
        <p:txBody>
          <a:bodyPr wrap="square" lIns="0" tIns="0" rIns="0" bIns="0">
            <a:spAutoFit/>
          </a:bodyPr>
          <a:lstStyle/>
          <a:p>
            <a:pPr algn="l"/>
            <a:r>
              <a:rPr sz="1400" b="1" i="0">
                <a:solidFill>
                  <a:srgbClr val="EAF4FF"/>
                </a:solidFill>
                <a:latin typeface="Arial"/>
              </a:rPr>
              <a:t>RENDEZVOUS DIRECTOR</a:t>
            </a:r>
            <a:r>
              <a:rPr sz="1300" b="0" i="0">
                <a:solidFill>
                  <a:srgbClr val="7E93B8"/>
                </a:solidFill>
                <a:latin typeface="Arial"/>
              </a:rPr>
              <a:t>  —  </a:t>
            </a:r>
            <a:r>
              <a:rPr sz="1250" b="0" i="0">
                <a:solidFill>
                  <a:srgbClr val="CFE3FF"/>
                </a:solidFill>
                <a:latin typeface="Arial"/>
              </a:rPr>
              <a:t>range, closing rate, drift — what to hold, when, and why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How you're scored</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802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GEO</a:t>
            </a:r>
          </a:p>
          <a:p>
            <a:pPr algn="ctr"/>
            <a:r>
              <a:rPr sz="1250" b="0" i="0">
                <a:solidFill>
                  <a:srgbClr val="CFE3FF"/>
                </a:solidFill>
                <a:latin typeface="Arial"/>
              </a:rPr>
              <a:t>5% radius · 4% speed · 3.5° of target — HELD</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1850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MOON</a:t>
            </a:r>
          </a:p>
          <a:p>
            <a:pPr algn="ctr"/>
            <a:r>
              <a:rPr sz="1250" b="0" i="0">
                <a:solidFill>
                  <a:srgbClr val="CFE3FF"/>
                </a:solidFill>
                <a:latin typeface="Arial"/>
              </a:rPr>
              <a:t>bound, inside the SOI, 8% of circular — HELD</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58987" y="2148840"/>
            <a:ext cx="3154680" cy="2148840"/>
          </a:xfrm>
          <a:prstGeom prst="rect">
            <a:avLst/>
          </a:prstGeom>
          <a:noFill/>
        </p:spPr>
        <p:txBody>
          <a:bodyPr wrap="square" lIns="0" tIns="0" rIns="0" bIns="0" anchor="ctr">
            <a:spAutoFit/>
          </a:bodyPr>
          <a:lstStyle/>
          <a:p>
            <a:pPr algn="ctr">
              <a:spcAft>
                <a:spcPts val="800"/>
              </a:spcAft>
            </a:pPr>
            <a:r>
              <a:rPr sz="3300" b="1" i="0">
                <a:solidFill>
                  <a:srgbClr val="FFCF4D"/>
                </a:solidFill>
                <a:latin typeface="Arial"/>
              </a:rPr>
              <a:t>GRADE</a:t>
            </a:r>
          </a:p>
          <a:p>
            <a:pPr algn="ctr"/>
            <a:r>
              <a:rPr sz="1250" b="0" i="0">
                <a:solidFill>
                  <a:srgbClr val="CFE3FF"/>
                </a:solidFill>
                <a:latin typeface="Arial"/>
              </a:rPr>
              <a:t>GEO 40/30/30 altitude·circularity·proximity — Moon 50/50</a:t>
            </a:r>
          </a:p>
        </p:txBody>
      </p:sp>
      <p:sp>
        <p:nvSpPr>
          <p:cNvPr id="12" name="TextBox 11"/>
          <p:cNvSpPr txBox="1"/>
          <p:nvPr/>
        </p:nvSpPr>
        <p:spPr>
          <a:xfrm>
            <a:off x="548640" y="4709160"/>
            <a:ext cx="11064240" cy="1280160"/>
          </a:xfrm>
          <a:prstGeom prst="rect">
            <a:avLst/>
          </a:prstGeom>
          <a:noFill/>
        </p:spPr>
        <p:txBody>
          <a:bodyPr wrap="square" lIns="0" tIns="0" rIns="0" bIns="0">
            <a:spAutoFit/>
          </a:bodyPr>
          <a:lstStyle/>
          <a:p>
            <a:pPr algn="l"/>
            <a:r>
              <a:rPr sz="1350" b="0" i="1">
                <a:solidFill>
                  <a:srgbClr val="CFE3FF"/>
                </a:solidFill>
                <a:latin typeface="Arial"/>
              </a:rPr>
              <a:t>Touching the target box is not success: you must HOLD it, which leaves room to trim and rules out flukes. Ways to fail outright: re-entry, lunar impact, escape, a dry tank while off-target — or closing within 100 m of the satellite you were sent to service, which is a collision, not a rendezvous.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8686800" cy="292608"/>
          </a:xfrm>
          <a:prstGeom prst="rect">
            <a:avLst/>
          </a:prstGeom>
          <a:noFill/>
        </p:spPr>
        <p:txBody>
          <a:bodyPr wrap="square" lIns="0" tIns="0" rIns="0" bIns="0">
            <a:spAutoFit/>
          </a:bodyPr>
          <a:lstStyle/>
          <a:p>
            <a:pPr algn="l"/>
            <a:r>
              <a:rPr sz="1100" b="1" i="0">
                <a:solidFill>
                  <a:srgbClr val="FFCF4D"/>
                </a:solidFill>
                <a:latin typeface="Arial"/>
              </a:rPr>
              <a:t>MODULE 8 · ORBIT ACADEMY</a:t>
            </a:r>
          </a:p>
        </p:txBody>
      </p:sp>
      <p:sp>
        <p:nvSpPr>
          <p:cNvPr id="3" name="TextBox 2"/>
          <p:cNvSpPr txBox="1"/>
          <p:nvPr/>
        </p:nvSpPr>
        <p:spPr>
          <a:xfrm>
            <a:off x="548640" y="676656"/>
            <a:ext cx="10058400" cy="640080"/>
          </a:xfrm>
          <a:prstGeom prst="rect">
            <a:avLst/>
          </a:prstGeom>
          <a:noFill/>
        </p:spPr>
        <p:txBody>
          <a:bodyPr wrap="square" lIns="0" tIns="0" rIns="0" bIns="0">
            <a:spAutoFit/>
          </a:bodyPr>
          <a:lstStyle/>
          <a:p>
            <a:pPr algn="l"/>
            <a:r>
              <a:rPr sz="2700" b="1" i="0">
                <a:solidFill>
                  <a:srgbClr val="5FD0FF"/>
                </a:solidFill>
                <a:latin typeface="Arial"/>
              </a:rPr>
              <a:t>What you'll do</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645920"/>
            <a:ext cx="2377440" cy="960120"/>
          </a:xfrm>
          <a:prstGeom prst="rect">
            <a:avLst/>
          </a:prstGeom>
          <a:noFill/>
        </p:spPr>
        <p:txBody>
          <a:bodyPr wrap="square" lIns="0" tIns="0" rIns="0" bIns="0" anchor="ctr">
            <a:spAutoFit/>
          </a:bodyPr>
          <a:lstStyle/>
          <a:p>
            <a:pPr algn="l">
              <a:spcAft>
                <a:spcPts val="300"/>
              </a:spcAft>
            </a:pPr>
            <a:r>
              <a:rPr sz="1500" b="1" i="0">
                <a:solidFill>
                  <a:srgbClr val="39D353"/>
                </a:solidFill>
                <a:latin typeface="Arial"/>
              </a:rPr>
              <a:t>PREDICT</a:t>
            </a:r>
          </a:p>
          <a:p>
            <a:pPr algn="l"/>
            <a:r>
              <a:rPr sz="1050" b="0" i="0">
                <a:solidFill>
                  <a:srgbClr val="7E93B8"/>
                </a:solidFill>
                <a:latin typeface="Arial"/>
              </a:rPr>
              <a:t>call your shot first</a:t>
            </a:r>
          </a:p>
        </p:txBody>
      </p:sp>
      <p:sp>
        <p:nvSpPr>
          <p:cNvPr id="8" name="TextBox 7"/>
          <p:cNvSpPr txBox="1"/>
          <p:nvPr/>
        </p:nvSpPr>
        <p:spPr>
          <a:xfrm>
            <a:off x="3401568" y="1810512"/>
            <a:ext cx="411480" cy="548640"/>
          </a:xfrm>
          <a:prstGeom prst="rect">
            <a:avLst/>
          </a:prstGeom>
          <a:noFill/>
        </p:spPr>
        <p:txBody>
          <a:bodyPr wrap="square" lIns="0" tIns="0" rIns="0" bIns="0">
            <a:spAutoFit/>
          </a:bodyPr>
          <a:lstStyle/>
          <a:p>
            <a:pPr algn="ctr"/>
            <a:r>
              <a:rPr sz="2200" b="1" i="0">
                <a:solidFill>
                  <a:srgbClr val="FFCF4D"/>
                </a:solidFill>
                <a:latin typeface="Arial"/>
              </a:rPr>
              <a:t>→</a:t>
            </a:r>
          </a:p>
        </p:txBody>
      </p:sp>
      <p:sp>
        <p:nvSpPr>
          <p:cNvPr id="9" name="Rounded Rectangle 8"/>
          <p:cNvSpPr/>
          <p:nvPr/>
        </p:nvSpPr>
        <p:spPr>
          <a:xfrm>
            <a:off x="3794759"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023359" y="1645920"/>
            <a:ext cx="2377440" cy="960120"/>
          </a:xfrm>
          <a:prstGeom prst="rect">
            <a:avLst/>
          </a:prstGeom>
          <a:noFill/>
        </p:spPr>
        <p:txBody>
          <a:bodyPr wrap="square" lIns="0" tIns="0" rIns="0" bIns="0" anchor="ctr">
            <a:spAutoFit/>
          </a:bodyPr>
          <a:lstStyle/>
          <a:p>
            <a:pPr algn="l">
              <a:spcAft>
                <a:spcPts val="300"/>
              </a:spcAft>
            </a:pPr>
            <a:r>
              <a:rPr sz="1500" b="1" i="0">
                <a:solidFill>
                  <a:srgbClr val="39D353"/>
                </a:solidFill>
                <a:latin typeface="Arial"/>
              </a:rPr>
              <a:t>TRY</a:t>
            </a:r>
          </a:p>
          <a:p>
            <a:pPr algn="l"/>
            <a:r>
              <a:rPr sz="1050" b="0" i="0">
                <a:solidFill>
                  <a:srgbClr val="7E93B8"/>
                </a:solidFill>
                <a:latin typeface="Arial"/>
              </a:rPr>
              <a:t>run it in the simulator</a:t>
            </a:r>
          </a:p>
        </p:txBody>
      </p:sp>
      <p:sp>
        <p:nvSpPr>
          <p:cNvPr id="11" name="TextBox 10"/>
          <p:cNvSpPr txBox="1"/>
          <p:nvPr/>
        </p:nvSpPr>
        <p:spPr>
          <a:xfrm>
            <a:off x="6647688" y="1810512"/>
            <a:ext cx="411480" cy="548640"/>
          </a:xfrm>
          <a:prstGeom prst="rect">
            <a:avLst/>
          </a:prstGeom>
          <a:noFill/>
        </p:spPr>
        <p:txBody>
          <a:bodyPr wrap="square" lIns="0" tIns="0" rIns="0" bIns="0">
            <a:spAutoFit/>
          </a:bodyPr>
          <a:lstStyle/>
          <a:p>
            <a:pPr algn="ctr"/>
            <a:r>
              <a:rPr sz="2200" b="1" i="0">
                <a:solidFill>
                  <a:srgbClr val="FFCF4D"/>
                </a:solidFill>
                <a:latin typeface="Arial"/>
              </a:rPr>
              <a:t>→</a:t>
            </a:r>
          </a:p>
        </p:txBody>
      </p:sp>
      <p:sp>
        <p:nvSpPr>
          <p:cNvPr id="12" name="Rounded Rectangle 11"/>
          <p:cNvSpPr/>
          <p:nvPr/>
        </p:nvSpPr>
        <p:spPr>
          <a:xfrm>
            <a:off x="7040879"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269479" y="1645920"/>
            <a:ext cx="2377440" cy="960120"/>
          </a:xfrm>
          <a:prstGeom prst="rect">
            <a:avLst/>
          </a:prstGeom>
          <a:noFill/>
        </p:spPr>
        <p:txBody>
          <a:bodyPr wrap="square" lIns="0" tIns="0" rIns="0" bIns="0" anchor="ctr">
            <a:spAutoFit/>
          </a:bodyPr>
          <a:lstStyle/>
          <a:p>
            <a:pPr algn="l">
              <a:spcAft>
                <a:spcPts val="300"/>
              </a:spcAft>
            </a:pPr>
            <a:r>
              <a:rPr sz="1500" b="1" i="0">
                <a:solidFill>
                  <a:srgbClr val="39D353"/>
                </a:solidFill>
                <a:latin typeface="Arial"/>
              </a:rPr>
              <a:t>OBSERVE</a:t>
            </a:r>
          </a:p>
          <a:p>
            <a:pPr algn="l"/>
            <a:r>
              <a:rPr sz="1050" b="0" i="0">
                <a:solidFill>
                  <a:srgbClr val="7E93B8"/>
                </a:solidFill>
                <a:latin typeface="Arial"/>
              </a:rPr>
              <a:t>note what actually changed</a:t>
            </a:r>
          </a:p>
        </p:txBody>
      </p:sp>
      <p:sp>
        <p:nvSpPr>
          <p:cNvPr id="14" name="Oval 13"/>
          <p:cNvSpPr/>
          <p:nvPr/>
        </p:nvSpPr>
        <p:spPr>
          <a:xfrm>
            <a:off x="690371" y="3278124"/>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3200400"/>
            <a:ext cx="10607040" cy="685800"/>
          </a:xfrm>
          <a:prstGeom prst="rect">
            <a:avLst/>
          </a:prstGeom>
          <a:noFill/>
        </p:spPr>
        <p:txBody>
          <a:bodyPr wrap="square" lIns="0" tIns="0" rIns="0" bIns="0">
            <a:spAutoFit/>
          </a:bodyPr>
          <a:lstStyle/>
          <a:p>
            <a:pPr algn="l"/>
            <a:r>
              <a:rPr sz="1350" b="0" i="0">
                <a:solidFill>
                  <a:srgbClr val="CFE3FF"/>
                </a:solidFill>
                <a:latin typeface="Arial"/>
              </a:rPr>
              <a:t>TRAIN first: feel what prograde, retrograde and radial burns do — including the backwards-to-catch-up rule.</a:t>
            </a:r>
          </a:p>
        </p:txBody>
      </p:sp>
      <p:sp>
        <p:nvSpPr>
          <p:cNvPr id="16" name="Oval 15"/>
          <p:cNvSpPr/>
          <p:nvPr/>
        </p:nvSpPr>
        <p:spPr>
          <a:xfrm>
            <a:off x="690371" y="3991356"/>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05840" y="3913632"/>
            <a:ext cx="10607040" cy="685800"/>
          </a:xfrm>
          <a:prstGeom prst="rect">
            <a:avLst/>
          </a:prstGeom>
          <a:noFill/>
        </p:spPr>
        <p:txBody>
          <a:bodyPr wrap="square" lIns="0" tIns="0" rIns="0" bIns="0">
            <a:spAutoFit/>
          </a:bodyPr>
          <a:lstStyle/>
          <a:p>
            <a:pPr algn="l"/>
            <a:r>
              <a:rPr sz="1350" b="0" i="0">
                <a:solidFill>
                  <a:srgbClr val="CFE3FF"/>
                </a:solidFill>
                <a:latin typeface="Arial"/>
              </a:rPr>
              <a:t>PLAN: compute burn 1 and burn 2, log each Δv, and check the total against the 6,500 m/s tank.</a:t>
            </a:r>
          </a:p>
        </p:txBody>
      </p:sp>
      <p:sp>
        <p:nvSpPr>
          <p:cNvPr id="18" name="Oval 17"/>
          <p:cNvSpPr/>
          <p:nvPr/>
        </p:nvSpPr>
        <p:spPr>
          <a:xfrm>
            <a:off x="690371" y="4704588"/>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4626864"/>
            <a:ext cx="10607040" cy="685800"/>
          </a:xfrm>
          <a:prstGeom prst="rect">
            <a:avLst/>
          </a:prstGeom>
          <a:noFill/>
        </p:spPr>
        <p:txBody>
          <a:bodyPr wrap="square" lIns="0" tIns="0" rIns="0" bIns="0">
            <a:spAutoFit/>
          </a:bodyPr>
          <a:lstStyle/>
          <a:p>
            <a:pPr algn="l"/>
            <a:r>
              <a:rPr sz="1350" b="0" i="0">
                <a:solidFill>
                  <a:srgbClr val="CFE3FF"/>
                </a:solidFill>
                <a:latin typeface="Arial"/>
              </a:rPr>
              <a:t>FLY the GEO mission by hand, then again on AUTO — compare the Δv and the grade. Then phase ~8° to the target and hold station.</a:t>
            </a:r>
          </a:p>
        </p:txBody>
      </p:sp>
      <p:sp>
        <p:nvSpPr>
          <p:cNvPr id="20" name="Oval 19"/>
          <p:cNvSpPr/>
          <p:nvPr/>
        </p:nvSpPr>
        <p:spPr>
          <a:xfrm>
            <a:off x="690371" y="5417820"/>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5840" y="5340096"/>
            <a:ext cx="10607040" cy="685800"/>
          </a:xfrm>
          <a:prstGeom prst="rect">
            <a:avLst/>
          </a:prstGeom>
          <a:noFill/>
        </p:spPr>
        <p:txBody>
          <a:bodyPr wrap="square" lIns="0" tIns="0" rIns="0" bIns="0">
            <a:spAutoFit/>
          </a:bodyPr>
          <a:lstStyle/>
          <a:p>
            <a:pPr algn="l"/>
            <a:r>
              <a:rPr sz="1350" b="0" i="0">
                <a:solidFill>
                  <a:srgbClr val="CFE3FF"/>
                </a:solidFill>
                <a:latin typeface="Arial"/>
              </a:rPr>
              <a:t>Graduate: THREE burns to the Moon — TLI, the brake at closest approach, then circularize at an apsis.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50A14"/>
        </a:solidFill>
        <a:effectLst/>
      </p:bgPr>
    </p:bg>
    <p:spTree>
      <p:nvGrpSpPr>
        <p:cNvPr id="1" name=""/>
        <p:cNvGrpSpPr/>
        <p:nvPr/>
      </p:nvGrpSpPr>
      <p:grpSpPr>
        <a:xfrm>
          <a:off x="0" y="0"/>
          <a:ext cx="0" cy="0"/>
          <a:chOff x="0" y="0"/>
          <a:chExt cx="0" cy="0"/>
        </a:xfrm>
      </p:grpSpPr>
      <p:sp>
        <p:nvSpPr>
          <p:cNvPr id="2" name="Oval 1"/>
          <p:cNvSpPr/>
          <p:nvPr/>
        </p:nvSpPr>
        <p:spPr>
          <a:xfrm>
            <a:off x="4953304" y="548640"/>
            <a:ext cx="2286000" cy="822960"/>
          </a:xfrm>
          <a:prstGeom prst="ellipse">
            <a:avLst/>
          </a:prstGeom>
          <a:noFill/>
          <a:ln w="15875">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189012" y="909828"/>
            <a:ext cx="100584" cy="100584"/>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6055156" y="507492"/>
            <a:ext cx="82296" cy="82296"/>
          </a:xfrm>
          <a:prstGeom prst="ellipse">
            <a:avLst/>
          </a:prstGeom>
          <a:solidFill>
            <a:srgbClr val="39D3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1737360"/>
            <a:ext cx="9966960" cy="365760"/>
          </a:xfrm>
          <a:prstGeom prst="rect">
            <a:avLst/>
          </a:prstGeom>
          <a:noFill/>
        </p:spPr>
        <p:txBody>
          <a:bodyPr wrap="square" lIns="0" tIns="0" rIns="0" bIns="0">
            <a:spAutoFit/>
          </a:bodyPr>
          <a:lstStyle/>
          <a:p>
            <a:pPr algn="ctr"/>
            <a:r>
              <a:rPr sz="1250" b="1" i="0">
                <a:solidFill>
                  <a:srgbClr val="FFCF4D"/>
                </a:solidFill>
                <a:latin typeface="Arial"/>
              </a:rPr>
              <a:t>THE ONE THING TO REMEMBER</a:t>
            </a:r>
          </a:p>
        </p:txBody>
      </p:sp>
      <p:sp>
        <p:nvSpPr>
          <p:cNvPr id="6" name="TextBox 5"/>
          <p:cNvSpPr txBox="1"/>
          <p:nvPr/>
        </p:nvSpPr>
        <p:spPr>
          <a:xfrm>
            <a:off x="1234440" y="2743200"/>
            <a:ext cx="9692640" cy="2011680"/>
          </a:xfrm>
          <a:prstGeom prst="rect">
            <a:avLst/>
          </a:prstGeom>
          <a:noFill/>
        </p:spPr>
        <p:txBody>
          <a:bodyPr wrap="square" lIns="0" tIns="0" rIns="0" bIns="0">
            <a:spAutoFit/>
          </a:bodyPr>
          <a:lstStyle/>
          <a:p>
            <a:pPr algn="ctr"/>
            <a:r>
              <a:rPr sz="2900" b="1" i="0">
                <a:solidFill>
                  <a:srgbClr val="5FD0FF"/>
                </a:solidFill>
                <a:latin typeface="Arial"/>
              </a:rPr>
              <a:t>Plan the Δv, fly the plan — and to catch something ahead of you, drop LOWER.</a:t>
            </a:r>
          </a:p>
        </p:txBody>
      </p:sp>
      <p:sp>
        <p:nvSpPr>
          <p:cNvPr id="7" name="TextBox 6"/>
          <p:cNvSpPr txBox="1"/>
          <p:nvPr/>
        </p:nvSpPr>
        <p:spPr>
          <a:xfrm>
            <a:off x="1097280" y="5212080"/>
            <a:ext cx="9966960" cy="457200"/>
          </a:xfrm>
          <a:prstGeom prst="rect">
            <a:avLst/>
          </a:prstGeom>
          <a:noFill/>
        </p:spPr>
        <p:txBody>
          <a:bodyPr wrap="square" lIns="0" tIns="0" rIns="0" bIns="0">
            <a:spAutoFit/>
          </a:bodyPr>
          <a:lstStyle/>
          <a:p>
            <a:pPr algn="ctr"/>
            <a:r>
              <a:rPr sz="1500" b="1" i="0">
                <a:solidFill>
                  <a:srgbClr val="39D353"/>
                </a:solidFill>
                <a:latin typeface="Arial"/>
              </a:rPr>
              <a:t>Open Worksheet 8 and keep the simulator beside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986</Words>
  <Application>Microsoft Macintosh PowerPoint</Application>
  <PresentationFormat>Widescreen</PresentationFormat>
  <Paragraphs>73</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Stubbs, Christopher William</cp:lastModifiedBy>
  <cp:revision>2</cp:revision>
  <dcterms:created xsi:type="dcterms:W3CDTF">2013-01-27T09:14:16Z</dcterms:created>
  <dcterms:modified xsi:type="dcterms:W3CDTF">2026-07-20T13:36:53Z</dcterms:modified>
  <cp:category/>
</cp:coreProperties>
</file>