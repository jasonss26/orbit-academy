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44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4527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Module 8 is the capstone: students stop analyzing orbits and fly them from an Artemis-style cockpit. Two missions in strict order — a GEO servicing run, then the lunar flight it unlocks. Everything from Modules 1 through 7 gets used in anger.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structure is deliberate: plan first, fly second, and the Moon only unlocks after a successful GEO mission. Launch to LEO is automated so the student's job is orbital mechanics, not ascent. The delta-v logbook is the discipline — a mission that doesn't fit the tank on paper won't fit it in flight.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warm-up is the Module 4 recipe flown for real: raise apogee, coast, circularize. The second burn surprises students — you crawl into apogee at 1.6 kilometers per second and must nearly double your speed. At 3,860 of 4,400 meters per second, sloppy thruster work fails the mission; victory is holding station near the target for a full orbit, not touching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Trans-lunar injection is the duck-hunter shot from Module 5 flown with real stakes: the Moon moves roughly 120 degrees during the four-day coast, so you burn toward empty space. Aim the apogee just past the Moon's orbit — about 395,000 kilometers — because a dead-center aim is a collision course. Then you wait, watching the geometry 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Lunar orbit insertion is the counter-intuitive finale: after days of speeding up and coasting, the arrival burn is a retrograde brake. The Moon's gravity is too weak to capture a spacecraft at flyby speed — shed about 900 meters per second at closest approach or slingshot past. The full mission budget is 4,600; the logbook shows whether the plan ever 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Two views of the same mission: PLAN is where the thinking happens, FLY is where the hands shake. The BURN-NOW cue and ILS-style needles translate everything into pilot language — am I on track, am I on speed. Overburning wastes tank; underburning strands you; the logbook target is the truth.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Insist on the order: logbook complete before anyone touches FLY mode. The GEO run certifies the basic skills; the lunar flight adds the moving target and the retrograde brake. When they hold lunar orbit, they have used every module in the course — say 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capstone compresses the course into one sentence: budgets are computed before flight, executed with discipline, and capture at the Moon means slowing down when every instinct says go. Students who finish have flown a two-body transfer and a three-body capture. That is the whole arc from Module 1's falling cannonball.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77724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CF4D"/>
                </a:solidFill>
                <a:latin typeface="Arial"/>
              </a:rPr>
              <a:t>ORBIT ACADEMY — CISLUNAR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830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7E93B8"/>
                </a:solidFill>
                <a:latin typeface="Arial"/>
              </a:rPr>
              <a:t>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676656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000" b="1" i="0">
                <a:solidFill>
                  <a:srgbClr val="5FD0FF"/>
                </a:solidFill>
                <a:latin typeface="Arial"/>
              </a:rPr>
              <a:t>Lunar Transfers &amp; Artemis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60520"/>
            <a:ext cx="59436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1">
                <a:solidFill>
                  <a:srgbClr val="CFE3FF"/>
                </a:solidFill>
                <a:latin typeface="Arial"/>
              </a:rPr>
              <a:t>Stop studying orbits. Plan the burns, budget the tank, and fly — first to GEO, then to the Moon.</a:t>
            </a:r>
          </a:p>
        </p:txBody>
      </p:sp>
      <p:sp>
        <p:nvSpPr>
          <p:cNvPr id="6" name="Oval 5"/>
          <p:cNvSpPr/>
          <p:nvPr/>
        </p:nvSpPr>
        <p:spPr>
          <a:xfrm>
            <a:off x="7543800" y="2697479"/>
            <a:ext cx="4206240" cy="1554480"/>
          </a:xfrm>
          <a:prstGeom prst="ellipse">
            <a:avLst/>
          </a:prstGeom>
          <a:noFill/>
          <a:ln w="15875">
            <a:solidFill>
              <a:srgbClr val="5FD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458200" y="2286000"/>
            <a:ext cx="2377440" cy="2377440"/>
          </a:xfrm>
          <a:prstGeom prst="ellipse">
            <a:avLst/>
          </a:prstGeom>
          <a:noFill/>
          <a:ln w="12700">
            <a:solidFill>
              <a:srgbClr val="2A4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144000" y="2971800"/>
            <a:ext cx="1005840" cy="1005840"/>
          </a:xfrm>
          <a:prstGeom prst="ellipse">
            <a:avLst/>
          </a:prstGeom>
          <a:solidFill>
            <a:srgbClr val="0E2A4A"/>
          </a:solidFill>
          <a:ln w="12700">
            <a:solidFill>
              <a:srgbClr val="2A4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690604" y="3415284"/>
            <a:ext cx="118872" cy="118872"/>
          </a:xfrm>
          <a:prstGeom prst="ellipse">
            <a:avLst/>
          </a:prstGeom>
          <a:solidFill>
            <a:srgbClr val="FFC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596628" y="2235708"/>
            <a:ext cx="100584" cy="100584"/>
          </a:xfrm>
          <a:prstGeom prst="ellipse">
            <a:avLst/>
          </a:prstGeom>
          <a:solidFill>
            <a:srgbClr val="39D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CF4D"/>
                </a:solidFill>
                <a:latin typeface="Arial"/>
              </a:rPr>
              <a:t>MODULE 8 · ORBIT ACADEMY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5FD0FF"/>
                </a:solidFill>
                <a:latin typeface="Arial"/>
              </a:rPr>
              <a:t>Why you care</a:t>
            </a:r>
          </a:p>
        </p:txBody>
      </p:sp>
      <p:sp>
        <p:nvSpPr>
          <p:cNvPr id="4" name="Oval 3"/>
          <p:cNvSpPr/>
          <p:nvPr/>
        </p:nvSpPr>
        <p:spPr>
          <a:xfrm>
            <a:off x="10835640" y="484632"/>
            <a:ext cx="914400" cy="347472"/>
          </a:xfrm>
          <a:prstGeom prst="ellipse">
            <a:avLst/>
          </a:prstGeom>
          <a:noFill/>
          <a:ln w="12700">
            <a:solidFill>
              <a:srgbClr val="2A4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708892" y="617219"/>
            <a:ext cx="82296" cy="82296"/>
          </a:xfrm>
          <a:prstGeom prst="ellipse">
            <a:avLst/>
          </a:prstGeom>
          <a:solidFill>
            <a:srgbClr val="FFC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10642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100" b="1" i="0">
                <a:solidFill>
                  <a:srgbClr val="EAF4FF"/>
                </a:solidFill>
                <a:latin typeface="Arial"/>
              </a:rPr>
              <a:t>Two cockpit missions. Everything from Modules 1–7, used in anger.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063240"/>
            <a:ext cx="3593592" cy="2286000"/>
          </a:xfrm>
          <a:prstGeom prst="roundRect">
            <a:avLst>
              <a:gd name="adj" fmla="val 7000"/>
            </a:avLst>
          </a:prstGeom>
          <a:solidFill>
            <a:srgbClr val="0A1830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3337560"/>
            <a:ext cx="3081528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1" i="0">
                <a:solidFill>
                  <a:srgbClr val="FFCF4D"/>
                </a:solidFill>
                <a:latin typeface="Arial"/>
              </a:rPr>
              <a:t>Mission 1 — GEO servicing</a:t>
            </a:r>
          </a:p>
          <a:p>
            <a:pPr algn="l"/>
            <a:r>
              <a:rPr sz="1250" b="0" i="0">
                <a:solidFill>
                  <a:srgbClr val="CFE3FF"/>
                </a:solidFill>
                <a:latin typeface="Arial"/>
              </a:rPr>
              <a:t>a two-burn transfer from LEO up to a target satellite at GEO.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1" y="3063240"/>
            <a:ext cx="3593592" cy="2286000"/>
          </a:xfrm>
          <a:prstGeom prst="roundRect">
            <a:avLst>
              <a:gd name="adj" fmla="val 7000"/>
            </a:avLst>
          </a:prstGeom>
          <a:solidFill>
            <a:srgbClr val="0A1830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26864" y="3337560"/>
            <a:ext cx="3081528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1" i="0">
                <a:solidFill>
                  <a:srgbClr val="FFCF4D"/>
                </a:solidFill>
                <a:latin typeface="Arial"/>
              </a:rPr>
              <a:t>Mission 2 — the Moon</a:t>
            </a:r>
          </a:p>
          <a:p>
            <a:pPr algn="l"/>
            <a:r>
              <a:rPr sz="1250" b="0" i="0">
                <a:solidFill>
                  <a:srgbClr val="CFE3FF"/>
                </a:solidFill>
                <a:latin typeface="Arial"/>
              </a:rPr>
              <a:t>unlocked by a clean GEO run: lead a moving target across 384,400 km.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93023" y="3063240"/>
            <a:ext cx="3593592" cy="2286000"/>
          </a:xfrm>
          <a:prstGeom prst="roundRect">
            <a:avLst>
              <a:gd name="adj" fmla="val 7000"/>
            </a:avLst>
          </a:prstGeom>
          <a:solidFill>
            <a:srgbClr val="0A1830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49055" y="3337560"/>
            <a:ext cx="3081528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1" i="0">
                <a:solidFill>
                  <a:srgbClr val="FFCF4D"/>
                </a:solidFill>
                <a:latin typeface="Arial"/>
              </a:rPr>
              <a:t>The logbook decides</a:t>
            </a:r>
          </a:p>
          <a:p>
            <a:pPr algn="l"/>
            <a:r>
              <a:rPr sz="1250" b="0" i="0">
                <a:solidFill>
                  <a:srgbClr val="CFE3FF"/>
                </a:solidFill>
                <a:latin typeface="Arial"/>
              </a:rPr>
              <a:t>tally every burn's Δv before you fly — the tank does not negotiate.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CF4D"/>
                </a:solidFill>
                <a:latin typeface="Arial"/>
              </a:rPr>
              <a:t>MODULE 8 · ORBIT ACADEMY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5FD0FF"/>
                </a:solidFill>
                <a:latin typeface="Arial"/>
              </a:rPr>
              <a:t>Mission 1 — GEO servicing</a:t>
            </a:r>
          </a:p>
        </p:txBody>
      </p:sp>
      <p:sp>
        <p:nvSpPr>
          <p:cNvPr id="4" name="Oval 3"/>
          <p:cNvSpPr/>
          <p:nvPr/>
        </p:nvSpPr>
        <p:spPr>
          <a:xfrm>
            <a:off x="10835640" y="484632"/>
            <a:ext cx="914400" cy="347472"/>
          </a:xfrm>
          <a:prstGeom prst="ellipse">
            <a:avLst/>
          </a:prstGeom>
          <a:noFill/>
          <a:ln w="12700">
            <a:solidFill>
              <a:srgbClr val="2A4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708892" y="617219"/>
            <a:ext cx="82296" cy="82296"/>
          </a:xfrm>
          <a:prstGeom prst="ellipse">
            <a:avLst/>
          </a:prstGeom>
          <a:solidFill>
            <a:srgbClr val="FFC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95147" y="2148840"/>
            <a:ext cx="3520440" cy="2148840"/>
          </a:xfrm>
          <a:prstGeom prst="roundRect">
            <a:avLst>
              <a:gd name="adj" fmla="val 7000"/>
            </a:avLst>
          </a:prstGeom>
          <a:solidFill>
            <a:srgbClr val="0A1830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8027" y="2148840"/>
            <a:ext cx="3154680" cy="2148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3300" b="1" i="0">
                <a:solidFill>
                  <a:srgbClr val="FFCF4D"/>
                </a:solidFill>
                <a:latin typeface="Arial"/>
              </a:rPr>
              <a:t>2,400 m/s</a:t>
            </a:r>
          </a:p>
          <a:p>
            <a:pPr algn="ctr"/>
            <a:r>
              <a:rPr sz="1250" b="0" i="0">
                <a:solidFill>
                  <a:srgbClr val="CFE3FF"/>
                </a:solidFill>
                <a:latin typeface="Arial"/>
              </a:rPr>
              <a:t>burn 1: raise apogee to GEO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5627" y="2148840"/>
            <a:ext cx="3520440" cy="2148840"/>
          </a:xfrm>
          <a:prstGeom prst="roundRect">
            <a:avLst>
              <a:gd name="adj" fmla="val 7000"/>
            </a:avLst>
          </a:prstGeom>
          <a:solidFill>
            <a:srgbClr val="0A1830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18507" y="2148840"/>
            <a:ext cx="3154680" cy="2148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3300" b="1" i="0">
                <a:solidFill>
                  <a:srgbClr val="FFCF4D"/>
                </a:solidFill>
                <a:latin typeface="Arial"/>
              </a:rPr>
              <a:t>1,460 m/s</a:t>
            </a:r>
          </a:p>
          <a:p>
            <a:pPr algn="ctr"/>
            <a:r>
              <a:rPr sz="1250" b="0" i="0">
                <a:solidFill>
                  <a:srgbClr val="CFE3FF"/>
                </a:solidFill>
                <a:latin typeface="Arial"/>
              </a:rPr>
              <a:t>burn 2: circularize at apogee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76107" y="2148840"/>
            <a:ext cx="3520440" cy="2148840"/>
          </a:xfrm>
          <a:prstGeom prst="roundRect">
            <a:avLst>
              <a:gd name="adj" fmla="val 7000"/>
            </a:avLst>
          </a:prstGeom>
          <a:solidFill>
            <a:srgbClr val="0A1830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58987" y="2148840"/>
            <a:ext cx="3154680" cy="2148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3300" b="1" i="0">
                <a:solidFill>
                  <a:srgbClr val="FFCF4D"/>
                </a:solidFill>
                <a:latin typeface="Arial"/>
              </a:rPr>
              <a:t>3,860 / 4,400</a:t>
            </a:r>
          </a:p>
          <a:p>
            <a:pPr algn="ctr"/>
            <a:r>
              <a:rPr sz="1250" b="0" i="0">
                <a:solidFill>
                  <a:srgbClr val="CFE3FF"/>
                </a:solidFill>
                <a:latin typeface="Arial"/>
              </a:rPr>
              <a:t>total burned vs the tank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709160"/>
            <a:ext cx="1106424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 i="1">
                <a:solidFill>
                  <a:srgbClr val="CFE3FF"/>
                </a:solidFill>
                <a:latin typeface="Arial"/>
              </a:rPr>
              <a:t>Circularizing hurts because you arrive at apogee doing only 1.6 km/s — and GEO demands 3.1. Winning means HOLDING the target orbit a full revolution.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CF4D"/>
                </a:solidFill>
                <a:latin typeface="Arial"/>
              </a:rPr>
              <a:t>MODULE 8 · ORBIT ACADEMY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5FD0FF"/>
                </a:solidFill>
                <a:latin typeface="Arial"/>
              </a:rPr>
              <a:t>Mission 2 — lead the Moon</a:t>
            </a:r>
          </a:p>
        </p:txBody>
      </p:sp>
      <p:sp>
        <p:nvSpPr>
          <p:cNvPr id="4" name="Oval 3"/>
          <p:cNvSpPr/>
          <p:nvPr/>
        </p:nvSpPr>
        <p:spPr>
          <a:xfrm>
            <a:off x="10835640" y="484632"/>
            <a:ext cx="914400" cy="347472"/>
          </a:xfrm>
          <a:prstGeom prst="ellipse">
            <a:avLst/>
          </a:prstGeom>
          <a:noFill/>
          <a:ln w="12700">
            <a:solidFill>
              <a:srgbClr val="2A4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708892" y="617219"/>
            <a:ext cx="82296" cy="82296"/>
          </a:xfrm>
          <a:prstGeom prst="ellipse">
            <a:avLst/>
          </a:prstGeom>
          <a:solidFill>
            <a:srgbClr val="FFC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95147" y="2148840"/>
            <a:ext cx="3520440" cy="2148840"/>
          </a:xfrm>
          <a:prstGeom prst="roundRect">
            <a:avLst>
              <a:gd name="adj" fmla="val 7000"/>
            </a:avLst>
          </a:prstGeom>
          <a:solidFill>
            <a:srgbClr val="0A1830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8027" y="2148840"/>
            <a:ext cx="3154680" cy="2148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3300" b="1" i="0">
                <a:solidFill>
                  <a:srgbClr val="FFCF4D"/>
                </a:solidFill>
                <a:latin typeface="Arial"/>
              </a:rPr>
              <a:t>~120°</a:t>
            </a:r>
          </a:p>
          <a:p>
            <a:pPr algn="ctr"/>
            <a:r>
              <a:rPr sz="1250" b="0" i="0">
                <a:solidFill>
                  <a:srgbClr val="CFE3FF"/>
                </a:solidFill>
                <a:latin typeface="Arial"/>
              </a:rPr>
              <a:t>lead angle — aim where the Moon WILL be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5627" y="2148840"/>
            <a:ext cx="3520440" cy="2148840"/>
          </a:xfrm>
          <a:prstGeom prst="roundRect">
            <a:avLst>
              <a:gd name="adj" fmla="val 7000"/>
            </a:avLst>
          </a:prstGeom>
          <a:solidFill>
            <a:srgbClr val="0A1830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18507" y="2148840"/>
            <a:ext cx="3154680" cy="2148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3300" b="1" i="0">
                <a:solidFill>
                  <a:srgbClr val="FFCF4D"/>
                </a:solidFill>
                <a:latin typeface="Arial"/>
              </a:rPr>
              <a:t>3,090 m/s</a:t>
            </a:r>
          </a:p>
          <a:p>
            <a:pPr algn="ctr"/>
            <a:r>
              <a:rPr sz="1250" b="0" i="0">
                <a:solidFill>
                  <a:srgbClr val="CFE3FF"/>
                </a:solidFill>
                <a:latin typeface="Arial"/>
              </a:rPr>
              <a:t>the TLI burn out of low orbit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76107" y="2148840"/>
            <a:ext cx="3520440" cy="2148840"/>
          </a:xfrm>
          <a:prstGeom prst="roundRect">
            <a:avLst>
              <a:gd name="adj" fmla="val 7000"/>
            </a:avLst>
          </a:prstGeom>
          <a:solidFill>
            <a:srgbClr val="0A1830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58987" y="2148840"/>
            <a:ext cx="3154680" cy="2148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3300" b="1" i="0">
                <a:solidFill>
                  <a:srgbClr val="FFCF4D"/>
                </a:solidFill>
                <a:latin typeface="Arial"/>
              </a:rPr>
              <a:t>~4 days</a:t>
            </a:r>
          </a:p>
          <a:p>
            <a:pPr algn="ctr"/>
            <a:r>
              <a:rPr sz="1250" b="0" i="0">
                <a:solidFill>
                  <a:srgbClr val="CFE3FF"/>
                </a:solidFill>
                <a:latin typeface="Arial"/>
              </a:rPr>
              <a:t>the coast — apogee aimed just PAST the Moon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709160"/>
            <a:ext cx="1106424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 i="1">
                <a:solidFill>
                  <a:srgbClr val="CFE3FF"/>
                </a:solidFill>
                <a:latin typeface="Arial"/>
              </a:rPr>
              <a:t>Aim for ~395,000 km — dead-center on the Moon is a collision, not a capture.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CF4D"/>
                </a:solidFill>
                <a:latin typeface="Arial"/>
              </a:rPr>
              <a:t>MODULE 8 · ORBIT ACADEMY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0058400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700" b="1" i="0" dirty="0">
                <a:solidFill>
                  <a:srgbClr val="5FD0FF"/>
                </a:solidFill>
                <a:latin typeface="Arial"/>
              </a:rPr>
              <a:t>L</a:t>
            </a:r>
            <a:r>
              <a:rPr lang="en-US" sz="2700" b="1" i="0" dirty="0">
                <a:solidFill>
                  <a:srgbClr val="5FD0FF"/>
                </a:solidFill>
                <a:latin typeface="Arial"/>
              </a:rPr>
              <a:t>unar </a:t>
            </a:r>
            <a:r>
              <a:rPr sz="2700" b="1" i="0" dirty="0">
                <a:solidFill>
                  <a:srgbClr val="5FD0FF"/>
                </a:solidFill>
                <a:latin typeface="Arial"/>
              </a:rPr>
              <a:t>O</a:t>
            </a:r>
            <a:r>
              <a:rPr lang="en-US" sz="2700" b="1" i="0" dirty="0">
                <a:solidFill>
                  <a:srgbClr val="5FD0FF"/>
                </a:solidFill>
                <a:latin typeface="Arial"/>
              </a:rPr>
              <a:t>rbit </a:t>
            </a:r>
            <a:r>
              <a:rPr sz="2700" b="1" i="0" dirty="0">
                <a:solidFill>
                  <a:srgbClr val="5FD0FF"/>
                </a:solidFill>
                <a:latin typeface="Arial"/>
              </a:rPr>
              <a:t>I</a:t>
            </a:r>
            <a:r>
              <a:rPr lang="en-US" sz="2700" b="1" i="0" dirty="0">
                <a:solidFill>
                  <a:srgbClr val="5FD0FF"/>
                </a:solidFill>
                <a:latin typeface="Arial"/>
              </a:rPr>
              <a:t>nsertion</a:t>
            </a:r>
            <a:r>
              <a:rPr sz="2700" b="1" i="0" dirty="0">
                <a:solidFill>
                  <a:srgbClr val="5FD0FF"/>
                </a:solidFill>
                <a:latin typeface="Arial"/>
              </a:rPr>
              <a:t> — brake, backwards</a:t>
            </a:r>
          </a:p>
        </p:txBody>
      </p:sp>
      <p:sp>
        <p:nvSpPr>
          <p:cNvPr id="4" name="Oval 3"/>
          <p:cNvSpPr/>
          <p:nvPr/>
        </p:nvSpPr>
        <p:spPr>
          <a:xfrm>
            <a:off x="10835640" y="484632"/>
            <a:ext cx="914400" cy="347472"/>
          </a:xfrm>
          <a:prstGeom prst="ellipse">
            <a:avLst/>
          </a:prstGeom>
          <a:noFill/>
          <a:ln w="12700">
            <a:solidFill>
              <a:srgbClr val="2A4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708892" y="617219"/>
            <a:ext cx="82296" cy="82296"/>
          </a:xfrm>
          <a:prstGeom prst="ellipse">
            <a:avLst/>
          </a:prstGeom>
          <a:solidFill>
            <a:srgbClr val="FFC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363827" y="2148840"/>
            <a:ext cx="4572000" cy="2148840"/>
          </a:xfrm>
          <a:prstGeom prst="roundRect">
            <a:avLst>
              <a:gd name="adj" fmla="val 7000"/>
            </a:avLst>
          </a:prstGeom>
          <a:solidFill>
            <a:srgbClr val="0A1830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46707" y="2148840"/>
            <a:ext cx="4206240" cy="2148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3300" b="1" i="0">
                <a:solidFill>
                  <a:srgbClr val="FFCF4D"/>
                </a:solidFill>
                <a:latin typeface="Arial"/>
              </a:rPr>
              <a:t>900 m/s</a:t>
            </a:r>
          </a:p>
          <a:p>
            <a:pPr algn="ctr"/>
            <a:r>
              <a:rPr sz="1250" b="0" i="0">
                <a:solidFill>
                  <a:srgbClr val="CFE3FF"/>
                </a:solidFill>
                <a:latin typeface="Arial"/>
              </a:rPr>
              <a:t>the capture burn — pointed BACKWARDS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55867" y="2148840"/>
            <a:ext cx="4572000" cy="2148840"/>
          </a:xfrm>
          <a:prstGeom prst="roundRect">
            <a:avLst>
              <a:gd name="adj" fmla="val 7000"/>
            </a:avLst>
          </a:prstGeom>
          <a:solidFill>
            <a:srgbClr val="0A1830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38747" y="2148840"/>
            <a:ext cx="4206240" cy="2148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3300" b="1" i="0">
                <a:solidFill>
                  <a:srgbClr val="FFCF4D"/>
                </a:solidFill>
                <a:latin typeface="Arial"/>
              </a:rPr>
              <a:t>4,600 m/s</a:t>
            </a:r>
          </a:p>
          <a:p>
            <a:pPr algn="ctr"/>
            <a:r>
              <a:rPr sz="1250" b="0" i="0">
                <a:solidFill>
                  <a:srgbClr val="CFE3FF"/>
                </a:solidFill>
                <a:latin typeface="Arial"/>
              </a:rPr>
              <a:t>the whole-mission Δv budget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709160"/>
            <a:ext cx="1106424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 i="1">
                <a:solidFill>
                  <a:srgbClr val="CFE3FF"/>
                </a:solidFill>
                <a:latin typeface="Arial"/>
              </a:rPr>
              <a:t>At closest approach you are moving too fast for the Moon's gentle gravity to hold. Skip the brake and you sling right past, back into the void.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CF4D"/>
                </a:solidFill>
                <a:latin typeface="Arial"/>
              </a:rPr>
              <a:t>MODULE 8 · ORBIT ACADEMY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5FD0FF"/>
                </a:solidFill>
                <a:latin typeface="Arial"/>
              </a:rPr>
              <a:t>The cockpit</a:t>
            </a:r>
          </a:p>
        </p:txBody>
      </p:sp>
      <p:sp>
        <p:nvSpPr>
          <p:cNvPr id="4" name="Oval 3"/>
          <p:cNvSpPr/>
          <p:nvPr/>
        </p:nvSpPr>
        <p:spPr>
          <a:xfrm>
            <a:off x="10835640" y="484632"/>
            <a:ext cx="914400" cy="347472"/>
          </a:xfrm>
          <a:prstGeom prst="ellipse">
            <a:avLst/>
          </a:prstGeom>
          <a:noFill/>
          <a:ln w="12700">
            <a:solidFill>
              <a:srgbClr val="2A4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708892" y="617219"/>
            <a:ext cx="82296" cy="82296"/>
          </a:xfrm>
          <a:prstGeom prst="ellipse">
            <a:avLst/>
          </a:prstGeom>
          <a:solidFill>
            <a:srgbClr val="FFC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0080" y="1709928"/>
            <a:ext cx="384048" cy="384048"/>
          </a:xfrm>
          <a:prstGeom prst="ellipse">
            <a:avLst/>
          </a:prstGeom>
          <a:solidFill>
            <a:srgbClr val="13294A"/>
          </a:solidFill>
          <a:ln w="12700">
            <a:solidFill>
              <a:srgbClr val="FFCF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 i="0">
                <a:solidFill>
                  <a:srgbClr val="FFCF4D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91640"/>
            <a:ext cx="103327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 dirty="0">
                <a:solidFill>
                  <a:srgbClr val="EAF4FF"/>
                </a:solidFill>
                <a:latin typeface="Arial"/>
              </a:rPr>
              <a:t>PLAN mode</a:t>
            </a:r>
            <a:r>
              <a:rPr sz="1300" b="0" i="0" dirty="0">
                <a:solidFill>
                  <a:srgbClr val="7E93B8"/>
                </a:solidFill>
                <a:latin typeface="Arial"/>
              </a:rPr>
              <a:t>  —  </a:t>
            </a:r>
            <a:r>
              <a:rPr sz="1250" b="0" i="0" dirty="0">
                <a:solidFill>
                  <a:srgbClr val="CFE3FF"/>
                </a:solidFill>
                <a:latin typeface="Arial"/>
              </a:rPr>
              <a:t>a flight computer: compute each burn's </a:t>
            </a:r>
            <a:r>
              <a:rPr sz="1250" b="0" i="0" dirty="0" err="1">
                <a:solidFill>
                  <a:srgbClr val="CFE3FF"/>
                </a:solidFill>
                <a:latin typeface="Arial"/>
              </a:rPr>
              <a:t>Δv</a:t>
            </a:r>
            <a:r>
              <a:rPr sz="1250" b="0" i="0" dirty="0">
                <a:solidFill>
                  <a:srgbClr val="CFE3FF"/>
                </a:solidFill>
                <a:latin typeface="Arial"/>
              </a:rPr>
              <a:t>, log it, run the predictor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670048"/>
            <a:ext cx="384048" cy="384048"/>
          </a:xfrm>
          <a:prstGeom prst="ellipse">
            <a:avLst/>
          </a:prstGeom>
          <a:solidFill>
            <a:srgbClr val="13294A"/>
          </a:solidFill>
          <a:ln w="12700">
            <a:solidFill>
              <a:srgbClr val="FFCF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 i="0">
                <a:solidFill>
                  <a:srgbClr val="FFCF4D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651760"/>
            <a:ext cx="103327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AF4FF"/>
                </a:solidFill>
                <a:latin typeface="Arial"/>
              </a:rPr>
              <a:t>FLY mode</a:t>
            </a:r>
            <a:r>
              <a:rPr sz="1300" b="0" i="0">
                <a:solidFill>
                  <a:srgbClr val="7E93B8"/>
                </a:solidFill>
                <a:latin typeface="Arial"/>
              </a:rPr>
              <a:t>  —  </a:t>
            </a:r>
            <a:r>
              <a:rPr sz="1250" b="0" i="0">
                <a:solidFill>
                  <a:srgbClr val="CFE3FF"/>
                </a:solidFill>
                <a:latin typeface="Arial"/>
              </a:rPr>
              <a:t>Earth and Moon out the window at true angular size; hold-to-thrust controls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630168"/>
            <a:ext cx="384048" cy="384048"/>
          </a:xfrm>
          <a:prstGeom prst="ellipse">
            <a:avLst/>
          </a:prstGeom>
          <a:solidFill>
            <a:srgbClr val="13294A"/>
          </a:solidFill>
          <a:ln w="12700">
            <a:solidFill>
              <a:srgbClr val="FFCF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 i="0">
                <a:solidFill>
                  <a:srgbClr val="FFCF4D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611880"/>
            <a:ext cx="103327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AF4FF"/>
                </a:solidFill>
                <a:latin typeface="Arial"/>
              </a:rPr>
              <a:t>BURN NOW</a:t>
            </a:r>
            <a:r>
              <a:rPr sz="1300" b="0" i="0">
                <a:solidFill>
                  <a:srgbClr val="7E93B8"/>
                </a:solidFill>
                <a:latin typeface="Arial"/>
              </a:rPr>
              <a:t>  —  </a:t>
            </a:r>
            <a:r>
              <a:rPr sz="1250" b="0" i="0">
                <a:solidFill>
                  <a:srgbClr val="CFE3FF"/>
                </a:solidFill>
                <a:latin typeface="Arial"/>
              </a:rPr>
              <a:t>the cue light — hold the right thruster to the logged Δv, no more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590288"/>
            <a:ext cx="384048" cy="384048"/>
          </a:xfrm>
          <a:prstGeom prst="ellipse">
            <a:avLst/>
          </a:prstGeom>
          <a:solidFill>
            <a:srgbClr val="13294A"/>
          </a:solidFill>
          <a:ln w="12700">
            <a:solidFill>
              <a:srgbClr val="FFCF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 i="0">
                <a:solidFill>
                  <a:srgbClr val="FFCF4D"/>
                </a:solidFill>
                <a:latin typeface="Arial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572000"/>
            <a:ext cx="103327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AF4FF"/>
                </a:solidFill>
                <a:latin typeface="Arial"/>
              </a:rPr>
              <a:t>ILS needles</a:t>
            </a:r>
            <a:r>
              <a:rPr sz="1300" b="0" i="0">
                <a:solidFill>
                  <a:srgbClr val="7E93B8"/>
                </a:solidFill>
                <a:latin typeface="Arial"/>
              </a:rPr>
              <a:t>  —  </a:t>
            </a:r>
            <a:r>
              <a:rPr sz="1250" b="0" i="0">
                <a:solidFill>
                  <a:srgbClr val="CFE3FF"/>
                </a:solidFill>
                <a:latin typeface="Arial"/>
              </a:rPr>
              <a:t>on-track and on-speed indicators, borrowed from aviation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CF4D"/>
                </a:solidFill>
                <a:latin typeface="Arial"/>
              </a:rPr>
              <a:t>MODULE 8 · ORBIT ACADEMY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5FD0FF"/>
                </a:solidFill>
                <a:latin typeface="Arial"/>
              </a:rPr>
              <a:t>What you'll do</a:t>
            </a:r>
          </a:p>
        </p:txBody>
      </p:sp>
      <p:sp>
        <p:nvSpPr>
          <p:cNvPr id="4" name="Oval 3"/>
          <p:cNvSpPr/>
          <p:nvPr/>
        </p:nvSpPr>
        <p:spPr>
          <a:xfrm>
            <a:off x="10835640" y="484632"/>
            <a:ext cx="914400" cy="347472"/>
          </a:xfrm>
          <a:prstGeom prst="ellipse">
            <a:avLst/>
          </a:prstGeom>
          <a:noFill/>
          <a:ln w="12700">
            <a:solidFill>
              <a:srgbClr val="2A4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708892" y="617219"/>
            <a:ext cx="82296" cy="82296"/>
          </a:xfrm>
          <a:prstGeom prst="ellipse">
            <a:avLst/>
          </a:prstGeom>
          <a:solidFill>
            <a:srgbClr val="FFC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2834640" cy="960120"/>
          </a:xfrm>
          <a:prstGeom prst="roundRect">
            <a:avLst>
              <a:gd name="adj" fmla="val 7000"/>
            </a:avLst>
          </a:prstGeom>
          <a:solidFill>
            <a:srgbClr val="0A1830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237744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39D353"/>
                </a:solidFill>
                <a:latin typeface="Arial"/>
              </a:rPr>
              <a:t>PREDICT</a:t>
            </a:r>
          </a:p>
          <a:p>
            <a:pPr algn="l"/>
            <a:r>
              <a:rPr sz="1050" b="0" i="0">
                <a:solidFill>
                  <a:srgbClr val="7E93B8"/>
                </a:solidFill>
                <a:latin typeface="Arial"/>
              </a:rPr>
              <a:t>call your shot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01568" y="1810512"/>
            <a:ext cx="411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1" i="0">
                <a:solidFill>
                  <a:srgbClr val="FFCF4D"/>
                </a:solidFill>
                <a:latin typeface="Arial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94759" y="1645920"/>
            <a:ext cx="2834640" cy="960120"/>
          </a:xfrm>
          <a:prstGeom prst="roundRect">
            <a:avLst>
              <a:gd name="adj" fmla="val 7000"/>
            </a:avLst>
          </a:prstGeom>
          <a:solidFill>
            <a:srgbClr val="0A1830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023359" y="1645920"/>
            <a:ext cx="237744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39D353"/>
                </a:solidFill>
                <a:latin typeface="Arial"/>
              </a:rPr>
              <a:t>TRY</a:t>
            </a:r>
          </a:p>
          <a:p>
            <a:pPr algn="l"/>
            <a:r>
              <a:rPr sz="1050" b="0" i="0">
                <a:solidFill>
                  <a:srgbClr val="7E93B8"/>
                </a:solidFill>
                <a:latin typeface="Arial"/>
              </a:rPr>
              <a:t>run it in the simulator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47688" y="1810512"/>
            <a:ext cx="411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1" i="0">
                <a:solidFill>
                  <a:srgbClr val="FFCF4D"/>
                </a:solidFill>
                <a:latin typeface="Arial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79" y="1645920"/>
            <a:ext cx="2834640" cy="960120"/>
          </a:xfrm>
          <a:prstGeom prst="roundRect">
            <a:avLst>
              <a:gd name="adj" fmla="val 7000"/>
            </a:avLst>
          </a:prstGeom>
          <a:solidFill>
            <a:srgbClr val="0A1830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69479" y="1645920"/>
            <a:ext cx="237744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39D353"/>
                </a:solidFill>
                <a:latin typeface="Arial"/>
              </a:rPr>
              <a:t>OBSERVE</a:t>
            </a:r>
          </a:p>
          <a:p>
            <a:pPr algn="l"/>
            <a:r>
              <a:rPr sz="1050" b="0" i="0">
                <a:solidFill>
                  <a:srgbClr val="7E93B8"/>
                </a:solidFill>
                <a:latin typeface="Arial"/>
              </a:rPr>
              <a:t>note what actually changed</a:t>
            </a:r>
          </a:p>
        </p:txBody>
      </p:sp>
      <p:sp>
        <p:nvSpPr>
          <p:cNvPr id="14" name="Oval 13"/>
          <p:cNvSpPr/>
          <p:nvPr/>
        </p:nvSpPr>
        <p:spPr>
          <a:xfrm>
            <a:off x="690371" y="3278124"/>
            <a:ext cx="118872" cy="118872"/>
          </a:xfrm>
          <a:prstGeom prst="ellipse">
            <a:avLst/>
          </a:prstGeom>
          <a:solidFill>
            <a:srgbClr val="FFC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3200400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 i="0">
                <a:solidFill>
                  <a:srgbClr val="CFE3FF"/>
                </a:solidFill>
                <a:latin typeface="Arial"/>
              </a:rPr>
              <a:t>PLAN: compute burn 1 and burn 2, log each Δv, and check the total against the tank.</a:t>
            </a:r>
          </a:p>
        </p:txBody>
      </p:sp>
      <p:sp>
        <p:nvSpPr>
          <p:cNvPr id="16" name="Oval 15"/>
          <p:cNvSpPr/>
          <p:nvPr/>
        </p:nvSpPr>
        <p:spPr>
          <a:xfrm>
            <a:off x="690371" y="3991356"/>
            <a:ext cx="118872" cy="118872"/>
          </a:xfrm>
          <a:prstGeom prst="ellipse">
            <a:avLst/>
          </a:prstGeom>
          <a:solidFill>
            <a:srgbClr val="FFC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3913632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 i="0">
                <a:solidFill>
                  <a:srgbClr val="CFE3FF"/>
                </a:solidFill>
                <a:latin typeface="Arial"/>
              </a:rPr>
              <a:t>FLY the GEO mission: hit each BURN-NOW cue and hold the target box for a full orbit.</a:t>
            </a:r>
          </a:p>
        </p:txBody>
      </p:sp>
      <p:sp>
        <p:nvSpPr>
          <p:cNvPr id="18" name="Oval 17"/>
          <p:cNvSpPr/>
          <p:nvPr/>
        </p:nvSpPr>
        <p:spPr>
          <a:xfrm>
            <a:off x="690371" y="4704588"/>
            <a:ext cx="118872" cy="118872"/>
          </a:xfrm>
          <a:prstGeom prst="ellipse">
            <a:avLst/>
          </a:prstGeom>
          <a:solidFill>
            <a:srgbClr val="FFC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4626864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 i="0">
                <a:solidFill>
                  <a:srgbClr val="CFE3FF"/>
                </a:solidFill>
                <a:latin typeface="Arial"/>
              </a:rPr>
              <a:t>A clean GEO run unlocks the Moon: plan the ~120° lead, then TLI → 4-day coast → LOI.</a:t>
            </a:r>
          </a:p>
        </p:txBody>
      </p:sp>
      <p:sp>
        <p:nvSpPr>
          <p:cNvPr id="20" name="Oval 19"/>
          <p:cNvSpPr/>
          <p:nvPr/>
        </p:nvSpPr>
        <p:spPr>
          <a:xfrm>
            <a:off x="690371" y="5417820"/>
            <a:ext cx="118872" cy="118872"/>
          </a:xfrm>
          <a:prstGeom prst="ellipse">
            <a:avLst/>
          </a:prstGeom>
          <a:solidFill>
            <a:srgbClr val="FFC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5340096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 i="0">
                <a:solidFill>
                  <a:srgbClr val="CFE3FF"/>
                </a:solidFill>
                <a:latin typeface="Arial"/>
              </a:rPr>
              <a:t>Graduate: brake backwards at the Moon and hold lunar orbit.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953304" y="548640"/>
            <a:ext cx="2286000" cy="822960"/>
          </a:xfrm>
          <a:prstGeom prst="ellipse">
            <a:avLst/>
          </a:prstGeom>
          <a:noFill/>
          <a:ln w="15875">
            <a:solidFill>
              <a:srgbClr val="2A4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189012" y="909828"/>
            <a:ext cx="100584" cy="100584"/>
          </a:xfrm>
          <a:prstGeom prst="ellipse">
            <a:avLst/>
          </a:prstGeom>
          <a:solidFill>
            <a:srgbClr val="FFC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055156" y="507492"/>
            <a:ext cx="82296" cy="82296"/>
          </a:xfrm>
          <a:prstGeom prst="ellipse">
            <a:avLst/>
          </a:prstGeom>
          <a:solidFill>
            <a:srgbClr val="39D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9966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50" b="1" i="0">
                <a:solidFill>
                  <a:srgbClr val="FFCF4D"/>
                </a:solidFill>
                <a:latin typeface="Arial"/>
              </a:rPr>
              <a:t>THE ONE THING TO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743200"/>
            <a:ext cx="969264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900" b="1" i="0">
                <a:solidFill>
                  <a:srgbClr val="5FD0FF"/>
                </a:solidFill>
                <a:latin typeface="Arial"/>
              </a:rPr>
              <a:t>Plan the Δv, fly the plan — and at the Moon, brake backwards.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212080"/>
            <a:ext cx="9966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39D353"/>
                </a:solidFill>
                <a:latin typeface="Arial"/>
              </a:rPr>
              <a:t>Open Worksheet 8 and keep the simulator beside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986</Words>
  <Application>Microsoft Macintosh PowerPoint</Application>
  <PresentationFormat>Widescreen</PresentationFormat>
  <Paragraphs>73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Stubbs, Christopher William</cp:lastModifiedBy>
  <cp:revision>2</cp:revision>
  <dcterms:created xsi:type="dcterms:W3CDTF">2013-01-27T09:14:16Z</dcterms:created>
  <dcterms:modified xsi:type="dcterms:W3CDTF">2026-07-20T13:36:53Z</dcterms:modified>
  <cp:category/>
</cp:coreProperties>
</file>