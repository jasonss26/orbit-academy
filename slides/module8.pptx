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4527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8 is the capstone: students stop analyzing orbits and fly them from an Artemis-style cockpit. Two missions in strict order — a GEO servicing run, then the lunar flight it unlocks. Everything from Modules 1 through 7 gets used in 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structure is deliberate: plan first, fly second, and the Moon only unlocks after a successful GEO mission. Launch to LEO is automated so the student's job is orbital mechanics, not ascent. The delta-v logbook is the discipline — a mission that doesn't fit the tank on paper won't fit it in flight.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warm-up is the Module 4 recipe flown for real: raise apogee, coast, circularize. The second burn surprises students — you crawl into apogee at 1.6 kilometers per second and must nearly double your speed. At 3,860 of 4,000 meters per second, sloppy thruster work fails the mission; victory is holding station near the target for a full orbit, not touching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Trans-lunar injection is the duck-hunter shot from Module 5 flown with real stakes: the Moon moves roughly 120 degrees during the four-day coast, so you burn toward empty space. Aim the apogee just past the Moon's orbit — about 395,000 kilometers — because a dead-center aim is a collision course. Then you wait, watching the geometry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Lunar orbit insertion is the counter-intuitive finale: after days of speeding up and coasting, the arrival burn is a retrograde brake. The Moon's gravity is too weak to capture a spacecraft at flyby speed — shed about 900 meters per second at closest approach or slingshot past. The full mission budget is 4,200; the logbook shows whether the plan ever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views of the same mission: PLAN is where the thinking happens, FLY is where the hands shake. The BURN-NOW cue and ILS-style needles translate everything into pilot language — am I on track, am I on speed. Overburning wastes tank; underburning strands you; the logbook target is the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Insist on the order: logbook complete before anyone touches FLY mode. The GEO run certifies the basic skills; the lunar flight adds the moving target and the retrograde brake. When they hold lunar orbit, they have used every module in the course —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 compresses the course into one sentence: budgets are computed before flight, executed with discipline, and capture at the Moon means slowing down when every instinct says go. Students who finish have flown a two-body transfer and a three-body capture. That is the whole arc from Module 1's falling cannonball.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Lunar Transfers &amp; Artemis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Stop studying orbits. Plan the burns, budget the tank, and fly — first to GEO, then to the Moon.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EAF4FF"/>
                </a:solidFill>
                <a:latin typeface="Arial"/>
              </a:rPr>
              <a:t>Two cockpit missions. Everything from Modules 1–7, used in anger.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1 — GEO servicing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a two-burn transfer from LEO up to a target satellite at GEO.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Mission 2 — the Moon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unlocked by a clean GEO run: lead a moving target across 384,400 km.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The logbook decides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tally every burn's Δv before you fly — the tank does not negotiate.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1 — GEO servicing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2,400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1: raise apogee to GEO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1,460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burn 2: circularize at apogee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3,860 / 4,000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total burned vs the tank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Circularizing hurts because you arrive at apogee doing only 1.6 km/s — and GEO demands 3.1. Winning means HOLDING the target orbit a full revolution.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Mission 2 — lead the Moon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9514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802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~120°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lead angle — aim where the Moon WILL be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1850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3,090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TLI burn out of low orbit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6107" y="2148840"/>
            <a:ext cx="352044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58987" y="2148840"/>
            <a:ext cx="315468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~4 days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coast — apogee aimed just PAST the Moon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Aim for ~395,000 km — dead-center on the Moon is a collision, not a capture.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 dirty="0">
                <a:solidFill>
                  <a:srgbClr val="5FD0FF"/>
                </a:solidFill>
                <a:latin typeface="Arial"/>
              </a:rPr>
              <a:t>L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unar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O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rbit 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I</a:t>
            </a:r>
            <a:r>
              <a:rPr lang="en-US" sz="2700" b="1" i="0" dirty="0">
                <a:solidFill>
                  <a:srgbClr val="5FD0FF"/>
                </a:solidFill>
                <a:latin typeface="Arial"/>
              </a:rPr>
              <a:t>nsertion</a:t>
            </a:r>
            <a:r>
              <a:rPr sz="2700" b="1" i="0" dirty="0">
                <a:solidFill>
                  <a:srgbClr val="5FD0FF"/>
                </a:solidFill>
                <a:latin typeface="Arial"/>
              </a:rPr>
              <a:t> — brake, backwards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900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capture burn — pointed BACKWARDS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4,200 m/s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whole-mission Δv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At closest approach you are moving too fast for the Moon's gentle gravity to hold. Skip the brake and you sling right past, back into the void.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The cockpit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 dirty="0">
                <a:solidFill>
                  <a:srgbClr val="EAF4FF"/>
                </a:solidFill>
                <a:latin typeface="Arial"/>
              </a:rPr>
              <a:t>PLAN mode</a:t>
            </a:r>
            <a:r>
              <a:rPr sz="1300" b="0" i="0" dirty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a flight computer: compute each burn's </a:t>
            </a:r>
            <a:r>
              <a:rPr sz="1250" b="0" i="0" dirty="0" err="1">
                <a:solidFill>
                  <a:srgbClr val="CFE3FF"/>
                </a:solidFill>
                <a:latin typeface="Arial"/>
              </a:rPr>
              <a:t>Δv</a:t>
            </a:r>
            <a:r>
              <a:rPr sz="1250" b="0" i="0" dirty="0">
                <a:solidFill>
                  <a:srgbClr val="CFE3FF"/>
                </a:solidFill>
                <a:latin typeface="Arial"/>
              </a:rPr>
              <a:t>, log it, run the predictor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FLY mode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Earth and Moon out the window at true angular size; hold-to-thrust controls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BURN NOW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cue light — hold the right thruster to the logged Δv, no more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ILS needles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on-track and on-speed indicators, borrowed from aviation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8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PLAN: compute burn 1 and burn 2, log each Δv, and check the total against the tank.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FLY the GEO mission: hit each BURN-NOW cue and hold the target box for a full orbit.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A clean GEO run unlocks the Moon: plan the ~120° lead, then TLI → 4-day coast → LOI.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Graduate: brake backwards at the Moon and hold lunar orbit.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Plan the Δv, fly the plan — and at the Moon, brake backwards.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8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986</Words>
  <Application>Microsoft Macintosh PowerPoint</Application>
  <PresentationFormat>Widescreen</PresentationFormat>
  <Paragraphs>73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2</cp:revision>
  <dcterms:created xsi:type="dcterms:W3CDTF">2013-01-27T09:14:16Z</dcterms:created>
  <dcterms:modified xsi:type="dcterms:W3CDTF">2026-07-20T13:36:53Z</dcterms:modified>
  <cp:category/>
</cp:coreProperties>
</file>