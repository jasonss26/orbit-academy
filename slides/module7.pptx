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16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7 is the payoff of the whole course: space domain awareness as a sensing problem. Three ways to see an object — radar echo, reflected sunlight, thermal glow — each with hard physical limits. The through-line is custody: knowledge decays, so you must keep looking.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earlier assumed we know where objects are; this module asks how. Each sensing mode fails somewhere — radar with range, optical in shadow — and an operator has to know which failure applies. Maneuver detection is simply prediction versus observation, which makes timely looks precious.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Radar illuminates the target and catches the echo, so the signal fades as the fourth power of range — double the distance, one-sixteenth the return. A GEO target answers about 7.7 million times fainter than the same object at 800 kilometers, and cislunar ranges are hopeless for most systems. The compensation: radar works day or night, shadow or 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Optical telescopes see only sunlit objects against a dark sky — the driving-at-night headlights analogy carries the whole idea. In Earth's shadow a satellite disappears mid-track, and students watch exactly that in the sim. Thermal infrared recovers some of it, since warm objects emit their own glow.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sensor families are complementary: radar delivers range and range-rate with sloppy angles, optical delivers exquisite angles with no range. Parallax — the finger-in-front-of-alternating-eyes demo — recovers range from two viewpoints. Remind them the sky itself turns at 15 degrees per hour, so every angle comes stamped with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Custody is a perishable good: sensors see a tiny patch of sky, so they are pointed using predictions, and stale predictions point at nothing. Cadence follows from how fast each orbit's forecast decays — cislunar worst of all. The ladder orders the hard questions: where it is, what it is, and only then what it is up to; each rung is harder, especially for uncooperative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radar scene teaches the honest lesson that amplification amplifies noise as well — integration is the real tool. Tag-and-fit is the quiet star: students discover how few angles constrain an orbit, and why streaks carry extra information. End with the maneuver-detection exercise; it ties the whole course to the operator's actual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catalog entry is a memory that decays at a rate the orbit's own dynamics dictate. The sensing physics — range to the fourth, sunlight, shadow — decides who can look, and the chaos decides how often they must. Worksheet 7 makes them feel both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CF4D"/>
                </a:solidFill>
                <a:latin typeface="Arial"/>
              </a:rPr>
              <a:t>ORBIT ACADEMY — CISLUNAR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7E93B8"/>
                </a:solidFill>
                <a:latin typeface="Arial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5FD0FF"/>
                </a:solidFill>
                <a:latin typeface="Arial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CFE3FF"/>
                </a:solidFill>
                <a:latin typeface="Arial"/>
              </a:rPr>
              <a:t>How we know where anything is up there — and why distance is brutal.</a:t>
            </a:r>
          </a:p>
        </p:txBody>
      </p:sp>
      <p:sp>
        <p:nvSpPr>
          <p:cNvPr id="6" name="Oval 5"/>
          <p:cNvSpPr/>
          <p:nvPr/>
        </p:nvSpPr>
        <p:spPr>
          <a:xfrm>
            <a:off x="7543800" y="2697479"/>
            <a:ext cx="4206240" cy="1554480"/>
          </a:xfrm>
          <a:prstGeom prst="ellipse">
            <a:avLst/>
          </a:prstGeom>
          <a:noFill/>
          <a:ln w="15875">
            <a:solidFill>
              <a:srgbClr val="5F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58200" y="2286000"/>
            <a:ext cx="2377440" cy="2377440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0" y="2971800"/>
            <a:ext cx="1005840" cy="1005840"/>
          </a:xfrm>
          <a:prstGeom prst="ellipse">
            <a:avLst/>
          </a:prstGeom>
          <a:solidFill>
            <a:srgbClr val="0E2A4A"/>
          </a:solidFill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90604" y="3415284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596628" y="2235708"/>
            <a:ext cx="100584" cy="100584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7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Why you care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EAF4FF"/>
                </a:solidFill>
                <a:latin typeface="Arial"/>
              </a:rPr>
              <a:t>Space domain awareness is a sensing problem: the catalog is only as good as your last look.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Three ways to see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bounce radar off it, catch its reflected sunlight, or sense its own heat.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6864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Every sensor has blind spots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range, shadow, daylight, weather — know which one is lying to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3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9055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Maneuvers reveal themselves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as 'not where the prediction said' — if you looked in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7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Radar: range⁴ is merciless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63827" y="2148840"/>
            <a:ext cx="457200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6707" y="2148840"/>
            <a:ext cx="420624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1/range⁴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the two-way echo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148840"/>
            <a:ext cx="457200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8747" y="2148840"/>
            <a:ext cx="420624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7.7 million×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weaker return from GEO than from LEO at 800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LEO is easy, GEO is a strain, xGEO is out of reach for most radars. But radar brings its own light: day, night, sun, or shadow.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7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Optical: seeing by headlights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You see reflected sunlight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like bicycles at night, visible only when a truck's headlights — the Sun — catch them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Earth's shadow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the satellite simply vanishes — no sunlight, no detection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Thermal infrared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warm objects glow in their own light, even in the dark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Optical is passive and cheap at any range — but the lighting is not yours to command.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7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What each sensor actually measures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58384" cy="28346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4773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50" b="1" i="0">
                <a:solidFill>
                  <a:srgbClr val="5FD0FF"/>
                </a:solidFill>
                <a:latin typeface="Arial"/>
              </a:rPr>
              <a:t>Radar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range — directly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range-rate — directly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angles: crude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783080"/>
            <a:ext cx="5358384" cy="28346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74536" y="2057400"/>
            <a:ext cx="4773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50" b="1" i="0">
                <a:solidFill>
                  <a:srgbClr val="FFCF4D"/>
                </a:solidFill>
                <a:latin typeface="Arial"/>
              </a:rPr>
              <a:t>Optical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precise angles (RA / DEC)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no range at all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parallax across viewpoints recovers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And the whole sky wheels at 15 arcsec per second — 15°/hr — so timing is part of every measurement.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7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Custody, cadence, intent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Custody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up-to-date knowledge of an object's identity and orbit — it decays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Cadence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re-observe before the orbit goes stale; chaotic cislunar orbits go stale fast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Maneuver detection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the object is not where the prediction said — someone burned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59028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7200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The ladder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orbitology (where) → characterization (what) → intent (why)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7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What you'll do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PREDICT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call your shot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810512"/>
            <a:ext cx="411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F4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59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59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TRY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run it in the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1810512"/>
            <a:ext cx="411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F4D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79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79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OBSERVE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note what actually changed</a:t>
            </a:r>
          </a:p>
        </p:txBody>
      </p:sp>
      <p:sp>
        <p:nvSpPr>
          <p:cNvPr id="14" name="Oval 13"/>
          <p:cNvSpPr/>
          <p:nvPr/>
        </p:nvSpPr>
        <p:spPr>
          <a:xfrm>
            <a:off x="690371" y="3278124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Run the radar sim: gain lifts the noise too — only integration digs the target out.</a:t>
            </a:r>
          </a:p>
        </p:txBody>
      </p:sp>
      <p:sp>
        <p:nvSpPr>
          <p:cNvPr id="16" name="Oval 15"/>
          <p:cNvSpPr/>
          <p:nvPr/>
        </p:nvSpPr>
        <p:spPr>
          <a:xfrm>
            <a:off x="690371" y="3991356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Track a satellite into Earth's shadow and watch it vanish; recover it in thermal IR.</a:t>
            </a:r>
          </a:p>
        </p:txBody>
      </p:sp>
      <p:sp>
        <p:nvSpPr>
          <p:cNvPr id="18" name="Oval 17"/>
          <p:cNvSpPr/>
          <p:nvPr/>
        </p:nvSpPr>
        <p:spPr>
          <a:xfrm>
            <a:off x="690371" y="4704588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626864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Do the parallax demo, then tag &amp; fit: how few angle measurements pin down an orbit?</a:t>
            </a:r>
          </a:p>
        </p:txBody>
      </p:sp>
      <p:sp>
        <p:nvSpPr>
          <p:cNvPr id="20" name="Oval 19"/>
          <p:cNvSpPr/>
          <p:nvPr/>
        </p:nvSpPr>
        <p:spPr>
          <a:xfrm>
            <a:off x="690371" y="5417820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340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Detect a maneuver: compare the prediction with where the object actually shows 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53304" y="548640"/>
            <a:ext cx="2286000" cy="822960"/>
          </a:xfrm>
          <a:prstGeom prst="ellipse">
            <a:avLst/>
          </a:prstGeom>
          <a:noFill/>
          <a:ln w="15875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89012" y="909828"/>
            <a:ext cx="100584" cy="100584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55156" y="507492"/>
            <a:ext cx="82296" cy="82296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CF4D"/>
                </a:solidFill>
                <a:latin typeface="Arial"/>
              </a:rPr>
              <a:t>THE ONE THING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900" b="1" i="0">
                <a:solidFill>
                  <a:srgbClr val="5FD0FF"/>
                </a:solidFill>
                <a:latin typeface="Arial"/>
              </a:rPr>
              <a:t>You only know where it WAS. Custody means looking again — on a schedule the physics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39D353"/>
                </a:solidFill>
                <a:latin typeface="Arial"/>
              </a:rPr>
              <a:t>Open Worksheet 7 and keep the simulator beside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987</Words>
  <Application>Microsoft Macintosh PowerPoint</Application>
  <PresentationFormat>Widescreen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Stubbs, Christopher William</cp:lastModifiedBy>
  <cp:revision>1</cp:revision>
  <dcterms:created xsi:type="dcterms:W3CDTF">2013-01-27T09:14:16Z</dcterms:created>
  <dcterms:modified xsi:type="dcterms:W3CDTF">2026-07-20T13:35:41Z</dcterms:modified>
  <cp:category/>
</cp:coreProperties>
</file>