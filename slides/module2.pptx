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3797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2 shifts from 'what is an orbit' to 'what does it look like from the ground.' The two skills: thinking in angular rate rather than raw speed, and keeping straight what your reference frame is. The GEO belt gives both ideas a home.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Operator hook: telescopes and radars measure angles and angular rates, so a slow-looking distant object may be moving kilometers per second. The GEO belt is the most contested real estate off the planet. Frame confusion causes real tracking errors, which is why this module drills it early.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in the night sky appears to wheel at 15 degrees per hour — 15 arcseconds per second — because Earth turns. A ground-fixed telescope sees stars streak while a GEO bird sits still; a sidereal drive flips which one streaks. That trade is a preview of Module 7 on observability.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every geostationary satellite needs the same altitude over the equator, the belt is a single circle with roughly 360 one-degree slots — finite and contested. Retirement means boosting about 300 km higher into a graveyard orbit, since re-entry from GEO is not an option. Dead sats drift along the belt, a growing debris concern.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Geosynchronous is only a statement about the period; geostationary adds 'equatorial.' Tilt a geosynchronous orbit and its ground point swings north and south once a day, tracing a figure-8. This is the most common vocabulary slip in the field — worth drilling.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satellite, two true statements: still relative to the ground, rotating once a day relative to the stars. That is why its solar panels need their own rotating joint. The 23.5-degree tilt between equator and ecliptic closes the module and seeds the geometry used later for eclipses and seasons.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ground-telescope scene is the heart of the worksheet — let students toggle the sidereal drive themselves. Have them predict which way stars drift before they look. The figure-8 exercise cements geosynchronous-versus-geostationary better than any definition.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satellite only 'hovers' because its period matches one Earth rotation over the equator. Change the frame and the same object is doing kilometers per second. Worksheet 2 makes them hold both pictures at once.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640080" y="777240"/>
            <a:ext cx="8229600" cy="365760"/>
          </a:xfrm>
          <a:prstGeom prst="rect">
            <a:avLst/>
          </a:prstGeom>
          <a:noFill/>
        </p:spPr>
        <p:txBody>
          <a:bodyPr wrap="square" lIns="0" tIns="0" rIns="0" bIns="0">
            <a:spAutoFit/>
          </a:bodyPr>
          <a:lstStyle/>
          <a:p>
            <a:pPr algn="l"/>
            <a:r>
              <a:rPr sz="1300" b="1" i="0">
                <a:solidFill>
                  <a:srgbClr val="FFCF4D"/>
                </a:solidFill>
                <a:latin typeface="Arial"/>
              </a:rPr>
              <a:t>ORBIT ACADEMY — CISLUNAR FUNDAMENTALS</a:t>
            </a:r>
          </a:p>
        </p:txBody>
      </p:sp>
      <p:sp>
        <p:nvSpPr>
          <p:cNvPr id="3" name="TextBox 2"/>
          <p:cNvSpPr txBox="1"/>
          <p:nvPr/>
        </p:nvSpPr>
        <p:spPr>
          <a:xfrm>
            <a:off x="640080" y="1783080"/>
            <a:ext cx="3657600" cy="365760"/>
          </a:xfrm>
          <a:prstGeom prst="rect">
            <a:avLst/>
          </a:prstGeom>
          <a:noFill/>
        </p:spPr>
        <p:txBody>
          <a:bodyPr wrap="square" lIns="0" tIns="0" rIns="0" bIns="0">
            <a:spAutoFit/>
          </a:bodyPr>
          <a:lstStyle/>
          <a:p>
            <a:pPr algn="l"/>
            <a:r>
              <a:rPr sz="1500" b="1" i="0">
                <a:solidFill>
                  <a:srgbClr val="7E93B8"/>
                </a:solidFill>
                <a:latin typeface="Arial"/>
              </a:rPr>
              <a:t>MODULE 2</a:t>
            </a:r>
          </a:p>
        </p:txBody>
      </p:sp>
      <p:sp>
        <p:nvSpPr>
          <p:cNvPr id="4" name="TextBox 3"/>
          <p:cNvSpPr txBox="1"/>
          <p:nvPr/>
        </p:nvSpPr>
        <p:spPr>
          <a:xfrm>
            <a:off x="640080" y="2194560"/>
            <a:ext cx="6766560" cy="1737360"/>
          </a:xfrm>
          <a:prstGeom prst="rect">
            <a:avLst/>
          </a:prstGeom>
          <a:noFill/>
        </p:spPr>
        <p:txBody>
          <a:bodyPr wrap="square" lIns="0" tIns="0" rIns="0" bIns="0">
            <a:spAutoFit/>
          </a:bodyPr>
          <a:lstStyle/>
          <a:p>
            <a:pPr algn="l"/>
            <a:r>
              <a:rPr sz="4000" b="1" i="0">
                <a:solidFill>
                  <a:srgbClr val="5FD0FF"/>
                </a:solidFill>
                <a:latin typeface="Arial"/>
              </a:rPr>
              <a:t>Angular Rates &amp; Geosync</a:t>
            </a:r>
          </a:p>
        </p:txBody>
      </p:sp>
      <p:sp>
        <p:nvSpPr>
          <p:cNvPr id="5" name="TextBox 4"/>
          <p:cNvSpPr txBox="1"/>
          <p:nvPr/>
        </p:nvSpPr>
        <p:spPr>
          <a:xfrm>
            <a:off x="640080" y="4160520"/>
            <a:ext cx="5943600" cy="1280160"/>
          </a:xfrm>
          <a:prstGeom prst="rect">
            <a:avLst/>
          </a:prstGeom>
          <a:noFill/>
        </p:spPr>
        <p:txBody>
          <a:bodyPr wrap="square" lIns="0" tIns="0" rIns="0" bIns="0">
            <a:spAutoFit/>
          </a:bodyPr>
          <a:lstStyle/>
          <a:p>
            <a:pPr algn="l"/>
            <a:r>
              <a:rPr sz="1500" b="0" i="1">
                <a:solidFill>
                  <a:srgbClr val="CFE3FF"/>
                </a:solidFill>
                <a:latin typeface="Arial"/>
              </a:rPr>
              <a:t>How fast the sky moves, why GEO holds still — and why 360 one-degree slots are contested real estate.</a:t>
            </a:r>
          </a:p>
        </p:txBody>
      </p:sp>
      <p:sp>
        <p:nvSpPr>
          <p:cNvPr id="6" name="Oval 5"/>
          <p:cNvSpPr/>
          <p:nvPr/>
        </p:nvSpPr>
        <p:spPr>
          <a:xfrm>
            <a:off x="7543800" y="2697479"/>
            <a:ext cx="4206240" cy="1554480"/>
          </a:xfrm>
          <a:prstGeom prst="ellipse">
            <a:avLst/>
          </a:prstGeom>
          <a:noFill/>
          <a:ln w="15875">
            <a:solidFill>
              <a:srgbClr val="5FD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58200" y="2286000"/>
            <a:ext cx="2377440" cy="2377440"/>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0" y="2971800"/>
            <a:ext cx="1005840" cy="1005840"/>
          </a:xfrm>
          <a:prstGeom prst="ellipse">
            <a:avLst/>
          </a:prstGeom>
          <a:solidFill>
            <a:srgbClr val="0E2A4A"/>
          </a:solid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90604" y="341528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596628" y="2235708"/>
            <a:ext cx="100584" cy="100584"/>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2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Why you care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11064240" cy="646331"/>
          </a:xfrm>
          <a:prstGeom prst="rect">
            <a:avLst/>
          </a:prstGeom>
          <a:noFill/>
        </p:spPr>
        <p:txBody>
          <a:bodyPr wrap="square" lIns="0" tIns="0" rIns="0" bIns="0">
            <a:spAutoFit/>
          </a:bodyPr>
          <a:lstStyle/>
          <a:p>
            <a:pPr algn="l"/>
            <a:r>
              <a:rPr lang="en-US" sz="2100" b="1" dirty="0">
                <a:solidFill>
                  <a:srgbClr val="EAF4FF"/>
                </a:solidFill>
                <a:latin typeface="Arial"/>
              </a:rPr>
              <a:t>Optical</a:t>
            </a:r>
            <a:r>
              <a:rPr sz="2100" b="1" i="0" dirty="0">
                <a:solidFill>
                  <a:srgbClr val="EAF4FF"/>
                </a:solidFill>
                <a:latin typeface="Arial"/>
              </a:rPr>
              <a:t> sensors don't see speed — they see angular rate. And the best ring above Earth is finite.</a:t>
            </a:r>
          </a:p>
        </p:txBody>
      </p:sp>
      <p:sp>
        <p:nvSpPr>
          <p:cNvPr id="7" name="Rounded Rectangle 6"/>
          <p:cNvSpPr/>
          <p:nvPr/>
        </p:nvSpPr>
        <p:spPr>
          <a:xfrm>
            <a:off x="548640"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One ring</a:t>
            </a:r>
          </a:p>
          <a:p>
            <a:pPr algn="l"/>
            <a:r>
              <a:rPr sz="1250" b="0" i="0">
                <a:solidFill>
                  <a:srgbClr val="CFE3FF"/>
                </a:solidFill>
                <a:latin typeface="Arial"/>
              </a:rPr>
              <a:t>Every geostationary satellite shares a single circle 35,786 km over the equator.</a:t>
            </a:r>
          </a:p>
        </p:txBody>
      </p:sp>
      <p:sp>
        <p:nvSpPr>
          <p:cNvPr id="9" name="Rounded Rectangle 8"/>
          <p:cNvSpPr/>
          <p:nvPr/>
        </p:nvSpPr>
        <p:spPr>
          <a:xfrm>
            <a:off x="4370831"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6864"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Prized real estate</a:t>
            </a:r>
          </a:p>
          <a:p>
            <a:pPr algn="l"/>
            <a:r>
              <a:rPr sz="1250" b="0" i="0">
                <a:solidFill>
                  <a:srgbClr val="CFE3FF"/>
                </a:solidFill>
                <a:latin typeface="Arial"/>
              </a:rPr>
              <a:t>TV, weather, missile warning, relay — the belt is the backbone, and slots are negotiated.</a:t>
            </a:r>
          </a:p>
        </p:txBody>
      </p:sp>
      <p:sp>
        <p:nvSpPr>
          <p:cNvPr id="11" name="Rounded Rectangle 10"/>
          <p:cNvSpPr/>
          <p:nvPr/>
        </p:nvSpPr>
        <p:spPr>
          <a:xfrm>
            <a:off x="8193023"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49055"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Frames matter</a:t>
            </a:r>
          </a:p>
          <a:p>
            <a:pPr algn="l"/>
            <a:r>
              <a:rPr sz="1250" b="0" i="0">
                <a:solidFill>
                  <a:srgbClr val="CFE3FF"/>
                </a:solidFill>
                <a:latin typeface="Arial"/>
              </a:rPr>
              <a:t>'Holding still' or 'turning once a day' depends entirely on what you compare against.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2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sky wheels at 15 degrees per hour</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802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15°/hr</a:t>
            </a:r>
          </a:p>
          <a:p>
            <a:pPr algn="ctr"/>
            <a:r>
              <a:rPr sz="1250" b="0" i="0">
                <a:solidFill>
                  <a:srgbClr val="CFE3FF"/>
                </a:solidFill>
                <a:latin typeface="Arial"/>
              </a:rPr>
              <a:t>the sky's rotation — Earth's spin reflected</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1850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15 arcsec/s</a:t>
            </a:r>
          </a:p>
          <a:p>
            <a:pPr algn="ctr"/>
            <a:r>
              <a:rPr sz="1250" b="0" i="0">
                <a:solidFill>
                  <a:srgbClr val="CFE3FF"/>
                </a:solidFill>
                <a:latin typeface="Arial"/>
              </a:rPr>
              <a:t>the same rate, in sensor units</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5898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86,164 s</a:t>
            </a:r>
          </a:p>
          <a:p>
            <a:pPr algn="ctr"/>
            <a:r>
              <a:rPr sz="1250" b="0" i="0">
                <a:solidFill>
                  <a:srgbClr val="CFE3FF"/>
                </a:solidFill>
                <a:latin typeface="Arial"/>
              </a:rPr>
              <a:t>one full turn — the sidereal day</a:t>
            </a:r>
          </a:p>
        </p:txBody>
      </p:sp>
      <p:sp>
        <p:nvSpPr>
          <p:cNvPr id="12" name="TextBox 11"/>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Fixed telescope: stars streak, a GEO satellite holds still. Sidereal drive: stars freeze, the satellite streaks. You can never freeze both.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2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belt: 360 parking spaces</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802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35,786 km</a:t>
            </a:r>
          </a:p>
          <a:p>
            <a:pPr algn="ctr"/>
            <a:r>
              <a:rPr sz="1250" b="0" i="0">
                <a:solidFill>
                  <a:srgbClr val="CFE3FF"/>
                </a:solidFill>
                <a:latin typeface="Arial"/>
              </a:rPr>
              <a:t>one altitude, one ring, over the equator</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1850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360 slots</a:t>
            </a:r>
          </a:p>
          <a:p>
            <a:pPr algn="ctr"/>
            <a:r>
              <a:rPr sz="1250" b="0" i="0">
                <a:solidFill>
                  <a:srgbClr val="CFE3FF"/>
                </a:solidFill>
                <a:latin typeface="Arial"/>
              </a:rPr>
              <a:t>one-degree spaces (~2° real spacing)</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5898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+300 km</a:t>
            </a:r>
          </a:p>
          <a:p>
            <a:pPr algn="ctr"/>
            <a:r>
              <a:rPr sz="1250" b="0" i="0">
                <a:solidFill>
                  <a:srgbClr val="CFE3FF"/>
                </a:solidFill>
                <a:latin typeface="Arial"/>
              </a:rPr>
              <a:t>the graveyard boost for retired satellites</a:t>
            </a:r>
          </a:p>
        </p:txBody>
      </p:sp>
      <p:sp>
        <p:nvSpPr>
          <p:cNvPr id="12" name="TextBox 11"/>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GEO is far too high to re-enter. Dead satellites can't hold a longitude — they drift. Live ones are boosted up to the graveyard to free the slot.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2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Geosynchronous vs geostationary</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783080"/>
            <a:ext cx="5358384" cy="28346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057400"/>
            <a:ext cx="4773168" cy="2286000"/>
          </a:xfrm>
          <a:prstGeom prst="rect">
            <a:avLst/>
          </a:prstGeom>
          <a:noFill/>
        </p:spPr>
        <p:txBody>
          <a:bodyPr wrap="square" lIns="0" tIns="0" rIns="0" bIns="0">
            <a:spAutoFit/>
          </a:bodyPr>
          <a:lstStyle/>
          <a:p>
            <a:pPr algn="l">
              <a:spcAft>
                <a:spcPts val="1200"/>
              </a:spcAft>
            </a:pPr>
            <a:r>
              <a:rPr sz="1650" b="1" i="0">
                <a:solidFill>
                  <a:srgbClr val="5FD0FF"/>
                </a:solidFill>
                <a:latin typeface="Arial"/>
              </a:rPr>
              <a:t>Geosynchronous</a:t>
            </a:r>
          </a:p>
          <a:p>
            <a:pPr algn="l">
              <a:spcAft>
                <a:spcPts val="900"/>
              </a:spcAft>
            </a:pPr>
            <a:r>
              <a:rPr sz="1300" b="0" i="0">
                <a:solidFill>
                  <a:srgbClr val="CFE3FF"/>
                </a:solidFill>
                <a:latin typeface="Arial"/>
              </a:rPr>
              <a:t>period = one sidereal day</a:t>
            </a:r>
          </a:p>
          <a:p>
            <a:pPr algn="l">
              <a:spcAft>
                <a:spcPts val="900"/>
              </a:spcAft>
            </a:pPr>
            <a:r>
              <a:rPr sz="1300" b="0" i="0">
                <a:solidFill>
                  <a:srgbClr val="CFE3FF"/>
                </a:solidFill>
                <a:latin typeface="Arial"/>
              </a:rPr>
              <a:t>any inclination allowed</a:t>
            </a:r>
          </a:p>
          <a:p>
            <a:pPr algn="l">
              <a:spcAft>
                <a:spcPts val="900"/>
              </a:spcAft>
            </a:pPr>
            <a:r>
              <a:rPr sz="1300" b="0" i="0">
                <a:solidFill>
                  <a:srgbClr val="CFE3FF"/>
                </a:solidFill>
                <a:latin typeface="Arial"/>
              </a:rPr>
              <a:t>tilted ⇒ its ground point traces a daily figure-8</a:t>
            </a:r>
          </a:p>
        </p:txBody>
      </p:sp>
      <p:sp>
        <p:nvSpPr>
          <p:cNvPr id="8" name="Rounded Rectangle 7"/>
          <p:cNvSpPr/>
          <p:nvPr/>
        </p:nvSpPr>
        <p:spPr>
          <a:xfrm>
            <a:off x="6281928" y="1783080"/>
            <a:ext cx="5358384" cy="28346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74536" y="2057400"/>
            <a:ext cx="4773168" cy="2286000"/>
          </a:xfrm>
          <a:prstGeom prst="rect">
            <a:avLst/>
          </a:prstGeom>
          <a:noFill/>
        </p:spPr>
        <p:txBody>
          <a:bodyPr wrap="square" lIns="0" tIns="0" rIns="0" bIns="0">
            <a:spAutoFit/>
          </a:bodyPr>
          <a:lstStyle/>
          <a:p>
            <a:pPr algn="l">
              <a:spcAft>
                <a:spcPts val="1200"/>
              </a:spcAft>
            </a:pPr>
            <a:r>
              <a:rPr sz="1650" b="1" i="0">
                <a:solidFill>
                  <a:srgbClr val="FFCF4D"/>
                </a:solidFill>
                <a:latin typeface="Arial"/>
              </a:rPr>
              <a:t>Geostationary</a:t>
            </a:r>
          </a:p>
          <a:p>
            <a:pPr algn="l">
              <a:spcAft>
                <a:spcPts val="900"/>
              </a:spcAft>
            </a:pPr>
            <a:r>
              <a:rPr sz="1300" b="0" i="0">
                <a:solidFill>
                  <a:srgbClr val="CFE3FF"/>
                </a:solidFill>
                <a:latin typeface="Arial"/>
              </a:rPr>
              <a:t>same one-day period</a:t>
            </a:r>
          </a:p>
          <a:p>
            <a:pPr algn="l">
              <a:spcAft>
                <a:spcPts val="900"/>
              </a:spcAft>
            </a:pPr>
            <a:r>
              <a:rPr sz="1300" b="0" i="0">
                <a:solidFill>
                  <a:srgbClr val="CFE3FF"/>
                </a:solidFill>
                <a:latin typeface="Arial"/>
              </a:rPr>
              <a:t>AND over the equator (0° tilt)</a:t>
            </a:r>
          </a:p>
          <a:p>
            <a:pPr algn="l">
              <a:spcAft>
                <a:spcPts val="900"/>
              </a:spcAft>
            </a:pPr>
            <a:r>
              <a:rPr sz="1300" b="0" i="0">
                <a:solidFill>
                  <a:srgbClr val="CFE3FF"/>
                </a:solidFill>
                <a:latin typeface="Arial"/>
              </a:rPr>
              <a:t>hangs over one fixed spot</a:t>
            </a:r>
          </a:p>
        </p:txBody>
      </p:sp>
      <p:sp>
        <p:nvSpPr>
          <p:cNvPr id="10" name="TextBox 9"/>
          <p:cNvSpPr txBox="1"/>
          <p:nvPr/>
        </p:nvSpPr>
        <p:spPr>
          <a:xfrm>
            <a:off x="548640" y="4983480"/>
            <a:ext cx="11064240" cy="822960"/>
          </a:xfrm>
          <a:prstGeom prst="rect">
            <a:avLst/>
          </a:prstGeom>
          <a:noFill/>
        </p:spPr>
        <p:txBody>
          <a:bodyPr wrap="square" lIns="0" tIns="0" rIns="0" bIns="0">
            <a:spAutoFit/>
          </a:bodyPr>
          <a:lstStyle/>
          <a:p>
            <a:pPr algn="l"/>
            <a:r>
              <a:rPr sz="1350" b="0" i="1">
                <a:solidFill>
                  <a:srgbClr val="CFE3FF"/>
                </a:solidFill>
                <a:latin typeface="Arial"/>
              </a:rPr>
              <a:t>Tilt is the whole difference — students will inject both and watch the figure-8 appear.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2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Motion always needs a reference frame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70992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1</a:t>
            </a:r>
          </a:p>
        </p:txBody>
      </p:sp>
      <p:sp>
        <p:nvSpPr>
          <p:cNvPr id="7" name="TextBox 6"/>
          <p:cNvSpPr txBox="1"/>
          <p:nvPr/>
        </p:nvSpPr>
        <p:spPr>
          <a:xfrm>
            <a:off x="1234440" y="1691640"/>
            <a:ext cx="10332720" cy="960120"/>
          </a:xfrm>
          <a:prstGeom prst="rect">
            <a:avLst/>
          </a:prstGeom>
          <a:noFill/>
        </p:spPr>
        <p:txBody>
          <a:bodyPr wrap="square" lIns="0" tIns="0" rIns="0" bIns="0">
            <a:spAutoFit/>
          </a:bodyPr>
          <a:lstStyle/>
          <a:p>
            <a:pPr algn="l"/>
            <a:r>
              <a:rPr sz="1400" b="1" i="0">
                <a:solidFill>
                  <a:srgbClr val="EAF4FF"/>
                </a:solidFill>
                <a:latin typeface="Arial"/>
              </a:rPr>
              <a:t>Versus the ground</a:t>
            </a:r>
            <a:r>
              <a:rPr sz="1300" b="0" i="0">
                <a:solidFill>
                  <a:srgbClr val="7E93B8"/>
                </a:solidFill>
                <a:latin typeface="Arial"/>
              </a:rPr>
              <a:t>  —  </a:t>
            </a:r>
            <a:r>
              <a:rPr sz="1250" b="0" i="0">
                <a:solidFill>
                  <a:srgbClr val="CFE3FF"/>
                </a:solidFill>
                <a:latin typeface="Arial"/>
              </a:rPr>
              <a:t>a geostationary satellite is motionless — dishes point once, forever</a:t>
            </a:r>
          </a:p>
        </p:txBody>
      </p:sp>
      <p:sp>
        <p:nvSpPr>
          <p:cNvPr id="8" name="Oval 7"/>
          <p:cNvSpPr/>
          <p:nvPr/>
        </p:nvSpPr>
        <p:spPr>
          <a:xfrm>
            <a:off x="640080" y="267004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2</a:t>
            </a:r>
          </a:p>
        </p:txBody>
      </p:sp>
      <p:sp>
        <p:nvSpPr>
          <p:cNvPr id="9" name="TextBox 8"/>
          <p:cNvSpPr txBox="1"/>
          <p:nvPr/>
        </p:nvSpPr>
        <p:spPr>
          <a:xfrm>
            <a:off x="1234440" y="2651760"/>
            <a:ext cx="10332720" cy="960120"/>
          </a:xfrm>
          <a:prstGeom prst="rect">
            <a:avLst/>
          </a:prstGeom>
          <a:noFill/>
        </p:spPr>
        <p:txBody>
          <a:bodyPr wrap="square" lIns="0" tIns="0" rIns="0" bIns="0">
            <a:spAutoFit/>
          </a:bodyPr>
          <a:lstStyle/>
          <a:p>
            <a:pPr algn="l"/>
            <a:r>
              <a:rPr sz="1400" b="1" i="0">
                <a:solidFill>
                  <a:srgbClr val="EAF4FF"/>
                </a:solidFill>
                <a:latin typeface="Arial"/>
              </a:rPr>
              <a:t>Versus the stars</a:t>
            </a:r>
            <a:r>
              <a:rPr sz="1300" b="0" i="0">
                <a:solidFill>
                  <a:srgbClr val="7E93B8"/>
                </a:solidFill>
                <a:latin typeface="Arial"/>
              </a:rPr>
              <a:t>  —  </a:t>
            </a:r>
            <a:r>
              <a:rPr sz="1250" b="0" i="0">
                <a:solidFill>
                  <a:srgbClr val="CFE3FF"/>
                </a:solidFill>
                <a:latin typeface="Arial"/>
              </a:rPr>
              <a:t>the same satellite turns once per day to keep its antenna on Earth</a:t>
            </a:r>
          </a:p>
        </p:txBody>
      </p:sp>
      <p:sp>
        <p:nvSpPr>
          <p:cNvPr id="10" name="Oval 9"/>
          <p:cNvSpPr/>
          <p:nvPr/>
        </p:nvSpPr>
        <p:spPr>
          <a:xfrm>
            <a:off x="640080" y="363016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3</a:t>
            </a:r>
          </a:p>
        </p:txBody>
      </p:sp>
      <p:sp>
        <p:nvSpPr>
          <p:cNvPr id="11" name="TextBox 10"/>
          <p:cNvSpPr txBox="1"/>
          <p:nvPr/>
        </p:nvSpPr>
        <p:spPr>
          <a:xfrm>
            <a:off x="1234440" y="3611880"/>
            <a:ext cx="10332720" cy="960120"/>
          </a:xfrm>
          <a:prstGeom prst="rect">
            <a:avLst/>
          </a:prstGeom>
          <a:noFill/>
        </p:spPr>
        <p:txBody>
          <a:bodyPr wrap="square" lIns="0" tIns="0" rIns="0" bIns="0">
            <a:spAutoFit/>
          </a:bodyPr>
          <a:lstStyle/>
          <a:p>
            <a:pPr algn="l"/>
            <a:r>
              <a:rPr sz="1400" b="1" i="0">
                <a:solidFill>
                  <a:srgbClr val="EAF4FF"/>
                </a:solidFill>
                <a:latin typeface="Arial"/>
              </a:rPr>
              <a:t>Its solar panels</a:t>
            </a:r>
            <a:r>
              <a:rPr sz="1300" b="0" i="0">
                <a:solidFill>
                  <a:srgbClr val="7E93B8"/>
                </a:solidFill>
                <a:latin typeface="Arial"/>
              </a:rPr>
              <a:t>  —  </a:t>
            </a:r>
            <a:r>
              <a:rPr sz="1250" b="0" i="0">
                <a:solidFill>
                  <a:srgbClr val="CFE3FF"/>
                </a:solidFill>
                <a:latin typeface="Arial"/>
              </a:rPr>
              <a:t>must counter-rotate on their own joint to stay locked on the Sun</a:t>
            </a:r>
          </a:p>
        </p:txBody>
      </p:sp>
      <p:sp>
        <p:nvSpPr>
          <p:cNvPr id="12" name="Oval 11"/>
          <p:cNvSpPr/>
          <p:nvPr/>
        </p:nvSpPr>
        <p:spPr>
          <a:xfrm>
            <a:off x="640080" y="459028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4</a:t>
            </a:r>
          </a:p>
        </p:txBody>
      </p:sp>
      <p:sp>
        <p:nvSpPr>
          <p:cNvPr id="13" name="TextBox 12"/>
          <p:cNvSpPr txBox="1"/>
          <p:nvPr/>
        </p:nvSpPr>
        <p:spPr>
          <a:xfrm>
            <a:off x="1234440" y="4572000"/>
            <a:ext cx="10332720" cy="960120"/>
          </a:xfrm>
          <a:prstGeom prst="rect">
            <a:avLst/>
          </a:prstGeom>
          <a:noFill/>
        </p:spPr>
        <p:txBody>
          <a:bodyPr wrap="square" lIns="0" tIns="0" rIns="0" bIns="0">
            <a:spAutoFit/>
          </a:bodyPr>
          <a:lstStyle/>
          <a:p>
            <a:pPr algn="l"/>
            <a:r>
              <a:rPr sz="1400" b="1" i="0">
                <a:solidFill>
                  <a:srgbClr val="EAF4FF"/>
                </a:solidFill>
                <a:latin typeface="Arial"/>
              </a:rPr>
              <a:t>The belt is tilted</a:t>
            </a:r>
            <a:r>
              <a:rPr sz="1300" b="0" i="0">
                <a:solidFill>
                  <a:srgbClr val="7E93B8"/>
                </a:solidFill>
                <a:latin typeface="Arial"/>
              </a:rPr>
              <a:t>  —  </a:t>
            </a:r>
            <a:r>
              <a:rPr sz="1250" b="0" i="0">
                <a:solidFill>
                  <a:srgbClr val="CFE3FF"/>
                </a:solidFill>
                <a:latin typeface="Arial"/>
              </a:rPr>
              <a:t>the equator sits 23.5° from the ecliptic — the tilt that gives us seasons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2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What you'll do</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PREDICT</a:t>
            </a:r>
          </a:p>
          <a:p>
            <a:pPr algn="l"/>
            <a:r>
              <a:rPr sz="1050" b="0" i="0">
                <a:solidFill>
                  <a:srgbClr val="7E93B8"/>
                </a:solidFill>
                <a:latin typeface="Arial"/>
              </a:rPr>
              <a:t>call your shot first</a:t>
            </a:r>
          </a:p>
        </p:txBody>
      </p:sp>
      <p:sp>
        <p:nvSpPr>
          <p:cNvPr id="8" name="TextBox 7"/>
          <p:cNvSpPr txBox="1"/>
          <p:nvPr/>
        </p:nvSpPr>
        <p:spPr>
          <a:xfrm>
            <a:off x="340156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9" name="Rounded Rectangle 8"/>
          <p:cNvSpPr/>
          <p:nvPr/>
        </p:nvSpPr>
        <p:spPr>
          <a:xfrm>
            <a:off x="379475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2335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TRY</a:t>
            </a:r>
          </a:p>
          <a:p>
            <a:pPr algn="l"/>
            <a:r>
              <a:rPr sz="1050" b="0" i="0">
                <a:solidFill>
                  <a:srgbClr val="7E93B8"/>
                </a:solidFill>
                <a:latin typeface="Arial"/>
              </a:rPr>
              <a:t>run it in the simulator</a:t>
            </a:r>
          </a:p>
        </p:txBody>
      </p:sp>
      <p:sp>
        <p:nvSpPr>
          <p:cNvPr id="11" name="TextBox 10"/>
          <p:cNvSpPr txBox="1"/>
          <p:nvPr/>
        </p:nvSpPr>
        <p:spPr>
          <a:xfrm>
            <a:off x="664768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12" name="Rounded Rectangle 11"/>
          <p:cNvSpPr/>
          <p:nvPr/>
        </p:nvSpPr>
        <p:spPr>
          <a:xfrm>
            <a:off x="704087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6947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OBSERVE</a:t>
            </a:r>
          </a:p>
          <a:p>
            <a:pPr algn="l"/>
            <a:r>
              <a:rPr sz="1050" b="0" i="0">
                <a:solidFill>
                  <a:srgbClr val="7E93B8"/>
                </a:solidFill>
                <a:latin typeface="Arial"/>
              </a:rPr>
              <a:t>note what actually changed</a:t>
            </a:r>
          </a:p>
        </p:txBody>
      </p:sp>
      <p:sp>
        <p:nvSpPr>
          <p:cNvPr id="14" name="Oval 13"/>
          <p:cNvSpPr/>
          <p:nvPr/>
        </p:nvSpPr>
        <p:spPr>
          <a:xfrm>
            <a:off x="690371" y="327812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200400"/>
            <a:ext cx="10607040" cy="685800"/>
          </a:xfrm>
          <a:prstGeom prst="rect">
            <a:avLst/>
          </a:prstGeom>
          <a:noFill/>
        </p:spPr>
        <p:txBody>
          <a:bodyPr wrap="square" lIns="0" tIns="0" rIns="0" bIns="0">
            <a:spAutoFit/>
          </a:bodyPr>
          <a:lstStyle/>
          <a:p>
            <a:pPr algn="l"/>
            <a:r>
              <a:rPr sz="1350" b="0" i="0">
                <a:solidFill>
                  <a:srgbClr val="CFE3FF"/>
                </a:solidFill>
                <a:latin typeface="Arial"/>
              </a:rPr>
              <a:t>Inject a geostationary satellite and watch it hover over one longitude.</a:t>
            </a:r>
          </a:p>
        </p:txBody>
      </p:sp>
      <p:sp>
        <p:nvSpPr>
          <p:cNvPr id="16" name="Oval 15"/>
          <p:cNvSpPr/>
          <p:nvPr/>
        </p:nvSpPr>
        <p:spPr>
          <a:xfrm>
            <a:off x="690371" y="3991356"/>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913632"/>
            <a:ext cx="10607040" cy="685800"/>
          </a:xfrm>
          <a:prstGeom prst="rect">
            <a:avLst/>
          </a:prstGeom>
          <a:noFill/>
        </p:spPr>
        <p:txBody>
          <a:bodyPr wrap="square" lIns="0" tIns="0" rIns="0" bIns="0">
            <a:spAutoFit/>
          </a:bodyPr>
          <a:lstStyle/>
          <a:p>
            <a:pPr algn="l"/>
            <a:r>
              <a:rPr sz="1350" b="0" i="0">
                <a:solidFill>
                  <a:srgbClr val="CFE3FF"/>
                </a:solidFill>
                <a:latin typeface="Arial"/>
              </a:rPr>
              <a:t>Tilt it into an inclined geosync orbit and watch the daily figure-8 appear.</a:t>
            </a:r>
          </a:p>
        </p:txBody>
      </p:sp>
      <p:sp>
        <p:nvSpPr>
          <p:cNvPr id="18" name="Oval 17"/>
          <p:cNvSpPr/>
          <p:nvPr/>
        </p:nvSpPr>
        <p:spPr>
          <a:xfrm>
            <a:off x="690371" y="4704588"/>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4626864"/>
            <a:ext cx="10607040" cy="685800"/>
          </a:xfrm>
          <a:prstGeom prst="rect">
            <a:avLst/>
          </a:prstGeom>
          <a:noFill/>
        </p:spPr>
        <p:txBody>
          <a:bodyPr wrap="square" lIns="0" tIns="0" rIns="0" bIns="0">
            <a:spAutoFit/>
          </a:bodyPr>
          <a:lstStyle/>
          <a:p>
            <a:pPr algn="l"/>
            <a:r>
              <a:rPr sz="1350" b="0" i="0">
                <a:solidFill>
                  <a:srgbClr val="CFE3FF"/>
                </a:solidFill>
                <a:latin typeface="Arial"/>
              </a:rPr>
              <a:t>Use the ground-telescope view: freeze the stars, then freeze the satellite — never both.</a:t>
            </a:r>
          </a:p>
        </p:txBody>
      </p:sp>
      <p:sp>
        <p:nvSpPr>
          <p:cNvPr id="20" name="Oval 19"/>
          <p:cNvSpPr/>
          <p:nvPr/>
        </p:nvSpPr>
        <p:spPr>
          <a:xfrm>
            <a:off x="690371" y="5417820"/>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340096"/>
            <a:ext cx="10607040" cy="685800"/>
          </a:xfrm>
          <a:prstGeom prst="rect">
            <a:avLst/>
          </a:prstGeom>
          <a:noFill/>
        </p:spPr>
        <p:txBody>
          <a:bodyPr wrap="square" lIns="0" tIns="0" rIns="0" bIns="0">
            <a:spAutoFit/>
          </a:bodyPr>
          <a:lstStyle/>
          <a:p>
            <a:pPr algn="l"/>
            <a:r>
              <a:rPr sz="1350" b="0" i="0">
                <a:solidFill>
                  <a:srgbClr val="CFE3FF"/>
                </a:solidFill>
                <a:latin typeface="Arial"/>
              </a:rPr>
              <a:t>Ride along with a GEO bird: watch its panels turn, and visit the graveyard orbit.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Oval 1"/>
          <p:cNvSpPr/>
          <p:nvPr/>
        </p:nvSpPr>
        <p:spPr>
          <a:xfrm>
            <a:off x="4953304" y="548640"/>
            <a:ext cx="2286000" cy="822960"/>
          </a:xfrm>
          <a:prstGeom prst="ellipse">
            <a:avLst/>
          </a:prstGeom>
          <a:noFill/>
          <a:ln w="15875">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189012" y="909828"/>
            <a:ext cx="100584" cy="100584"/>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055156" y="507492"/>
            <a:ext cx="82296" cy="82296"/>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37360"/>
            <a:ext cx="9966960" cy="365760"/>
          </a:xfrm>
          <a:prstGeom prst="rect">
            <a:avLst/>
          </a:prstGeom>
          <a:noFill/>
        </p:spPr>
        <p:txBody>
          <a:bodyPr wrap="square" lIns="0" tIns="0" rIns="0" bIns="0">
            <a:spAutoFit/>
          </a:bodyPr>
          <a:lstStyle/>
          <a:p>
            <a:pPr algn="ctr"/>
            <a:r>
              <a:rPr sz="1250" b="1" i="0">
                <a:solidFill>
                  <a:srgbClr val="FFCF4D"/>
                </a:solidFill>
                <a:latin typeface="Arial"/>
              </a:rPr>
              <a:t>THE ONE THING TO REMEMBER</a:t>
            </a:r>
          </a:p>
        </p:txBody>
      </p:sp>
      <p:sp>
        <p:nvSpPr>
          <p:cNvPr id="6" name="TextBox 5"/>
          <p:cNvSpPr txBox="1"/>
          <p:nvPr/>
        </p:nvSpPr>
        <p:spPr>
          <a:xfrm>
            <a:off x="1234440" y="2743200"/>
            <a:ext cx="9692640" cy="2011680"/>
          </a:xfrm>
          <a:prstGeom prst="rect">
            <a:avLst/>
          </a:prstGeom>
          <a:noFill/>
        </p:spPr>
        <p:txBody>
          <a:bodyPr wrap="square" lIns="0" tIns="0" rIns="0" bIns="0">
            <a:spAutoFit/>
          </a:bodyPr>
          <a:lstStyle/>
          <a:p>
            <a:pPr algn="ctr"/>
            <a:r>
              <a:rPr sz="2900" b="1" i="0">
                <a:solidFill>
                  <a:srgbClr val="5FD0FF"/>
                </a:solidFill>
                <a:latin typeface="Arial"/>
              </a:rPr>
              <a:t>Geostationary isn't parked — it's a 3.1 km/s orbit exactly in step with Earth's spin.</a:t>
            </a:r>
          </a:p>
        </p:txBody>
      </p:sp>
      <p:sp>
        <p:nvSpPr>
          <p:cNvPr id="7" name="TextBox 6"/>
          <p:cNvSpPr txBox="1"/>
          <p:nvPr/>
        </p:nvSpPr>
        <p:spPr>
          <a:xfrm>
            <a:off x="1097280" y="5212080"/>
            <a:ext cx="9966960" cy="457200"/>
          </a:xfrm>
          <a:prstGeom prst="rect">
            <a:avLst/>
          </a:prstGeom>
          <a:noFill/>
        </p:spPr>
        <p:txBody>
          <a:bodyPr wrap="square" lIns="0" tIns="0" rIns="0" bIns="0">
            <a:spAutoFit/>
          </a:bodyPr>
          <a:lstStyle/>
          <a:p>
            <a:pPr algn="ctr"/>
            <a:r>
              <a:rPr sz="1500" b="1" i="0">
                <a:solidFill>
                  <a:srgbClr val="39D353"/>
                </a:solidFill>
                <a:latin typeface="Arial"/>
              </a:rPr>
              <a:t>Open Worksheet 2 and keep the simulator beside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922</Words>
  <Application>Microsoft Macintosh PowerPoint</Application>
  <PresentationFormat>Widescreen</PresentationFormat>
  <Paragraphs>77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Stubbs, Christopher William</cp:lastModifiedBy>
  <cp:revision>2</cp:revision>
  <dcterms:created xsi:type="dcterms:W3CDTF">2013-01-27T09:14:16Z</dcterms:created>
  <dcterms:modified xsi:type="dcterms:W3CDTF">2026-07-20T13:18:43Z</dcterms:modified>
  <cp:category/>
</cp:coreProperties>
</file>