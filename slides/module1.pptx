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4" r:id="rId16"/>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Module 1, the foundation of the whole course. The single idea to land today: an orbit is falling sideways fast enough to keep missing the ground. Kill the misconception that there is no gravity in space — gravity at ISS altitude is nearly as strong as at your feet. Everything else in the course builds on this picture.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as the entry ticket to space domain awareness: if you know an object's speed and position, physics tells you everywhere it can be. Ask the room why astronauts float — most will say no gravity, which is wrong; they are falling together with their ship. The simulator will do the convincing in a few minutes.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People picture the ISS halfway to the Moon; it is about 260 miles up, a DC-to-NYC hop. On a to-scale globe its ring practically touches the surface. This scale reset matters because altitude turns out to control almost everything about an orbit.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speed ladder students will climb themselves at a 600 km release point. Emphasize there is exactly one circular speed per altitude; everything slower or faster is an ellipse until you cross escape. The 'fan' exercise fires seven speeds from one point and makes the family visible at a glance.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Counter-intuitive but central: higher orbits move slower — LEO races at 7.6 km/s while GEO ambles at 3.1. On one ellipse the same rule shows up as racing through perigee and crawling at apogee. Put LEO and GEO on screen together in the sim and the difference is impossible to miss.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exactly 35,786 km the orbital period equals one Earth rotation — 86,164 seconds, the sidereal day — so the satellite stays locked over one ground point. Distinguish geosynchronous (the period) from geostationary (period plus equatorial). Note the satellite is not parked: it is doing 3.1 km/s, precisely in step with the ground.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worksheet is predict-try-observe throughout: students call their shot before every injection. Let them get fluent with the camera first — nothing they press can break the sim. The fan exercise is the payoff; make sure nobody skips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they retain one sentence, this is it — every later module leans on it. Slower falls short, faster stretches out, much faster never comes back. Send them to Worksheet 1 with the simulator open beside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50A14"/>
        </a:solidFill>
        <a:effectLst/>
      </p:bgPr>
    </p:bg>
    <p:spTree>
      <p:nvGrpSpPr>
        <p:cNvPr id="1" name=""/>
        <p:cNvGrpSpPr/>
        <p:nvPr/>
      </p:nvGrpSpPr>
      <p:grpSpPr/>
      <p:sp>
        <p:nvSpPr>
          <p:cNvPr id="2" name="TextBox 1"/>
          <p:cNvSpPr txBox="1"/>
          <p:nvPr/>
        </p:nvSpPr>
        <p:spPr>
          <a:xfrm>
            <a:off x="640080" y="777240"/>
            <a:ext cx="8229600" cy="365760"/>
          </a:xfrm>
          <a:prstGeom prst="rect">
            <a:avLst/>
          </a:prstGeom>
          <a:noFill/>
        </p:spPr>
        <p:txBody>
          <a:bodyPr wrap="square" lIns="0" rIns="0" tIns="0" bIns="0">
            <a:spAutoFit/>
          </a:bodyPr>
          <a:lstStyle/>
          <a:p>
            <a:pPr algn="l"/>
            <a:r>
              <a:rPr sz="1300" b="1" i="0">
                <a:solidFill>
                  <a:srgbClr val="FFCF4D"/>
                </a:solidFill>
                <a:latin typeface="Arial"/>
              </a:rPr>
              <a:t>ORBIT ACADEMY — CISLUNAR FUNDAMENTALS</a:t>
            </a:r>
          </a:p>
        </p:txBody>
      </p:sp>
      <p:sp>
        <p:nvSpPr>
          <p:cNvPr id="3" name="TextBox 2"/>
          <p:cNvSpPr txBox="1"/>
          <p:nvPr/>
        </p:nvSpPr>
        <p:spPr>
          <a:xfrm>
            <a:off x="640080" y="1783080"/>
            <a:ext cx="3657600" cy="365760"/>
          </a:xfrm>
          <a:prstGeom prst="rect">
            <a:avLst/>
          </a:prstGeom>
          <a:noFill/>
        </p:spPr>
        <p:txBody>
          <a:bodyPr wrap="square" lIns="0" rIns="0" tIns="0" bIns="0">
            <a:spAutoFit/>
          </a:bodyPr>
          <a:lstStyle/>
          <a:p>
            <a:pPr algn="l"/>
            <a:r>
              <a:rPr sz="1500" b="1" i="0">
                <a:solidFill>
                  <a:srgbClr val="7E93B8"/>
                </a:solidFill>
                <a:latin typeface="Arial"/>
              </a:rPr>
              <a:t>MODULE 1</a:t>
            </a:r>
          </a:p>
        </p:txBody>
      </p:sp>
      <p:sp>
        <p:nvSpPr>
          <p:cNvPr id="4" name="TextBox 3"/>
          <p:cNvSpPr txBox="1"/>
          <p:nvPr/>
        </p:nvSpPr>
        <p:spPr>
          <a:xfrm>
            <a:off x="640080" y="2194560"/>
            <a:ext cx="6766560" cy="1737360"/>
          </a:xfrm>
          <a:prstGeom prst="rect">
            <a:avLst/>
          </a:prstGeom>
          <a:noFill/>
        </p:spPr>
        <p:txBody>
          <a:bodyPr wrap="square" lIns="0" rIns="0" tIns="0" bIns="0">
            <a:spAutoFit/>
          </a:bodyPr>
          <a:lstStyle/>
          <a:p>
            <a:pPr algn="l"/>
            <a:r>
              <a:rPr sz="4000" b="1" i="0">
                <a:solidFill>
                  <a:srgbClr val="5FD0FF"/>
                </a:solidFill>
                <a:latin typeface="Arial"/>
              </a:rPr>
              <a:t>How Orbits Work</a:t>
            </a:r>
          </a:p>
        </p:txBody>
      </p:sp>
      <p:sp>
        <p:nvSpPr>
          <p:cNvPr id="5" name="TextBox 4"/>
          <p:cNvSpPr txBox="1"/>
          <p:nvPr/>
        </p:nvSpPr>
        <p:spPr>
          <a:xfrm>
            <a:off x="640080" y="4160520"/>
            <a:ext cx="5943600" cy="1280160"/>
          </a:xfrm>
          <a:prstGeom prst="rect">
            <a:avLst/>
          </a:prstGeom>
          <a:noFill/>
        </p:spPr>
        <p:txBody>
          <a:bodyPr wrap="square" lIns="0" rIns="0" tIns="0" bIns="0">
            <a:spAutoFit/>
          </a:bodyPr>
          <a:lstStyle/>
          <a:p>
            <a:pPr algn="l"/>
            <a:r>
              <a:rPr sz="1500" b="0" i="1">
                <a:solidFill>
                  <a:srgbClr val="CFE3FF"/>
                </a:solidFill>
                <a:latin typeface="Arial"/>
              </a:rPr>
              <a:t>Why satellites stay up: they are falling — sideways, fast enough to keep missing the Earth.</a:t>
            </a:r>
          </a:p>
        </p:txBody>
      </p:sp>
      <p:sp>
        <p:nvSpPr>
          <p:cNvPr id="6" name="Oval 5"/>
          <p:cNvSpPr/>
          <p:nvPr/>
        </p:nvSpPr>
        <p:spPr>
          <a:xfrm>
            <a:off x="7543800" y="2697479"/>
            <a:ext cx="4206240" cy="1554480"/>
          </a:xfrm>
          <a:prstGeom prst="ellipse">
            <a:avLst/>
          </a:prstGeom>
          <a:noFill/>
          <a:ln w="15875">
            <a:solidFill>
              <a:srgbClr val="5FD0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458200" y="2286000"/>
            <a:ext cx="2377440" cy="2377440"/>
          </a:xfrm>
          <a:prstGeom prst="ellipse">
            <a:avLst/>
          </a:prstGeom>
          <a:noFill/>
          <a:ln w="12700">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0" y="2971800"/>
            <a:ext cx="1005840" cy="1005840"/>
          </a:xfrm>
          <a:prstGeom prst="ellipse">
            <a:avLst/>
          </a:prstGeom>
          <a:solidFill>
            <a:srgbClr val="0E2A4A"/>
          </a:solidFill>
          <a:ln w="12700">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690604" y="3415284"/>
            <a:ext cx="118872" cy="118872"/>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596628" y="2235708"/>
            <a:ext cx="100584" cy="100584"/>
          </a:xfrm>
          <a:prstGeom prst="ellipse">
            <a:avLst/>
          </a:prstGeom>
          <a:solidFill>
            <a:srgbClr val="39D3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50A14"/>
        </a:solidFill>
        <a:effectLst/>
      </p:bgPr>
    </p:bg>
    <p:spTree>
      <p:nvGrpSpPr>
        <p:cNvPr id="1" name=""/>
        <p:cNvGrpSpPr/>
        <p:nvPr/>
      </p:nvGrpSpPr>
      <p:grpSpPr/>
      <p:sp>
        <p:nvSpPr>
          <p:cNvPr id="2" name="TextBox 1"/>
          <p:cNvSpPr txBox="1"/>
          <p:nvPr/>
        </p:nvSpPr>
        <p:spPr>
          <a:xfrm>
            <a:off x="548640" y="384048"/>
            <a:ext cx="8686800" cy="292608"/>
          </a:xfrm>
          <a:prstGeom prst="rect">
            <a:avLst/>
          </a:prstGeom>
          <a:noFill/>
        </p:spPr>
        <p:txBody>
          <a:bodyPr wrap="square" lIns="0" rIns="0" tIns="0" bIns="0">
            <a:spAutoFit/>
          </a:bodyPr>
          <a:lstStyle/>
          <a:p>
            <a:pPr algn="l"/>
            <a:r>
              <a:rPr sz="1100" b="1" i="0">
                <a:solidFill>
                  <a:srgbClr val="FFCF4D"/>
                </a:solidFill>
                <a:latin typeface="Arial"/>
              </a:rPr>
              <a:t>MODULE 1 · ORBIT ACADEMY</a:t>
            </a:r>
          </a:p>
        </p:txBody>
      </p:sp>
      <p:sp>
        <p:nvSpPr>
          <p:cNvPr id="3" name="TextBox 2"/>
          <p:cNvSpPr txBox="1"/>
          <p:nvPr/>
        </p:nvSpPr>
        <p:spPr>
          <a:xfrm>
            <a:off x="548640" y="676656"/>
            <a:ext cx="10058400" cy="640080"/>
          </a:xfrm>
          <a:prstGeom prst="rect">
            <a:avLst/>
          </a:prstGeom>
          <a:noFill/>
        </p:spPr>
        <p:txBody>
          <a:bodyPr wrap="square" lIns="0" rIns="0" tIns="0" bIns="0">
            <a:spAutoFit/>
          </a:bodyPr>
          <a:lstStyle/>
          <a:p>
            <a:pPr algn="l"/>
            <a:r>
              <a:rPr sz="2700" b="1" i="0">
                <a:solidFill>
                  <a:srgbClr val="5FD0FF"/>
                </a:solidFill>
                <a:latin typeface="Arial"/>
              </a:rPr>
              <a:t>Why you care</a:t>
            </a:r>
          </a:p>
        </p:txBody>
      </p:sp>
      <p:sp>
        <p:nvSpPr>
          <p:cNvPr id="4" name="Oval 3"/>
          <p:cNvSpPr/>
          <p:nvPr/>
        </p:nvSpPr>
        <p:spPr>
          <a:xfrm>
            <a:off x="10835640" y="484632"/>
            <a:ext cx="914400" cy="347472"/>
          </a:xfrm>
          <a:prstGeom prst="ellipse">
            <a:avLst/>
          </a:prstGeom>
          <a:noFill/>
          <a:ln w="12700">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708892" y="617219"/>
            <a:ext cx="82296" cy="82296"/>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45920"/>
            <a:ext cx="11064240" cy="1097280"/>
          </a:xfrm>
          <a:prstGeom prst="rect">
            <a:avLst/>
          </a:prstGeom>
          <a:noFill/>
        </p:spPr>
        <p:txBody>
          <a:bodyPr wrap="square" lIns="0" rIns="0" tIns="0" bIns="0">
            <a:spAutoFit/>
          </a:bodyPr>
          <a:lstStyle/>
          <a:p>
            <a:pPr algn="l"/>
            <a:r>
              <a:rPr sz="2100" b="1" i="0">
                <a:solidFill>
                  <a:srgbClr val="EAF4FF"/>
                </a:solidFill>
                <a:latin typeface="Arial"/>
              </a:rPr>
              <a:t>Every asset you depend on — comms, GPS, missile warning — is coasting on gravity alone.</a:t>
            </a:r>
          </a:p>
        </p:txBody>
      </p:sp>
      <p:sp>
        <p:nvSpPr>
          <p:cNvPr id="7" name="Rounded Rectangle 6"/>
          <p:cNvSpPr/>
          <p:nvPr/>
        </p:nvSpPr>
        <p:spPr>
          <a:xfrm>
            <a:off x="548640" y="3063240"/>
            <a:ext cx="3593592" cy="228600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3337560"/>
            <a:ext cx="3081528" cy="1737360"/>
          </a:xfrm>
          <a:prstGeom prst="rect">
            <a:avLst/>
          </a:prstGeom>
          <a:noFill/>
        </p:spPr>
        <p:txBody>
          <a:bodyPr wrap="square" lIns="0" rIns="0" tIns="0" bIns="0">
            <a:spAutoFit/>
          </a:bodyPr>
          <a:lstStyle/>
          <a:p>
            <a:pPr algn="l">
              <a:spcAft>
                <a:spcPts val="800"/>
              </a:spcAft>
            </a:pPr>
            <a:r>
              <a:rPr sz="1450" b="1" i="0">
                <a:solidFill>
                  <a:srgbClr val="FFCF4D"/>
                </a:solidFill>
                <a:latin typeface="Arial"/>
              </a:rPr>
              <a:t>No engines hold it up</a:t>
            </a:r>
          </a:p>
          <a:p>
            <a:pPr algn="l"/>
            <a:r>
              <a:rPr sz="1250" b="0" i="0">
                <a:solidFill>
                  <a:srgbClr val="CFE3FF"/>
                </a:solidFill>
                <a:latin typeface="Arial"/>
              </a:rPr>
              <a:t>A satellite in orbit burns nothing to stay there. Speed plus gravity set the entire path.</a:t>
            </a:r>
          </a:p>
        </p:txBody>
      </p:sp>
      <p:sp>
        <p:nvSpPr>
          <p:cNvPr id="9" name="Rounded Rectangle 8"/>
          <p:cNvSpPr/>
          <p:nvPr/>
        </p:nvSpPr>
        <p:spPr>
          <a:xfrm>
            <a:off x="4370831" y="3063240"/>
            <a:ext cx="3593592" cy="228600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26864" y="3337560"/>
            <a:ext cx="3081528" cy="1737360"/>
          </a:xfrm>
          <a:prstGeom prst="rect">
            <a:avLst/>
          </a:prstGeom>
          <a:noFill/>
        </p:spPr>
        <p:txBody>
          <a:bodyPr wrap="square" lIns="0" rIns="0" tIns="0" bIns="0">
            <a:spAutoFit/>
          </a:bodyPr>
          <a:lstStyle/>
          <a:p>
            <a:pPr algn="l">
              <a:spcAft>
                <a:spcPts val="800"/>
              </a:spcAft>
            </a:pPr>
            <a:r>
              <a:rPr sz="1450" b="1" i="0">
                <a:solidFill>
                  <a:srgbClr val="FFCF4D"/>
                </a:solidFill>
                <a:latin typeface="Arial"/>
              </a:rPr>
              <a:t>Physics is the map</a:t>
            </a:r>
          </a:p>
          <a:p>
            <a:pPr algn="l"/>
            <a:r>
              <a:rPr sz="1250" b="0" i="0">
                <a:solidFill>
                  <a:srgbClr val="CFE3FF"/>
                </a:solidFill>
                <a:latin typeface="Arial"/>
              </a:rPr>
              <a:t>Where a satellite can and cannot be is set by its speed — not by anyone's choice.</a:t>
            </a:r>
          </a:p>
        </p:txBody>
      </p:sp>
      <p:sp>
        <p:nvSpPr>
          <p:cNvPr id="11" name="Rounded Rectangle 10"/>
          <p:cNvSpPr/>
          <p:nvPr/>
        </p:nvSpPr>
        <p:spPr>
          <a:xfrm>
            <a:off x="8193023" y="3063240"/>
            <a:ext cx="3593592" cy="228600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49055" y="3337560"/>
            <a:ext cx="3081528" cy="1737360"/>
          </a:xfrm>
          <a:prstGeom prst="rect">
            <a:avLst/>
          </a:prstGeom>
          <a:noFill/>
        </p:spPr>
        <p:txBody>
          <a:bodyPr wrap="square" lIns="0" rIns="0" tIns="0" bIns="0">
            <a:spAutoFit/>
          </a:bodyPr>
          <a:lstStyle/>
          <a:p>
            <a:pPr algn="l">
              <a:spcAft>
                <a:spcPts val="800"/>
              </a:spcAft>
            </a:pPr>
            <a:r>
              <a:rPr sz="1450" b="1" i="0">
                <a:solidFill>
                  <a:srgbClr val="FFCF4D"/>
                </a:solidFill>
                <a:latin typeface="Arial"/>
              </a:rPr>
              <a:t>This is your gut feel</a:t>
            </a:r>
          </a:p>
          <a:p>
            <a:pPr algn="l"/>
            <a:r>
              <a:rPr sz="1250" b="0" i="0">
                <a:solidFill>
                  <a:srgbClr val="CFE3FF"/>
                </a:solidFill>
                <a:latin typeface="Arial"/>
              </a:rPr>
              <a:t>Modules 2–8 assume the instincts you build here: crash, circle, ellipse, escape.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50A14"/>
        </a:solidFill>
        <a:effectLst/>
      </p:bgPr>
    </p:bg>
    <p:spTree>
      <p:nvGrpSpPr>
        <p:cNvPr id="1" name=""/>
        <p:cNvGrpSpPr/>
        <p:nvPr/>
      </p:nvGrpSpPr>
      <p:grpSpPr/>
      <p:sp>
        <p:nvSpPr>
          <p:cNvPr id="2" name="TextBox 1"/>
          <p:cNvSpPr txBox="1"/>
          <p:nvPr/>
        </p:nvSpPr>
        <p:spPr>
          <a:xfrm>
            <a:off x="548640" y="384048"/>
            <a:ext cx="8686800" cy="292608"/>
          </a:xfrm>
          <a:prstGeom prst="rect">
            <a:avLst/>
          </a:prstGeom>
          <a:noFill/>
        </p:spPr>
        <p:txBody>
          <a:bodyPr wrap="square" lIns="0" rIns="0" tIns="0" bIns="0">
            <a:spAutoFit/>
          </a:bodyPr>
          <a:lstStyle/>
          <a:p>
            <a:pPr algn="l"/>
            <a:r>
              <a:rPr sz="1100" b="1" i="0">
                <a:solidFill>
                  <a:srgbClr val="FFCF4D"/>
                </a:solidFill>
                <a:latin typeface="Arial"/>
              </a:rPr>
              <a:t>MODULE 1 · ORBIT ACADEMY</a:t>
            </a:r>
          </a:p>
        </p:txBody>
      </p:sp>
      <p:sp>
        <p:nvSpPr>
          <p:cNvPr id="3" name="TextBox 2"/>
          <p:cNvSpPr txBox="1"/>
          <p:nvPr/>
        </p:nvSpPr>
        <p:spPr>
          <a:xfrm>
            <a:off x="548640" y="676656"/>
            <a:ext cx="10058400" cy="640080"/>
          </a:xfrm>
          <a:prstGeom prst="rect">
            <a:avLst/>
          </a:prstGeom>
          <a:noFill/>
        </p:spPr>
        <p:txBody>
          <a:bodyPr wrap="square" lIns="0" rIns="0" tIns="0" bIns="0">
            <a:spAutoFit/>
          </a:bodyPr>
          <a:lstStyle/>
          <a:p>
            <a:pPr algn="l"/>
            <a:r>
              <a:rPr sz="2700" b="1" i="0">
                <a:solidFill>
                  <a:srgbClr val="5FD0FF"/>
                </a:solidFill>
                <a:latin typeface="Arial"/>
              </a:rPr>
              <a:t>Space is closer than you think</a:t>
            </a:r>
          </a:p>
        </p:txBody>
      </p:sp>
      <p:sp>
        <p:nvSpPr>
          <p:cNvPr id="4" name="Oval 3"/>
          <p:cNvSpPr/>
          <p:nvPr/>
        </p:nvSpPr>
        <p:spPr>
          <a:xfrm>
            <a:off x="10835640" y="484632"/>
            <a:ext cx="914400" cy="347472"/>
          </a:xfrm>
          <a:prstGeom prst="ellipse">
            <a:avLst/>
          </a:prstGeom>
          <a:noFill/>
          <a:ln w="12700">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708892" y="617219"/>
            <a:ext cx="82296" cy="82296"/>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95147" y="2148840"/>
            <a:ext cx="3520440" cy="214884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8027" y="2148840"/>
            <a:ext cx="3154680" cy="2148840"/>
          </a:xfrm>
          <a:prstGeom prst="rect">
            <a:avLst/>
          </a:prstGeom>
          <a:noFill/>
        </p:spPr>
        <p:txBody>
          <a:bodyPr wrap="square" lIns="0" rIns="0" tIns="0" bIns="0" anchor="ctr">
            <a:spAutoFit/>
          </a:bodyPr>
          <a:lstStyle/>
          <a:p>
            <a:pPr algn="ctr">
              <a:spcAft>
                <a:spcPts val="800"/>
              </a:spcAft>
            </a:pPr>
            <a:r>
              <a:rPr sz="3300" b="1" i="0">
                <a:solidFill>
                  <a:srgbClr val="FFCF4D"/>
                </a:solidFill>
                <a:latin typeface="Arial"/>
              </a:rPr>
              <a:t>420 km</a:t>
            </a:r>
          </a:p>
          <a:p>
            <a:pPr algn="ctr"/>
            <a:r>
              <a:rPr sz="1250" b="0" i="0">
                <a:solidFill>
                  <a:srgbClr val="CFE3FF"/>
                </a:solidFill>
                <a:latin typeface="Arial"/>
              </a:rPr>
              <a:t>ISS altitude above the surface</a:t>
            </a:r>
          </a:p>
        </p:txBody>
      </p:sp>
      <p:sp>
        <p:nvSpPr>
          <p:cNvPr id="8" name="Rounded Rectangle 7"/>
          <p:cNvSpPr/>
          <p:nvPr/>
        </p:nvSpPr>
        <p:spPr>
          <a:xfrm>
            <a:off x="4335627" y="2148840"/>
            <a:ext cx="3520440" cy="214884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18507" y="2148840"/>
            <a:ext cx="3154680" cy="2148840"/>
          </a:xfrm>
          <a:prstGeom prst="rect">
            <a:avLst/>
          </a:prstGeom>
          <a:noFill/>
        </p:spPr>
        <p:txBody>
          <a:bodyPr wrap="square" lIns="0" rIns="0" tIns="0" bIns="0" anchor="ctr">
            <a:spAutoFit/>
          </a:bodyPr>
          <a:lstStyle/>
          <a:p>
            <a:pPr algn="ctr">
              <a:spcAft>
                <a:spcPts val="800"/>
              </a:spcAft>
            </a:pPr>
            <a:r>
              <a:rPr sz="3300" b="1" i="0">
                <a:solidFill>
                  <a:srgbClr val="FFCF4D"/>
                </a:solidFill>
                <a:latin typeface="Arial"/>
              </a:rPr>
              <a:t>~7%</a:t>
            </a:r>
          </a:p>
          <a:p>
            <a:pPr algn="ctr"/>
            <a:r>
              <a:rPr sz="1250" b="0" i="0">
                <a:solidFill>
                  <a:srgbClr val="CFE3FF"/>
                </a:solidFill>
                <a:latin typeface="Arial"/>
              </a:rPr>
              <a:t>of Earth's radius — it skims the paint</a:t>
            </a:r>
          </a:p>
        </p:txBody>
      </p:sp>
      <p:sp>
        <p:nvSpPr>
          <p:cNvPr id="10" name="Rounded Rectangle 9"/>
          <p:cNvSpPr/>
          <p:nvPr/>
        </p:nvSpPr>
        <p:spPr>
          <a:xfrm>
            <a:off x="8176107" y="2148840"/>
            <a:ext cx="3520440" cy="214884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58987" y="2148840"/>
            <a:ext cx="3154680" cy="2148840"/>
          </a:xfrm>
          <a:prstGeom prst="rect">
            <a:avLst/>
          </a:prstGeom>
          <a:noFill/>
        </p:spPr>
        <p:txBody>
          <a:bodyPr wrap="square" lIns="0" rIns="0" tIns="0" bIns="0" anchor="ctr">
            <a:spAutoFit/>
          </a:bodyPr>
          <a:lstStyle/>
          <a:p>
            <a:pPr algn="ctr">
              <a:spcAft>
                <a:spcPts val="800"/>
              </a:spcAft>
            </a:pPr>
            <a:r>
              <a:rPr sz="3300" b="1" i="0">
                <a:solidFill>
                  <a:srgbClr val="FFCF4D"/>
                </a:solidFill>
                <a:latin typeface="Arial"/>
              </a:rPr>
              <a:t>DC → NYC</a:t>
            </a:r>
          </a:p>
          <a:p>
            <a:pPr algn="ctr"/>
            <a:r>
              <a:rPr sz="1250" b="0" i="0">
                <a:solidFill>
                  <a:srgbClr val="CFE3FF"/>
                </a:solidFill>
                <a:latin typeface="Arial"/>
              </a:rPr>
              <a:t>its distance when it passes overhead</a:t>
            </a:r>
          </a:p>
        </p:txBody>
      </p:sp>
      <p:sp>
        <p:nvSpPr>
          <p:cNvPr id="12" name="TextBox 11"/>
          <p:cNvSpPr txBox="1"/>
          <p:nvPr/>
        </p:nvSpPr>
        <p:spPr>
          <a:xfrm>
            <a:off x="548640" y="4709160"/>
            <a:ext cx="11064240" cy="1280160"/>
          </a:xfrm>
          <a:prstGeom prst="rect">
            <a:avLst/>
          </a:prstGeom>
          <a:noFill/>
        </p:spPr>
        <p:txBody>
          <a:bodyPr wrap="square" lIns="0" rIns="0" tIns="0" bIns="0">
            <a:spAutoFit/>
          </a:bodyPr>
          <a:lstStyle/>
          <a:p>
            <a:pPr algn="l"/>
            <a:r>
              <a:rPr sz="1350" b="0" i="1">
                <a:solidFill>
                  <a:srgbClr val="CFE3FF"/>
                </a:solidFill>
                <a:latin typeface="Arial"/>
              </a:rPr>
              <a:t>On a to-scale globe the ISS ring hugs the surface. 'Space' is an afternoon drive — straight up.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50A14"/>
        </a:solidFill>
        <a:effectLst/>
      </p:bgPr>
    </p:bg>
    <p:spTree>
      <p:nvGrpSpPr>
        <p:cNvPr id="1" name=""/>
        <p:cNvGrpSpPr/>
        <p:nvPr/>
      </p:nvGrpSpPr>
      <p:grpSpPr/>
      <p:sp>
        <p:nvSpPr>
          <p:cNvPr id="2" name="TextBox 1"/>
          <p:cNvSpPr txBox="1"/>
          <p:nvPr/>
        </p:nvSpPr>
        <p:spPr>
          <a:xfrm>
            <a:off x="548640" y="384048"/>
            <a:ext cx="8686800" cy="292608"/>
          </a:xfrm>
          <a:prstGeom prst="rect">
            <a:avLst/>
          </a:prstGeom>
          <a:noFill/>
        </p:spPr>
        <p:txBody>
          <a:bodyPr wrap="square" lIns="0" rIns="0" tIns="0" bIns="0">
            <a:spAutoFit/>
          </a:bodyPr>
          <a:lstStyle/>
          <a:p>
            <a:pPr algn="l"/>
            <a:r>
              <a:rPr sz="1100" b="1" i="0">
                <a:solidFill>
                  <a:srgbClr val="FFCF4D"/>
                </a:solidFill>
                <a:latin typeface="Arial"/>
              </a:rPr>
              <a:t>MODULE 1 · ORBIT ACADEMY</a:t>
            </a:r>
          </a:p>
        </p:txBody>
      </p:sp>
      <p:sp>
        <p:nvSpPr>
          <p:cNvPr id="3" name="TextBox 2"/>
          <p:cNvSpPr txBox="1"/>
          <p:nvPr/>
        </p:nvSpPr>
        <p:spPr>
          <a:xfrm>
            <a:off x="548640" y="676656"/>
            <a:ext cx="10058400" cy="640080"/>
          </a:xfrm>
          <a:prstGeom prst="rect">
            <a:avLst/>
          </a:prstGeom>
          <a:noFill/>
        </p:spPr>
        <p:txBody>
          <a:bodyPr wrap="square" lIns="0" rIns="0" tIns="0" bIns="0">
            <a:spAutoFit/>
          </a:bodyPr>
          <a:lstStyle/>
          <a:p>
            <a:pPr algn="l"/>
            <a:r>
              <a:rPr sz="2700" b="1" i="0">
                <a:solidFill>
                  <a:srgbClr val="5FD0FF"/>
                </a:solidFill>
                <a:latin typeface="Arial"/>
              </a:rPr>
              <a:t>Release speed sets the whole shape</a:t>
            </a:r>
          </a:p>
        </p:txBody>
      </p:sp>
      <p:sp>
        <p:nvSpPr>
          <p:cNvPr id="4" name="Oval 3"/>
          <p:cNvSpPr/>
          <p:nvPr/>
        </p:nvSpPr>
        <p:spPr>
          <a:xfrm>
            <a:off x="10835640" y="484632"/>
            <a:ext cx="914400" cy="347472"/>
          </a:xfrm>
          <a:prstGeom prst="ellipse">
            <a:avLst/>
          </a:prstGeom>
          <a:noFill/>
          <a:ln w="12700">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708892" y="617219"/>
            <a:ext cx="82296" cy="82296"/>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0080" y="1709928"/>
            <a:ext cx="384048" cy="384048"/>
          </a:xfrm>
          <a:prstGeom prst="ellipse">
            <a:avLst/>
          </a:prstGeom>
          <a:solidFill>
            <a:srgbClr val="13294A"/>
          </a:solidFill>
          <a:ln w="12700">
            <a:solidFill>
              <a:srgbClr val="FFCF4D"/>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i="0">
                <a:solidFill>
                  <a:srgbClr val="FFCF4D"/>
                </a:solidFill>
                <a:latin typeface="Arial"/>
              </a:rPr>
              <a:t>1</a:t>
            </a:r>
          </a:p>
        </p:txBody>
      </p:sp>
      <p:sp>
        <p:nvSpPr>
          <p:cNvPr id="7" name="TextBox 6"/>
          <p:cNvSpPr txBox="1"/>
          <p:nvPr/>
        </p:nvSpPr>
        <p:spPr>
          <a:xfrm>
            <a:off x="1234440" y="1691640"/>
            <a:ext cx="10332720" cy="960120"/>
          </a:xfrm>
          <a:prstGeom prst="rect">
            <a:avLst/>
          </a:prstGeom>
          <a:noFill/>
        </p:spPr>
        <p:txBody>
          <a:bodyPr wrap="square" lIns="0" rIns="0" tIns="0" bIns="0">
            <a:spAutoFit/>
          </a:bodyPr>
          <a:lstStyle/>
          <a:p>
            <a:pPr algn="l"/>
            <a:r>
              <a:rPr sz="1400" b="1" i="0">
                <a:solidFill>
                  <a:srgbClr val="EAF4FF"/>
                </a:solidFill>
                <a:latin typeface="Arial"/>
              </a:rPr>
              <a:t>Below ~7.6 km/s</a:t>
            </a:r>
            <a:r>
              <a:rPr sz="1300" b="0" i="0">
                <a:solidFill>
                  <a:srgbClr val="7E93B8"/>
                </a:solidFill>
                <a:latin typeface="Arial"/>
              </a:rPr>
              <a:t>  —  </a:t>
            </a:r>
            <a:r>
              <a:rPr sz="1250" b="0" i="0">
                <a:solidFill>
                  <a:srgbClr val="CFE3FF"/>
                </a:solidFill>
                <a:latin typeface="Arial"/>
              </a:rPr>
              <a:t>the far side dips below the surface — it re-enters (crashes)</a:t>
            </a:r>
          </a:p>
        </p:txBody>
      </p:sp>
      <p:sp>
        <p:nvSpPr>
          <p:cNvPr id="8" name="Oval 7"/>
          <p:cNvSpPr/>
          <p:nvPr/>
        </p:nvSpPr>
        <p:spPr>
          <a:xfrm>
            <a:off x="640080" y="2670048"/>
            <a:ext cx="384048" cy="384048"/>
          </a:xfrm>
          <a:prstGeom prst="ellipse">
            <a:avLst/>
          </a:prstGeom>
          <a:solidFill>
            <a:srgbClr val="13294A"/>
          </a:solidFill>
          <a:ln w="12700">
            <a:solidFill>
              <a:srgbClr val="FFCF4D"/>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i="0">
                <a:solidFill>
                  <a:srgbClr val="FFCF4D"/>
                </a:solidFill>
                <a:latin typeface="Arial"/>
              </a:rPr>
              <a:t>2</a:t>
            </a:r>
          </a:p>
        </p:txBody>
      </p:sp>
      <p:sp>
        <p:nvSpPr>
          <p:cNvPr id="9" name="TextBox 8"/>
          <p:cNvSpPr txBox="1"/>
          <p:nvPr/>
        </p:nvSpPr>
        <p:spPr>
          <a:xfrm>
            <a:off x="1234440" y="2651760"/>
            <a:ext cx="10332720" cy="960120"/>
          </a:xfrm>
          <a:prstGeom prst="rect">
            <a:avLst/>
          </a:prstGeom>
          <a:noFill/>
        </p:spPr>
        <p:txBody>
          <a:bodyPr wrap="square" lIns="0" rIns="0" tIns="0" bIns="0">
            <a:spAutoFit/>
          </a:bodyPr>
          <a:lstStyle/>
          <a:p>
            <a:pPr algn="l"/>
            <a:r>
              <a:rPr sz="1400" b="1" i="0">
                <a:solidFill>
                  <a:srgbClr val="EAF4FF"/>
                </a:solidFill>
                <a:latin typeface="Arial"/>
              </a:rPr>
              <a:t>7.6 km/s</a:t>
            </a:r>
            <a:r>
              <a:rPr sz="1300" b="0" i="0">
                <a:solidFill>
                  <a:srgbClr val="7E93B8"/>
                </a:solidFill>
                <a:latin typeface="Arial"/>
              </a:rPr>
              <a:t>  —  </a:t>
            </a:r>
            <a:r>
              <a:rPr sz="1250" b="0" i="0">
                <a:solidFill>
                  <a:srgbClr val="CFE3FF"/>
                </a:solidFill>
                <a:latin typeface="Arial"/>
              </a:rPr>
              <a:t>the one circular speed at 600 km — a clean, constant-height ring</a:t>
            </a:r>
          </a:p>
        </p:txBody>
      </p:sp>
      <p:sp>
        <p:nvSpPr>
          <p:cNvPr id="10" name="Oval 9"/>
          <p:cNvSpPr/>
          <p:nvPr/>
        </p:nvSpPr>
        <p:spPr>
          <a:xfrm>
            <a:off x="640080" y="3630168"/>
            <a:ext cx="384048" cy="384048"/>
          </a:xfrm>
          <a:prstGeom prst="ellipse">
            <a:avLst/>
          </a:prstGeom>
          <a:solidFill>
            <a:srgbClr val="13294A"/>
          </a:solidFill>
          <a:ln w="12700">
            <a:solidFill>
              <a:srgbClr val="FFCF4D"/>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i="0">
                <a:solidFill>
                  <a:srgbClr val="FFCF4D"/>
                </a:solidFill>
                <a:latin typeface="Arial"/>
              </a:rPr>
              <a:t>3</a:t>
            </a:r>
          </a:p>
        </p:txBody>
      </p:sp>
      <p:sp>
        <p:nvSpPr>
          <p:cNvPr id="11" name="TextBox 10"/>
          <p:cNvSpPr txBox="1"/>
          <p:nvPr/>
        </p:nvSpPr>
        <p:spPr>
          <a:xfrm>
            <a:off x="1234440" y="3611880"/>
            <a:ext cx="10332720" cy="960120"/>
          </a:xfrm>
          <a:prstGeom prst="rect">
            <a:avLst/>
          </a:prstGeom>
          <a:noFill/>
        </p:spPr>
        <p:txBody>
          <a:bodyPr wrap="square" lIns="0" rIns="0" tIns="0" bIns="0">
            <a:spAutoFit/>
          </a:bodyPr>
          <a:lstStyle/>
          <a:p>
            <a:pPr algn="l"/>
            <a:r>
              <a:rPr sz="1400" b="1" i="0">
                <a:solidFill>
                  <a:srgbClr val="EAF4FF"/>
                </a:solidFill>
                <a:latin typeface="Arial"/>
              </a:rPr>
              <a:t>Faster</a:t>
            </a:r>
            <a:r>
              <a:rPr sz="1300" b="0" i="0">
                <a:solidFill>
                  <a:srgbClr val="7E93B8"/>
                </a:solidFill>
                <a:latin typeface="Arial"/>
              </a:rPr>
              <a:t>  —  </a:t>
            </a:r>
            <a:r>
              <a:rPr sz="1250" b="0" i="0">
                <a:solidFill>
                  <a:srgbClr val="CFE3FF"/>
                </a:solidFill>
                <a:latin typeface="Arial"/>
              </a:rPr>
              <a:t>an ellipse: your release point becomes perigee, the far side balloons out</a:t>
            </a:r>
          </a:p>
        </p:txBody>
      </p:sp>
      <p:sp>
        <p:nvSpPr>
          <p:cNvPr id="12" name="Oval 11"/>
          <p:cNvSpPr/>
          <p:nvPr/>
        </p:nvSpPr>
        <p:spPr>
          <a:xfrm>
            <a:off x="640080" y="4590288"/>
            <a:ext cx="384048" cy="384048"/>
          </a:xfrm>
          <a:prstGeom prst="ellipse">
            <a:avLst/>
          </a:prstGeom>
          <a:solidFill>
            <a:srgbClr val="13294A"/>
          </a:solidFill>
          <a:ln w="12700">
            <a:solidFill>
              <a:srgbClr val="FFCF4D"/>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i="0">
                <a:solidFill>
                  <a:srgbClr val="FFCF4D"/>
                </a:solidFill>
                <a:latin typeface="Arial"/>
              </a:rPr>
              <a:t>4</a:t>
            </a:r>
          </a:p>
        </p:txBody>
      </p:sp>
      <p:sp>
        <p:nvSpPr>
          <p:cNvPr id="13" name="TextBox 12"/>
          <p:cNvSpPr txBox="1"/>
          <p:nvPr/>
        </p:nvSpPr>
        <p:spPr>
          <a:xfrm>
            <a:off x="1234440" y="4572000"/>
            <a:ext cx="10332720" cy="960120"/>
          </a:xfrm>
          <a:prstGeom prst="rect">
            <a:avLst/>
          </a:prstGeom>
          <a:noFill/>
        </p:spPr>
        <p:txBody>
          <a:bodyPr wrap="square" lIns="0" rIns="0" tIns="0" bIns="0">
            <a:spAutoFit/>
          </a:bodyPr>
          <a:lstStyle/>
          <a:p>
            <a:pPr algn="l"/>
            <a:r>
              <a:rPr sz="1400" b="1" i="0">
                <a:solidFill>
                  <a:srgbClr val="EAF4FF"/>
                </a:solidFill>
                <a:latin typeface="Arial"/>
              </a:rPr>
              <a:t>10.7 km/s</a:t>
            </a:r>
            <a:r>
              <a:rPr sz="1300" b="0" i="0">
                <a:solidFill>
                  <a:srgbClr val="7E93B8"/>
                </a:solidFill>
                <a:latin typeface="Arial"/>
              </a:rPr>
              <a:t>  —  </a:t>
            </a:r>
            <a:r>
              <a:rPr sz="1250" b="0" i="0">
                <a:solidFill>
                  <a:srgbClr val="CFE3FF"/>
                </a:solidFill>
                <a:latin typeface="Arial"/>
              </a:rPr>
              <a:t>escape from 600 km (11.2 from the surface) — an open path, gone for good</a:t>
            </a:r>
          </a:p>
        </p:txBody>
      </p:sp>
      <p:sp>
        <p:nvSpPr>
          <p:cNvPr id="14" name="TextBox 13"/>
          <p:cNvSpPr txBox="1"/>
          <p:nvPr/>
        </p:nvSpPr>
        <p:spPr>
          <a:xfrm>
            <a:off x="548640" y="5806440"/>
            <a:ext cx="11064240" cy="822960"/>
          </a:xfrm>
          <a:prstGeom prst="rect">
            <a:avLst/>
          </a:prstGeom>
          <a:noFill/>
        </p:spPr>
        <p:txBody>
          <a:bodyPr wrap="square" lIns="0" rIns="0" tIns="0" bIns="0">
            <a:spAutoFit/>
          </a:bodyPr>
          <a:lstStyle/>
          <a:p>
            <a:pPr algn="l"/>
            <a:r>
              <a:rPr sz="1350" b="0" i="1">
                <a:solidFill>
                  <a:srgbClr val="CFE3FF"/>
                </a:solidFill>
                <a:latin typeface="Arial"/>
              </a:rPr>
              <a:t>One knob — speed at release — picks crash, circle, ellipse, or escape.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50A14"/>
        </a:solidFill>
        <a:effectLst/>
      </p:bgPr>
    </p:bg>
    <p:spTree>
      <p:nvGrpSpPr>
        <p:cNvPr id="1" name=""/>
        <p:cNvGrpSpPr/>
        <p:nvPr/>
      </p:nvGrpSpPr>
      <p:grpSpPr/>
      <p:sp>
        <p:nvSpPr>
          <p:cNvPr id="2" name="TextBox 1"/>
          <p:cNvSpPr txBox="1"/>
          <p:nvPr/>
        </p:nvSpPr>
        <p:spPr>
          <a:xfrm>
            <a:off x="548640" y="384048"/>
            <a:ext cx="8686800" cy="292608"/>
          </a:xfrm>
          <a:prstGeom prst="rect">
            <a:avLst/>
          </a:prstGeom>
          <a:noFill/>
        </p:spPr>
        <p:txBody>
          <a:bodyPr wrap="square" lIns="0" rIns="0" tIns="0" bIns="0">
            <a:spAutoFit/>
          </a:bodyPr>
          <a:lstStyle/>
          <a:p>
            <a:pPr algn="l"/>
            <a:r>
              <a:rPr sz="1100" b="1" i="0">
                <a:solidFill>
                  <a:srgbClr val="FFCF4D"/>
                </a:solidFill>
                <a:latin typeface="Arial"/>
              </a:rPr>
              <a:t>MODULE 1 · ORBIT ACADEMY</a:t>
            </a:r>
          </a:p>
        </p:txBody>
      </p:sp>
      <p:sp>
        <p:nvSpPr>
          <p:cNvPr id="3" name="TextBox 2"/>
          <p:cNvSpPr txBox="1"/>
          <p:nvPr/>
        </p:nvSpPr>
        <p:spPr>
          <a:xfrm>
            <a:off x="548640" y="676656"/>
            <a:ext cx="10058400" cy="640080"/>
          </a:xfrm>
          <a:prstGeom prst="rect">
            <a:avLst/>
          </a:prstGeom>
          <a:noFill/>
        </p:spPr>
        <p:txBody>
          <a:bodyPr wrap="square" lIns="0" rIns="0" tIns="0" bIns="0">
            <a:spAutoFit/>
          </a:bodyPr>
          <a:lstStyle/>
          <a:p>
            <a:pPr algn="l"/>
            <a:r>
              <a:rPr sz="2700" b="1" i="0">
                <a:solidFill>
                  <a:srgbClr val="5FD0FF"/>
                </a:solidFill>
                <a:latin typeface="Arial"/>
              </a:rPr>
              <a:t>Farther out = slower</a:t>
            </a:r>
          </a:p>
        </p:txBody>
      </p:sp>
      <p:sp>
        <p:nvSpPr>
          <p:cNvPr id="4" name="Oval 3"/>
          <p:cNvSpPr/>
          <p:nvPr/>
        </p:nvSpPr>
        <p:spPr>
          <a:xfrm>
            <a:off x="10835640" y="484632"/>
            <a:ext cx="914400" cy="347472"/>
          </a:xfrm>
          <a:prstGeom prst="ellipse">
            <a:avLst/>
          </a:prstGeom>
          <a:noFill/>
          <a:ln w="12700">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708892" y="617219"/>
            <a:ext cx="82296" cy="82296"/>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783080"/>
            <a:ext cx="5358384" cy="283464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2057400"/>
            <a:ext cx="4773168" cy="2286000"/>
          </a:xfrm>
          <a:prstGeom prst="rect">
            <a:avLst/>
          </a:prstGeom>
          <a:noFill/>
        </p:spPr>
        <p:txBody>
          <a:bodyPr wrap="square" lIns="0" rIns="0" tIns="0" bIns="0">
            <a:spAutoFit/>
          </a:bodyPr>
          <a:lstStyle/>
          <a:p>
            <a:pPr algn="l">
              <a:spcAft>
                <a:spcPts val="1200"/>
              </a:spcAft>
            </a:pPr>
            <a:r>
              <a:rPr sz="1650" b="1" i="0">
                <a:solidFill>
                  <a:srgbClr val="5FD0FF"/>
                </a:solidFill>
                <a:latin typeface="Arial"/>
              </a:rPr>
              <a:t>LEO — 600 km</a:t>
            </a:r>
          </a:p>
          <a:p>
            <a:pPr algn="l">
              <a:spcAft>
                <a:spcPts val="900"/>
              </a:spcAft>
            </a:pPr>
            <a:r>
              <a:rPr sz="1300" b="0" i="0">
                <a:solidFill>
                  <a:srgbClr val="CFE3FF"/>
                </a:solidFill>
                <a:latin typeface="Arial"/>
              </a:rPr>
              <a:t>~7.6 km/s</a:t>
            </a:r>
          </a:p>
          <a:p>
            <a:pPr algn="l">
              <a:spcAft>
                <a:spcPts val="900"/>
              </a:spcAft>
            </a:pPr>
            <a:r>
              <a:rPr sz="1300" b="0" i="0">
                <a:solidFill>
                  <a:srgbClr val="CFE3FF"/>
                </a:solidFill>
                <a:latin typeface="Arial"/>
              </a:rPr>
              <a:t>one lap ≈ 90 minutes</a:t>
            </a:r>
          </a:p>
          <a:p>
            <a:pPr algn="l">
              <a:spcAft>
                <a:spcPts val="900"/>
              </a:spcAft>
            </a:pPr>
            <a:r>
              <a:rPr sz="1300" b="0" i="0">
                <a:solidFill>
                  <a:srgbClr val="CFE3FF"/>
                </a:solidFill>
                <a:latin typeface="Arial"/>
              </a:rPr>
              <a:t>≈ 16 laps every day</a:t>
            </a:r>
          </a:p>
        </p:txBody>
      </p:sp>
      <p:sp>
        <p:nvSpPr>
          <p:cNvPr id="8" name="Rounded Rectangle 7"/>
          <p:cNvSpPr/>
          <p:nvPr/>
        </p:nvSpPr>
        <p:spPr>
          <a:xfrm>
            <a:off x="6281928" y="1783080"/>
            <a:ext cx="5358384" cy="283464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74536" y="2057400"/>
            <a:ext cx="4773168" cy="2286000"/>
          </a:xfrm>
          <a:prstGeom prst="rect">
            <a:avLst/>
          </a:prstGeom>
          <a:noFill/>
        </p:spPr>
        <p:txBody>
          <a:bodyPr wrap="square" lIns="0" rIns="0" tIns="0" bIns="0">
            <a:spAutoFit/>
          </a:bodyPr>
          <a:lstStyle/>
          <a:p>
            <a:pPr algn="l">
              <a:spcAft>
                <a:spcPts val="1200"/>
              </a:spcAft>
            </a:pPr>
            <a:r>
              <a:rPr sz="1650" b="1" i="0">
                <a:solidFill>
                  <a:srgbClr val="FFCF4D"/>
                </a:solidFill>
                <a:latin typeface="Arial"/>
              </a:rPr>
              <a:t>GEO — 35,786 km</a:t>
            </a:r>
          </a:p>
          <a:p>
            <a:pPr algn="l">
              <a:spcAft>
                <a:spcPts val="900"/>
              </a:spcAft>
            </a:pPr>
            <a:r>
              <a:rPr sz="1300" b="0" i="0">
                <a:solidFill>
                  <a:srgbClr val="CFE3FF"/>
                </a:solidFill>
                <a:latin typeface="Arial"/>
              </a:rPr>
              <a:t>~3.1 km/s</a:t>
            </a:r>
          </a:p>
          <a:p>
            <a:pPr algn="l">
              <a:spcAft>
                <a:spcPts val="900"/>
              </a:spcAft>
            </a:pPr>
            <a:r>
              <a:rPr sz="1300" b="0" i="0">
                <a:solidFill>
                  <a:srgbClr val="CFE3FF"/>
                </a:solidFill>
                <a:latin typeface="Arial"/>
              </a:rPr>
              <a:t>one lap = 23 h 56 min</a:t>
            </a:r>
          </a:p>
          <a:p>
            <a:pPr algn="l">
              <a:spcAft>
                <a:spcPts val="900"/>
              </a:spcAft>
            </a:pPr>
            <a:r>
              <a:rPr sz="1300" b="0" i="0">
                <a:solidFill>
                  <a:srgbClr val="CFE3FF"/>
                </a:solidFill>
                <a:latin typeface="Arial"/>
              </a:rPr>
              <a:t>keeps pace with Earth's spin</a:t>
            </a:r>
          </a:p>
        </p:txBody>
      </p:sp>
      <p:sp>
        <p:nvSpPr>
          <p:cNvPr id="10" name="TextBox 9"/>
          <p:cNvSpPr txBox="1"/>
          <p:nvPr/>
        </p:nvSpPr>
        <p:spPr>
          <a:xfrm>
            <a:off x="548640" y="4983480"/>
            <a:ext cx="11064240" cy="822960"/>
          </a:xfrm>
          <a:prstGeom prst="rect">
            <a:avLst/>
          </a:prstGeom>
          <a:noFill/>
        </p:spPr>
        <p:txBody>
          <a:bodyPr wrap="square" lIns="0" rIns="0" tIns="0" bIns="0">
            <a:spAutoFit/>
          </a:bodyPr>
          <a:lstStyle/>
          <a:p>
            <a:pPr algn="l"/>
            <a:r>
              <a:rPr sz="1350" b="0" i="1">
                <a:solidFill>
                  <a:srgbClr val="CFE3FF"/>
                </a:solidFill>
                <a:latin typeface="Arial"/>
              </a:rPr>
              <a:t>And on any ellipse: fastest at perigee (closest), slowest at apogee (farthest).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50A14"/>
        </a:solidFill>
        <a:effectLst/>
      </p:bgPr>
    </p:bg>
    <p:spTree>
      <p:nvGrpSpPr>
        <p:cNvPr id="1" name=""/>
        <p:cNvGrpSpPr/>
        <p:nvPr/>
      </p:nvGrpSpPr>
      <p:grpSpPr/>
      <p:sp>
        <p:nvSpPr>
          <p:cNvPr id="2" name="TextBox 1"/>
          <p:cNvSpPr txBox="1"/>
          <p:nvPr/>
        </p:nvSpPr>
        <p:spPr>
          <a:xfrm>
            <a:off x="548640" y="384048"/>
            <a:ext cx="8686800" cy="292608"/>
          </a:xfrm>
          <a:prstGeom prst="rect">
            <a:avLst/>
          </a:prstGeom>
          <a:noFill/>
        </p:spPr>
        <p:txBody>
          <a:bodyPr wrap="square" lIns="0" rIns="0" tIns="0" bIns="0">
            <a:spAutoFit/>
          </a:bodyPr>
          <a:lstStyle/>
          <a:p>
            <a:pPr algn="l"/>
            <a:r>
              <a:rPr sz="1100" b="1" i="0">
                <a:solidFill>
                  <a:srgbClr val="FFCF4D"/>
                </a:solidFill>
                <a:latin typeface="Arial"/>
              </a:rPr>
              <a:t>MODULE 1 · ORBIT ACADEMY</a:t>
            </a:r>
          </a:p>
        </p:txBody>
      </p:sp>
      <p:sp>
        <p:nvSpPr>
          <p:cNvPr id="3" name="TextBox 2"/>
          <p:cNvSpPr txBox="1"/>
          <p:nvPr/>
        </p:nvSpPr>
        <p:spPr>
          <a:xfrm>
            <a:off x="548640" y="676656"/>
            <a:ext cx="10058400" cy="640080"/>
          </a:xfrm>
          <a:prstGeom prst="rect">
            <a:avLst/>
          </a:prstGeom>
          <a:noFill/>
        </p:spPr>
        <p:txBody>
          <a:bodyPr wrap="square" lIns="0" rIns="0" tIns="0" bIns="0">
            <a:spAutoFit/>
          </a:bodyPr>
          <a:lstStyle/>
          <a:p>
            <a:pPr algn="l"/>
            <a:r>
              <a:rPr sz="2700" b="1" i="0">
                <a:solidFill>
                  <a:srgbClr val="5FD0FF"/>
                </a:solidFill>
                <a:latin typeface="Arial"/>
              </a:rPr>
              <a:t>The 24-hour trick: geostationary</a:t>
            </a:r>
          </a:p>
        </p:txBody>
      </p:sp>
      <p:sp>
        <p:nvSpPr>
          <p:cNvPr id="4" name="Oval 3"/>
          <p:cNvSpPr/>
          <p:nvPr/>
        </p:nvSpPr>
        <p:spPr>
          <a:xfrm>
            <a:off x="10835640" y="484632"/>
            <a:ext cx="914400" cy="347472"/>
          </a:xfrm>
          <a:prstGeom prst="ellipse">
            <a:avLst/>
          </a:prstGeom>
          <a:noFill/>
          <a:ln w="12700">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708892" y="617219"/>
            <a:ext cx="82296" cy="82296"/>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95147" y="2148840"/>
            <a:ext cx="3520440" cy="214884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8027" y="2148840"/>
            <a:ext cx="3154680" cy="2148840"/>
          </a:xfrm>
          <a:prstGeom prst="rect">
            <a:avLst/>
          </a:prstGeom>
          <a:noFill/>
        </p:spPr>
        <p:txBody>
          <a:bodyPr wrap="square" lIns="0" rIns="0" tIns="0" bIns="0" anchor="ctr">
            <a:spAutoFit/>
          </a:bodyPr>
          <a:lstStyle/>
          <a:p>
            <a:pPr algn="ctr">
              <a:spcAft>
                <a:spcPts val="800"/>
              </a:spcAft>
            </a:pPr>
            <a:r>
              <a:rPr sz="3300" b="1" i="0">
                <a:solidFill>
                  <a:srgbClr val="FFCF4D"/>
                </a:solidFill>
                <a:latin typeface="Arial"/>
              </a:rPr>
              <a:t>35,786 km</a:t>
            </a:r>
          </a:p>
          <a:p>
            <a:pPr algn="ctr"/>
            <a:r>
              <a:rPr sz="1250" b="0" i="0">
                <a:solidFill>
                  <a:srgbClr val="CFE3FF"/>
                </a:solidFill>
                <a:latin typeface="Arial"/>
              </a:rPr>
              <a:t>the GEO altitude</a:t>
            </a:r>
          </a:p>
        </p:txBody>
      </p:sp>
      <p:sp>
        <p:nvSpPr>
          <p:cNvPr id="8" name="Rounded Rectangle 7"/>
          <p:cNvSpPr/>
          <p:nvPr/>
        </p:nvSpPr>
        <p:spPr>
          <a:xfrm>
            <a:off x="4335627" y="2148840"/>
            <a:ext cx="3520440" cy="214884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18507" y="2148840"/>
            <a:ext cx="3154680" cy="2148840"/>
          </a:xfrm>
          <a:prstGeom prst="rect">
            <a:avLst/>
          </a:prstGeom>
          <a:noFill/>
        </p:spPr>
        <p:txBody>
          <a:bodyPr wrap="square" lIns="0" rIns="0" tIns="0" bIns="0" anchor="ctr">
            <a:spAutoFit/>
          </a:bodyPr>
          <a:lstStyle/>
          <a:p>
            <a:pPr algn="ctr">
              <a:spcAft>
                <a:spcPts val="800"/>
              </a:spcAft>
            </a:pPr>
            <a:r>
              <a:rPr sz="3300" b="1" i="0">
                <a:solidFill>
                  <a:srgbClr val="FFCF4D"/>
                </a:solidFill>
                <a:latin typeface="Arial"/>
              </a:rPr>
              <a:t>3.1 km/s</a:t>
            </a:r>
          </a:p>
          <a:p>
            <a:pPr algn="ctr"/>
            <a:r>
              <a:rPr sz="1250" b="0" i="0">
                <a:solidFill>
                  <a:srgbClr val="CFE3FF"/>
                </a:solidFill>
                <a:latin typeface="Arial"/>
              </a:rPr>
              <a:t>yet it never leaves its spot</a:t>
            </a:r>
          </a:p>
        </p:txBody>
      </p:sp>
      <p:sp>
        <p:nvSpPr>
          <p:cNvPr id="10" name="Rounded Rectangle 9"/>
          <p:cNvSpPr/>
          <p:nvPr/>
        </p:nvSpPr>
        <p:spPr>
          <a:xfrm>
            <a:off x="8176107" y="2148840"/>
            <a:ext cx="3520440" cy="214884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58987" y="2148840"/>
            <a:ext cx="3154680" cy="2148840"/>
          </a:xfrm>
          <a:prstGeom prst="rect">
            <a:avLst/>
          </a:prstGeom>
          <a:noFill/>
        </p:spPr>
        <p:txBody>
          <a:bodyPr wrap="square" lIns="0" rIns="0" tIns="0" bIns="0" anchor="ctr">
            <a:spAutoFit/>
          </a:bodyPr>
          <a:lstStyle/>
          <a:p>
            <a:pPr algn="ctr">
              <a:spcAft>
                <a:spcPts val="800"/>
              </a:spcAft>
            </a:pPr>
            <a:r>
              <a:rPr sz="3300" b="1" i="0">
                <a:solidFill>
                  <a:srgbClr val="FFCF4D"/>
                </a:solidFill>
                <a:latin typeface="Arial"/>
              </a:rPr>
              <a:t>86,164 s</a:t>
            </a:r>
          </a:p>
          <a:p>
            <a:pPr algn="ctr"/>
            <a:r>
              <a:rPr sz="1250" b="0" i="0">
                <a:solidFill>
                  <a:srgbClr val="CFE3FF"/>
                </a:solidFill>
                <a:latin typeface="Arial"/>
              </a:rPr>
              <a:t>one sidereal day — one Earth rotation</a:t>
            </a:r>
          </a:p>
        </p:txBody>
      </p:sp>
      <p:sp>
        <p:nvSpPr>
          <p:cNvPr id="12" name="TextBox 11"/>
          <p:cNvSpPr txBox="1"/>
          <p:nvPr/>
        </p:nvSpPr>
        <p:spPr>
          <a:xfrm>
            <a:off x="548640" y="4709160"/>
            <a:ext cx="11064240" cy="1280160"/>
          </a:xfrm>
          <a:prstGeom prst="rect">
            <a:avLst/>
          </a:prstGeom>
          <a:noFill/>
        </p:spPr>
        <p:txBody>
          <a:bodyPr wrap="square" lIns="0" rIns="0" tIns="0" bIns="0">
            <a:spAutoFit/>
          </a:bodyPr>
          <a:lstStyle/>
          <a:p>
            <a:pPr algn="l"/>
            <a:r>
              <a:rPr sz="1350" b="0" i="1">
                <a:solidFill>
                  <a:srgbClr val="CFE3FF"/>
                </a:solidFill>
                <a:latin typeface="Arial"/>
              </a:rPr>
              <a:t>Geosynchronous = one-day period. Geostationary = that, plus equatorial — it hangs over one point. Prograde = with Earth's spin (counter-clockwise from above the North Pole).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50A14"/>
        </a:solidFill>
        <a:effectLst/>
      </p:bgPr>
    </p:bg>
    <p:spTree>
      <p:nvGrpSpPr>
        <p:cNvPr id="1" name=""/>
        <p:cNvGrpSpPr/>
        <p:nvPr/>
      </p:nvGrpSpPr>
      <p:grpSpPr/>
      <p:sp>
        <p:nvSpPr>
          <p:cNvPr id="2" name="TextBox 1"/>
          <p:cNvSpPr txBox="1"/>
          <p:nvPr/>
        </p:nvSpPr>
        <p:spPr>
          <a:xfrm>
            <a:off x="548640" y="384048"/>
            <a:ext cx="8686800" cy="292608"/>
          </a:xfrm>
          <a:prstGeom prst="rect">
            <a:avLst/>
          </a:prstGeom>
          <a:noFill/>
        </p:spPr>
        <p:txBody>
          <a:bodyPr wrap="square" lIns="0" rIns="0" tIns="0" bIns="0">
            <a:spAutoFit/>
          </a:bodyPr>
          <a:lstStyle/>
          <a:p>
            <a:pPr algn="l"/>
            <a:r>
              <a:rPr sz="1100" b="1" i="0">
                <a:solidFill>
                  <a:srgbClr val="FFCF4D"/>
                </a:solidFill>
                <a:latin typeface="Arial"/>
              </a:rPr>
              <a:t>MODULE 1 · ORBIT ACADEMY</a:t>
            </a:r>
          </a:p>
        </p:txBody>
      </p:sp>
      <p:sp>
        <p:nvSpPr>
          <p:cNvPr id="3" name="TextBox 2"/>
          <p:cNvSpPr txBox="1"/>
          <p:nvPr/>
        </p:nvSpPr>
        <p:spPr>
          <a:xfrm>
            <a:off x="548640" y="676656"/>
            <a:ext cx="10058400" cy="640080"/>
          </a:xfrm>
          <a:prstGeom prst="rect">
            <a:avLst/>
          </a:prstGeom>
          <a:noFill/>
        </p:spPr>
        <p:txBody>
          <a:bodyPr wrap="square" lIns="0" rIns="0" tIns="0" bIns="0">
            <a:spAutoFit/>
          </a:bodyPr>
          <a:lstStyle/>
          <a:p>
            <a:pPr algn="l"/>
            <a:r>
              <a:rPr sz="2700" b="1" i="0">
                <a:solidFill>
                  <a:srgbClr val="5FD0FF"/>
                </a:solidFill>
                <a:latin typeface="Arial"/>
              </a:rPr>
              <a:t>What you'll do</a:t>
            </a:r>
          </a:p>
        </p:txBody>
      </p:sp>
      <p:sp>
        <p:nvSpPr>
          <p:cNvPr id="4" name="Oval 3"/>
          <p:cNvSpPr/>
          <p:nvPr/>
        </p:nvSpPr>
        <p:spPr>
          <a:xfrm>
            <a:off x="10835640" y="484632"/>
            <a:ext cx="914400" cy="347472"/>
          </a:xfrm>
          <a:prstGeom prst="ellipse">
            <a:avLst/>
          </a:prstGeom>
          <a:noFill/>
          <a:ln w="12700">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708892" y="617219"/>
            <a:ext cx="82296" cy="82296"/>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645920"/>
            <a:ext cx="2834640" cy="96012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45920"/>
            <a:ext cx="2377440" cy="960120"/>
          </a:xfrm>
          <a:prstGeom prst="rect">
            <a:avLst/>
          </a:prstGeom>
          <a:noFill/>
        </p:spPr>
        <p:txBody>
          <a:bodyPr wrap="square" lIns="0" rIns="0" tIns="0" bIns="0" anchor="ctr">
            <a:spAutoFit/>
          </a:bodyPr>
          <a:lstStyle/>
          <a:p>
            <a:pPr algn="l">
              <a:spcAft>
                <a:spcPts val="300"/>
              </a:spcAft>
            </a:pPr>
            <a:r>
              <a:rPr sz="1500" b="1" i="0">
                <a:solidFill>
                  <a:srgbClr val="39D353"/>
                </a:solidFill>
                <a:latin typeface="Arial"/>
              </a:rPr>
              <a:t>PREDICT</a:t>
            </a:r>
          </a:p>
          <a:p>
            <a:pPr algn="l"/>
            <a:r>
              <a:rPr sz="1050" b="0" i="0">
                <a:solidFill>
                  <a:srgbClr val="7E93B8"/>
                </a:solidFill>
                <a:latin typeface="Arial"/>
              </a:rPr>
              <a:t>call your shot first</a:t>
            </a:r>
          </a:p>
        </p:txBody>
      </p:sp>
      <p:sp>
        <p:nvSpPr>
          <p:cNvPr id="8" name="TextBox 7"/>
          <p:cNvSpPr txBox="1"/>
          <p:nvPr/>
        </p:nvSpPr>
        <p:spPr>
          <a:xfrm>
            <a:off x="3401568" y="1810512"/>
            <a:ext cx="411480" cy="548640"/>
          </a:xfrm>
          <a:prstGeom prst="rect">
            <a:avLst/>
          </a:prstGeom>
          <a:noFill/>
        </p:spPr>
        <p:txBody>
          <a:bodyPr wrap="square" lIns="0" rIns="0" tIns="0" bIns="0">
            <a:spAutoFit/>
          </a:bodyPr>
          <a:lstStyle/>
          <a:p>
            <a:pPr algn="ctr"/>
            <a:r>
              <a:rPr sz="2200" b="1" i="0">
                <a:solidFill>
                  <a:srgbClr val="FFCF4D"/>
                </a:solidFill>
                <a:latin typeface="Arial"/>
              </a:rPr>
              <a:t>→</a:t>
            </a:r>
          </a:p>
        </p:txBody>
      </p:sp>
      <p:sp>
        <p:nvSpPr>
          <p:cNvPr id="9" name="Rounded Rectangle 8"/>
          <p:cNvSpPr/>
          <p:nvPr/>
        </p:nvSpPr>
        <p:spPr>
          <a:xfrm>
            <a:off x="3794759" y="1645920"/>
            <a:ext cx="2834640" cy="96012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23359" y="1645920"/>
            <a:ext cx="2377440" cy="960120"/>
          </a:xfrm>
          <a:prstGeom prst="rect">
            <a:avLst/>
          </a:prstGeom>
          <a:noFill/>
        </p:spPr>
        <p:txBody>
          <a:bodyPr wrap="square" lIns="0" rIns="0" tIns="0" bIns="0" anchor="ctr">
            <a:spAutoFit/>
          </a:bodyPr>
          <a:lstStyle/>
          <a:p>
            <a:pPr algn="l">
              <a:spcAft>
                <a:spcPts val="300"/>
              </a:spcAft>
            </a:pPr>
            <a:r>
              <a:rPr sz="1500" b="1" i="0">
                <a:solidFill>
                  <a:srgbClr val="39D353"/>
                </a:solidFill>
                <a:latin typeface="Arial"/>
              </a:rPr>
              <a:t>TRY</a:t>
            </a:r>
          </a:p>
          <a:p>
            <a:pPr algn="l"/>
            <a:r>
              <a:rPr sz="1050" b="0" i="0">
                <a:solidFill>
                  <a:srgbClr val="7E93B8"/>
                </a:solidFill>
                <a:latin typeface="Arial"/>
              </a:rPr>
              <a:t>run it in the simulator</a:t>
            </a:r>
          </a:p>
        </p:txBody>
      </p:sp>
      <p:sp>
        <p:nvSpPr>
          <p:cNvPr id="11" name="TextBox 10"/>
          <p:cNvSpPr txBox="1"/>
          <p:nvPr/>
        </p:nvSpPr>
        <p:spPr>
          <a:xfrm>
            <a:off x="6647688" y="1810512"/>
            <a:ext cx="411480" cy="548640"/>
          </a:xfrm>
          <a:prstGeom prst="rect">
            <a:avLst/>
          </a:prstGeom>
          <a:noFill/>
        </p:spPr>
        <p:txBody>
          <a:bodyPr wrap="square" lIns="0" rIns="0" tIns="0" bIns="0">
            <a:spAutoFit/>
          </a:bodyPr>
          <a:lstStyle/>
          <a:p>
            <a:pPr algn="ctr"/>
            <a:r>
              <a:rPr sz="2200" b="1" i="0">
                <a:solidFill>
                  <a:srgbClr val="FFCF4D"/>
                </a:solidFill>
                <a:latin typeface="Arial"/>
              </a:rPr>
              <a:t>→</a:t>
            </a:r>
          </a:p>
        </p:txBody>
      </p:sp>
      <p:sp>
        <p:nvSpPr>
          <p:cNvPr id="12" name="Rounded Rectangle 11"/>
          <p:cNvSpPr/>
          <p:nvPr/>
        </p:nvSpPr>
        <p:spPr>
          <a:xfrm>
            <a:off x="7040879" y="1645920"/>
            <a:ext cx="2834640" cy="96012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69479" y="1645920"/>
            <a:ext cx="2377440" cy="960120"/>
          </a:xfrm>
          <a:prstGeom prst="rect">
            <a:avLst/>
          </a:prstGeom>
          <a:noFill/>
        </p:spPr>
        <p:txBody>
          <a:bodyPr wrap="square" lIns="0" rIns="0" tIns="0" bIns="0" anchor="ctr">
            <a:spAutoFit/>
          </a:bodyPr>
          <a:lstStyle/>
          <a:p>
            <a:pPr algn="l">
              <a:spcAft>
                <a:spcPts val="300"/>
              </a:spcAft>
            </a:pPr>
            <a:r>
              <a:rPr sz="1500" b="1" i="0">
                <a:solidFill>
                  <a:srgbClr val="39D353"/>
                </a:solidFill>
                <a:latin typeface="Arial"/>
              </a:rPr>
              <a:t>OBSERVE</a:t>
            </a:r>
          </a:p>
          <a:p>
            <a:pPr algn="l"/>
            <a:r>
              <a:rPr sz="1050" b="0" i="0">
                <a:solidFill>
                  <a:srgbClr val="7E93B8"/>
                </a:solidFill>
                <a:latin typeface="Arial"/>
              </a:rPr>
              <a:t>note what actually changed</a:t>
            </a:r>
          </a:p>
        </p:txBody>
      </p:sp>
      <p:sp>
        <p:nvSpPr>
          <p:cNvPr id="14" name="Oval 13"/>
          <p:cNvSpPr/>
          <p:nvPr/>
        </p:nvSpPr>
        <p:spPr>
          <a:xfrm>
            <a:off x="690371" y="3278124"/>
            <a:ext cx="118872" cy="118872"/>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3200400"/>
            <a:ext cx="10607040" cy="685800"/>
          </a:xfrm>
          <a:prstGeom prst="rect">
            <a:avLst/>
          </a:prstGeom>
          <a:noFill/>
        </p:spPr>
        <p:txBody>
          <a:bodyPr wrap="square" lIns="0" rIns="0" tIns="0" bIns="0">
            <a:spAutoFit/>
          </a:bodyPr>
          <a:lstStyle/>
          <a:p>
            <a:pPr algn="l"/>
            <a:r>
              <a:rPr sz="1350" b="0" i="0">
                <a:solidFill>
                  <a:srgbClr val="CFE3FF"/>
                </a:solidFill>
                <a:latin typeface="Arial"/>
              </a:rPr>
              <a:t>Drive the simulator: pan, zoom, rotate, warp time — R resets everything.</a:t>
            </a:r>
          </a:p>
        </p:txBody>
      </p:sp>
      <p:sp>
        <p:nvSpPr>
          <p:cNvPr id="16" name="Oval 15"/>
          <p:cNvSpPr/>
          <p:nvPr/>
        </p:nvSpPr>
        <p:spPr>
          <a:xfrm>
            <a:off x="690371" y="3991356"/>
            <a:ext cx="118872" cy="118872"/>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913632"/>
            <a:ext cx="10607040" cy="685800"/>
          </a:xfrm>
          <a:prstGeom prst="rect">
            <a:avLst/>
          </a:prstGeom>
          <a:noFill/>
        </p:spPr>
        <p:txBody>
          <a:bodyPr wrap="square" lIns="0" rIns="0" tIns="0" bIns="0">
            <a:spAutoFit/>
          </a:bodyPr>
          <a:lstStyle/>
          <a:p>
            <a:pPr algn="l"/>
            <a:r>
              <a:rPr sz="1350" b="0" i="0">
                <a:solidFill>
                  <a:srgbClr val="CFE3FF"/>
                </a:solidFill>
                <a:latin typeface="Arial"/>
              </a:rPr>
              <a:t>Meet the real orbits one at a time: ISS, Starlink shells, GPS, the GEO belt.</a:t>
            </a:r>
          </a:p>
        </p:txBody>
      </p:sp>
      <p:sp>
        <p:nvSpPr>
          <p:cNvPr id="18" name="Oval 17"/>
          <p:cNvSpPr/>
          <p:nvPr/>
        </p:nvSpPr>
        <p:spPr>
          <a:xfrm>
            <a:off x="690371" y="4704588"/>
            <a:ext cx="118872" cy="118872"/>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4626864"/>
            <a:ext cx="10607040" cy="685800"/>
          </a:xfrm>
          <a:prstGeom prst="rect">
            <a:avLst/>
          </a:prstGeom>
          <a:noFill/>
        </p:spPr>
        <p:txBody>
          <a:bodyPr wrap="square" lIns="0" rIns="0" tIns="0" bIns="0">
            <a:spAutoFit/>
          </a:bodyPr>
          <a:lstStyle/>
          <a:p>
            <a:pPr algn="l"/>
            <a:r>
              <a:rPr sz="1350" b="0" i="0">
                <a:solidFill>
                  <a:srgbClr val="CFE3FF"/>
                </a:solidFill>
                <a:latin typeface="Arial"/>
              </a:rPr>
              <a:t>Inject your own objects at 600 km and climb the speed ladder: crash → circle → ellipse → escape.</a:t>
            </a:r>
          </a:p>
        </p:txBody>
      </p:sp>
      <p:sp>
        <p:nvSpPr>
          <p:cNvPr id="20" name="Oval 19"/>
          <p:cNvSpPr/>
          <p:nvPr/>
        </p:nvSpPr>
        <p:spPr>
          <a:xfrm>
            <a:off x="690371" y="5417820"/>
            <a:ext cx="118872" cy="118872"/>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5340096"/>
            <a:ext cx="10607040" cy="685800"/>
          </a:xfrm>
          <a:prstGeom prst="rect">
            <a:avLst/>
          </a:prstGeom>
          <a:noFill/>
        </p:spPr>
        <p:txBody>
          <a:bodyPr wrap="square" lIns="0" rIns="0" tIns="0" bIns="0">
            <a:spAutoFit/>
          </a:bodyPr>
          <a:lstStyle/>
          <a:p>
            <a:pPr algn="l"/>
            <a:r>
              <a:rPr sz="1350" b="0" i="0">
                <a:solidFill>
                  <a:srgbClr val="CFE3FF"/>
                </a:solidFill>
                <a:latin typeface="Arial"/>
              </a:rPr>
              <a:t>Fire a 7-speed fan from one point and watch a whole family of orbits bloom.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50A14"/>
        </a:solidFill>
        <a:effectLst/>
      </p:bgPr>
    </p:bg>
    <p:spTree>
      <p:nvGrpSpPr>
        <p:cNvPr id="1" name=""/>
        <p:cNvGrpSpPr/>
        <p:nvPr/>
      </p:nvGrpSpPr>
      <p:grpSpPr/>
      <p:sp>
        <p:nvSpPr>
          <p:cNvPr id="2" name="Oval 1"/>
          <p:cNvSpPr/>
          <p:nvPr/>
        </p:nvSpPr>
        <p:spPr>
          <a:xfrm>
            <a:off x="4953304" y="548640"/>
            <a:ext cx="2286000" cy="822960"/>
          </a:xfrm>
          <a:prstGeom prst="ellipse">
            <a:avLst/>
          </a:prstGeom>
          <a:noFill/>
          <a:ln w="15875">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189012" y="909828"/>
            <a:ext cx="100584" cy="100584"/>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055156" y="507492"/>
            <a:ext cx="82296" cy="82296"/>
          </a:xfrm>
          <a:prstGeom prst="ellipse">
            <a:avLst/>
          </a:prstGeom>
          <a:solidFill>
            <a:srgbClr val="39D3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737360"/>
            <a:ext cx="9966960" cy="365760"/>
          </a:xfrm>
          <a:prstGeom prst="rect">
            <a:avLst/>
          </a:prstGeom>
          <a:noFill/>
        </p:spPr>
        <p:txBody>
          <a:bodyPr wrap="square" lIns="0" rIns="0" tIns="0" bIns="0">
            <a:spAutoFit/>
          </a:bodyPr>
          <a:lstStyle/>
          <a:p>
            <a:pPr algn="ctr"/>
            <a:r>
              <a:rPr sz="1250" b="1" i="0">
                <a:solidFill>
                  <a:srgbClr val="FFCF4D"/>
                </a:solidFill>
                <a:latin typeface="Arial"/>
              </a:rPr>
              <a:t>THE ONE THING TO REMEMBER</a:t>
            </a:r>
          </a:p>
        </p:txBody>
      </p:sp>
      <p:sp>
        <p:nvSpPr>
          <p:cNvPr id="6" name="TextBox 5"/>
          <p:cNvSpPr txBox="1"/>
          <p:nvPr/>
        </p:nvSpPr>
        <p:spPr>
          <a:xfrm>
            <a:off x="1234440" y="2743200"/>
            <a:ext cx="9692640" cy="2011680"/>
          </a:xfrm>
          <a:prstGeom prst="rect">
            <a:avLst/>
          </a:prstGeom>
          <a:noFill/>
        </p:spPr>
        <p:txBody>
          <a:bodyPr wrap="square" lIns="0" rIns="0" tIns="0" bIns="0">
            <a:spAutoFit/>
          </a:bodyPr>
          <a:lstStyle/>
          <a:p>
            <a:pPr algn="ctr"/>
            <a:r>
              <a:rPr sz="2900" b="1" i="0">
                <a:solidFill>
                  <a:srgbClr val="5FD0FF"/>
                </a:solidFill>
                <a:latin typeface="Arial"/>
              </a:rPr>
              <a:t>An orbit is falling sideways fast enough to keep missing the Earth.</a:t>
            </a:r>
          </a:p>
        </p:txBody>
      </p:sp>
      <p:sp>
        <p:nvSpPr>
          <p:cNvPr id="7" name="TextBox 6"/>
          <p:cNvSpPr txBox="1"/>
          <p:nvPr/>
        </p:nvSpPr>
        <p:spPr>
          <a:xfrm>
            <a:off x="1097280" y="5212080"/>
            <a:ext cx="9966960" cy="457200"/>
          </a:xfrm>
          <a:prstGeom prst="rect">
            <a:avLst/>
          </a:prstGeom>
          <a:noFill/>
        </p:spPr>
        <p:txBody>
          <a:bodyPr wrap="square" lIns="0" rIns="0" tIns="0" bIns="0">
            <a:spAutoFit/>
          </a:bodyPr>
          <a:lstStyle/>
          <a:p>
            <a:pPr algn="ctr"/>
            <a:r>
              <a:rPr sz="1500" b="1" i="0">
                <a:solidFill>
                  <a:srgbClr val="39D353"/>
                </a:solidFill>
                <a:latin typeface="Arial"/>
              </a:rPr>
              <a:t>Open Worksheet 1 and keep the simulator beside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50A14"/>
        </a:solidFill>
        <a:effectLst/>
      </p:bgPr>
    </p:bg>
    <p:spTree>
      <p:nvGrpSpPr>
        <p:cNvPr id="1" name=""/>
        <p:cNvGrpSpPr/>
        <p:nvPr/>
      </p:nvGrpSpPr>
      <p:grpSpPr/>
      <p:sp>
        <p:nvSpPr>
          <p:cNvPr id="2" name="TextBox 1"/>
          <p:cNvSpPr txBox="1"/>
          <p:nvPr/>
        </p:nvSpPr>
        <p:spPr>
          <a:xfrm>
            <a:off x="548640" y="384048"/>
            <a:ext cx="8686800" cy="292608"/>
          </a:xfrm>
          <a:prstGeom prst="rect">
            <a:avLst/>
          </a:prstGeom>
          <a:noFill/>
        </p:spPr>
        <p:txBody>
          <a:bodyPr wrap="square" lIns="0" rIns="0" tIns="0" bIns="0">
            <a:spAutoFit/>
          </a:bodyPr>
          <a:lstStyle/>
          <a:p>
            <a:pPr algn="l"/>
            <a:r>
              <a:rPr sz="1100" b="1" i="0">
                <a:solidFill>
                  <a:srgbClr val="FFCF4D"/>
                </a:solidFill>
                <a:latin typeface="Arial"/>
              </a:rPr>
              <a:t>MODULE 1 · ORBIT ACADEMY</a:t>
            </a:r>
          </a:p>
        </p:txBody>
      </p:sp>
      <p:sp>
        <p:nvSpPr>
          <p:cNvPr id="3" name="TextBox 2"/>
          <p:cNvSpPr txBox="1"/>
          <p:nvPr/>
        </p:nvSpPr>
        <p:spPr>
          <a:xfrm>
            <a:off x="548640" y="676656"/>
            <a:ext cx="10058400" cy="640080"/>
          </a:xfrm>
          <a:prstGeom prst="rect">
            <a:avLst/>
          </a:prstGeom>
          <a:noFill/>
        </p:spPr>
        <p:txBody>
          <a:bodyPr wrap="square" lIns="0" rIns="0" tIns="0" bIns="0">
            <a:spAutoFit/>
          </a:bodyPr>
          <a:lstStyle/>
          <a:p>
            <a:pPr algn="l"/>
            <a:r>
              <a:rPr sz="2700" b="1" i="0">
                <a:solidFill>
                  <a:srgbClr val="5FD0FF"/>
                </a:solidFill>
                <a:latin typeface="Arial"/>
              </a:rPr>
              <a:t>Driving the simulator</a:t>
            </a:r>
          </a:p>
        </p:txBody>
      </p:sp>
      <p:sp>
        <p:nvSpPr>
          <p:cNvPr id="4" name="Oval 3"/>
          <p:cNvSpPr/>
          <p:nvPr/>
        </p:nvSpPr>
        <p:spPr>
          <a:xfrm>
            <a:off x="10835640" y="484632"/>
            <a:ext cx="914400" cy="347472"/>
          </a:xfrm>
          <a:prstGeom prst="ellipse">
            <a:avLst/>
          </a:prstGeom>
          <a:noFill/>
          <a:ln w="12700">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708892" y="617219"/>
            <a:ext cx="82296" cy="82296"/>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645920"/>
            <a:ext cx="2834640" cy="96012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45920"/>
            <a:ext cx="2377440" cy="960120"/>
          </a:xfrm>
          <a:prstGeom prst="rect">
            <a:avLst/>
          </a:prstGeom>
          <a:noFill/>
        </p:spPr>
        <p:txBody>
          <a:bodyPr wrap="square" lIns="0" rIns="0" tIns="0" bIns="0" anchor="ctr">
            <a:spAutoFit/>
          </a:bodyPr>
          <a:lstStyle/>
          <a:p>
            <a:pPr algn="l">
              <a:spcAft>
                <a:spcPts val="300"/>
              </a:spcAft>
            </a:pPr>
            <a:r>
              <a:rPr sz="1500" b="1" i="0">
                <a:solidFill>
                  <a:srgbClr val="39D353"/>
                </a:solidFill>
                <a:latin typeface="Arial"/>
              </a:rPr>
              <a:t>🖱 MOUSE</a:t>
            </a:r>
          </a:p>
          <a:p>
            <a:pPr algn="l"/>
            <a:r>
              <a:rPr sz="1050" b="0" i="0">
                <a:solidFill>
                  <a:srgbClr val="7E93B8"/>
                </a:solidFill>
                <a:latin typeface="Arial"/>
              </a:rPr>
              <a:t>drag = pan · wheel = zoom · Shift-drag = rotate</a:t>
            </a:r>
          </a:p>
        </p:txBody>
      </p:sp>
      <p:sp>
        <p:nvSpPr>
          <p:cNvPr id="9" name="Rounded Rectangle 8"/>
          <p:cNvSpPr/>
          <p:nvPr/>
        </p:nvSpPr>
        <p:spPr>
          <a:xfrm>
            <a:off x="3794759" y="1645920"/>
            <a:ext cx="2834640" cy="96012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23359" y="1645920"/>
            <a:ext cx="2377440" cy="960120"/>
          </a:xfrm>
          <a:prstGeom prst="rect">
            <a:avLst/>
          </a:prstGeom>
          <a:noFill/>
        </p:spPr>
        <p:txBody>
          <a:bodyPr wrap="square" lIns="0" rIns="0" tIns="0" bIns="0" anchor="ctr">
            <a:spAutoFit/>
          </a:bodyPr>
          <a:lstStyle/>
          <a:p>
            <a:pPr algn="l">
              <a:spcAft>
                <a:spcPts val="300"/>
              </a:spcAft>
            </a:pPr>
            <a:r>
              <a:rPr sz="1500" b="1" i="0">
                <a:solidFill>
                  <a:srgbClr val="39D353"/>
                </a:solidFill>
                <a:latin typeface="Arial"/>
              </a:rPr>
              <a:t>⬅ ➡ ⬆ ⬇ ARROWS</a:t>
            </a:r>
          </a:p>
          <a:p>
            <a:pPr algn="l"/>
            <a:r>
              <a:rPr sz="1050" b="0" i="0">
                <a:solidFill>
                  <a:srgbClr val="7E93B8"/>
                </a:solidFill>
                <a:latin typeface="Arial"/>
              </a:rPr>
              <a:t>steady rotation — line up an edge-on view</a:t>
            </a:r>
          </a:p>
        </p:txBody>
      </p:sp>
      <p:sp>
        <p:nvSpPr>
          <p:cNvPr id="12" name="Rounded Rectangle 11"/>
          <p:cNvSpPr/>
          <p:nvPr/>
        </p:nvSpPr>
        <p:spPr>
          <a:xfrm>
            <a:off x="7040879" y="1645920"/>
            <a:ext cx="2834640" cy="96012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69479" y="1645920"/>
            <a:ext cx="2377440" cy="960120"/>
          </a:xfrm>
          <a:prstGeom prst="rect">
            <a:avLst/>
          </a:prstGeom>
          <a:noFill/>
        </p:spPr>
        <p:txBody>
          <a:bodyPr wrap="square" lIns="0" rIns="0" tIns="0" bIns="0" anchor="ctr">
            <a:spAutoFit/>
          </a:bodyPr>
          <a:lstStyle/>
          <a:p>
            <a:pPr algn="l">
              <a:spcAft>
                <a:spcPts val="300"/>
              </a:spcAft>
            </a:pPr>
            <a:r>
              <a:rPr sz="1500" b="1" i="0">
                <a:solidFill>
                  <a:srgbClr val="39D353"/>
                </a:solidFill>
                <a:latin typeface="Arial"/>
              </a:rPr>
              <a:t>, and .</a:t>
            </a:r>
          </a:p>
          <a:p>
            <a:pPr algn="l"/>
            <a:r>
              <a:rPr sz="1050" b="0" i="0">
                <a:solidFill>
                  <a:srgbClr val="7E93B8"/>
                </a:solidFill>
                <a:latin typeface="Arial"/>
              </a:rPr>
              <a:t>time flow: slower / faster</a:t>
            </a:r>
          </a:p>
        </p:txBody>
      </p:sp>
      <p:sp>
        <p:nvSpPr>
          <p:cNvPr id="14" name="Oval 13"/>
          <p:cNvSpPr/>
          <p:nvPr/>
        </p:nvSpPr>
        <p:spPr>
          <a:xfrm>
            <a:off x="690371" y="3278124"/>
            <a:ext cx="118872" cy="118872"/>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3200400"/>
            <a:ext cx="10607040" cy="685800"/>
          </a:xfrm>
          <a:prstGeom prst="rect">
            <a:avLst/>
          </a:prstGeom>
          <a:noFill/>
        </p:spPr>
        <p:txBody>
          <a:bodyPr wrap="square" lIns="0" rIns="0" tIns="0" bIns="0">
            <a:spAutoFit/>
          </a:bodyPr>
          <a:lstStyle/>
          <a:p>
            <a:pPr algn="l"/>
            <a:r>
              <a:rPr sz="1350" b="0" i="0">
                <a:solidFill>
                  <a:srgbClr val="CFE3FF"/>
                </a:solidFill>
                <a:latin typeface="Arial"/>
              </a:rPr>
              <a:t>You are a camera flying around a fixed scene — dragging does not move the Earth, it moves you. R resets the view if you get lost.</a:t>
            </a:r>
          </a:p>
        </p:txBody>
      </p:sp>
      <p:sp>
        <p:nvSpPr>
          <p:cNvPr id="16" name="Oval 15"/>
          <p:cNvSpPr/>
          <p:nvPr/>
        </p:nvSpPr>
        <p:spPr>
          <a:xfrm>
            <a:off x="690371" y="3991356"/>
            <a:ext cx="118872" cy="118872"/>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913632"/>
            <a:ext cx="10607040" cy="685800"/>
          </a:xfrm>
          <a:prstGeom prst="rect">
            <a:avLst/>
          </a:prstGeom>
          <a:noFill/>
        </p:spPr>
        <p:txBody>
          <a:bodyPr wrap="square" lIns="0" rIns="0" tIns="0" bIns="0">
            <a:spAutoFit/>
          </a:bodyPr>
          <a:lstStyle/>
          <a:p>
            <a:pPr algn="l"/>
            <a:r>
              <a:rPr sz="1350" b="0" i="0">
                <a:solidFill>
                  <a:srgbClr val="CFE3FF"/>
                </a:solidFill>
                <a:latin typeface="Arial"/>
              </a:rPr>
              <a:t>Use the ARROW KEYS to tip the view until an orbit is exactly edge-on: that is how you judge its tilt (inclination) by eye.</a:t>
            </a:r>
          </a:p>
        </p:txBody>
      </p:sp>
      <p:sp>
        <p:nvSpPr>
          <p:cNvPr id="18" name="Oval 17"/>
          <p:cNvSpPr/>
          <p:nvPr/>
        </p:nvSpPr>
        <p:spPr>
          <a:xfrm>
            <a:off x="690371" y="4704588"/>
            <a:ext cx="118872" cy="118872"/>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4626864"/>
            <a:ext cx="10607040" cy="685800"/>
          </a:xfrm>
          <a:prstGeom prst="rect">
            <a:avLst/>
          </a:prstGeom>
          <a:noFill/>
        </p:spPr>
        <p:txBody>
          <a:bodyPr wrap="square" lIns="0" rIns="0" tIns="0" bIns="0">
            <a:spAutoFit/>
          </a:bodyPr>
          <a:lstStyle/>
          <a:p>
            <a:pPr algn="l"/>
            <a:r>
              <a:rPr sz="1350" b="0" i="0">
                <a:solidFill>
                  <a:srgbClr val="CFE3FF"/>
                </a:solidFill>
                <a:latin typeface="Arial"/>
              </a:rPr>
              <a:t>A LEO lap takes ~90 minutes and GEO takes a day, so , and . are not a gimmick — without time warp, most of this course is too slow to watch.</a:t>
            </a:r>
          </a:p>
        </p:txBody>
      </p:sp>
      <p:sp>
        <p:nvSpPr>
          <p:cNvPr id="20" name="Oval 19"/>
          <p:cNvSpPr/>
          <p:nvPr/>
        </p:nvSpPr>
        <p:spPr>
          <a:xfrm>
            <a:off x="690371" y="5417820"/>
            <a:ext cx="118872" cy="118872"/>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5340096"/>
            <a:ext cx="10607040" cy="685800"/>
          </a:xfrm>
          <a:prstGeom prst="rect">
            <a:avLst/>
          </a:prstGeom>
          <a:noFill/>
        </p:spPr>
        <p:txBody>
          <a:bodyPr wrap="square" lIns="0" rIns="0" tIns="0" bIns="0">
            <a:spAutoFit/>
          </a:bodyPr>
          <a:lstStyle/>
          <a:p>
            <a:pPr algn="l"/>
            <a:r>
              <a:rPr sz="1350" b="0" i="0">
                <a:solidFill>
                  <a:srgbClr val="CFE3FF"/>
                </a:solidFill>
                <a:latin typeface="Arial"/>
              </a:rPr>
              <a:t>The left panel is the control board: tick boxes switch real constellations on, the three sliders set up your own object, and ◇ INJECT OBJECT launches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