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4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71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4 adds change to the static picture: deliberate burns and the slow push of perturbations. Two big ideas — delta-v is a finite budget, and tangential burns are efficient while radial ones are wasteful, even paradoxical. This is also where prediction starts to break down.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SDA framing writes itself: every TLE goes stale, and a maneuver makes it stale instantly. Understanding the cost of maneuvers tells you what an adversary can afford to do. And nature maneuvers everything for free — drag, radiation pressure, and Earth's oblateness never switch off.</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Direction matters more than effort: burns along the velocity vector change orbital energy efficiently, while radial burns do almost no useful work. The radial-burn crash is the great counter-intuitive demo — pushing up brings you down. The limit case, cancelling all tangential speed, drops the satellite straight into the planet.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Hohmann-style transfer is the workhorse: one prograde burn stretches the orbit until apogee touches GEO, a second burn at apogee circularizes. About 2,400 plus 1,460 meters per second — roughly 3,860 against a 4,000 budget, so there is little margin for sloppy flying. Students race their own strategy against this recipe in the worksheet and lose.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Perturbations are the forces beyond ideal gravity: drag ends missions below about 1,000 km, radiation pressure shoves lightweight debris, and the equatorial bulge swivels orbit planes. Give the drag paradox its moment — losing energy drops you to a lower, faster orbit. Escape velocity marks the outer edge of the bound-orbit world.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Pick about 98 degrees of inclination and J2 swivels the plane 0.9856 degrees per day — one full turn per year, keeping pace with the Sun. The result crosses every target at the same local solar time, which is why imaging satellites cluster there. Close on the operational moral: drift is universal, so tracking is a continuous activity called custody.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freeform LEO-to-GEO challenge comes first on purpose: students burn twice the fuel, then discover the recipe. The decay and disposal scenes connect perturbations to real end-of-life practice. Keep the delta-v tally visible — it is the module's scorekeeping.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maneuver has a price in meters per second, and the tank never refills. Efficient missions spend along the velocity vector; nature spends against everyone continuously. That tension — budgets versus drift — is the rest of the course.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640080" y="777240"/>
            <a:ext cx="8229600" cy="365760"/>
          </a:xfrm>
          <a:prstGeom prst="rect">
            <a:avLst/>
          </a:prstGeom>
          <a:noFill/>
        </p:spPr>
        <p:txBody>
          <a:bodyPr wrap="square" lIns="0" tIns="0" rIns="0" bIns="0">
            <a:spAutoFit/>
          </a:bodyPr>
          <a:lstStyle/>
          <a:p>
            <a:pPr algn="l"/>
            <a:r>
              <a:rPr sz="1300" b="1" i="0">
                <a:solidFill>
                  <a:srgbClr val="FFCF4D"/>
                </a:solidFill>
                <a:latin typeface="Arial"/>
              </a:rPr>
              <a:t>ORBIT ACADEMY — CISLUNAR FUNDAMENTALS</a:t>
            </a:r>
          </a:p>
        </p:txBody>
      </p:sp>
      <p:sp>
        <p:nvSpPr>
          <p:cNvPr id="3" name="TextBox 2"/>
          <p:cNvSpPr txBox="1"/>
          <p:nvPr/>
        </p:nvSpPr>
        <p:spPr>
          <a:xfrm>
            <a:off x="640080" y="1783080"/>
            <a:ext cx="3657600" cy="365760"/>
          </a:xfrm>
          <a:prstGeom prst="rect">
            <a:avLst/>
          </a:prstGeom>
          <a:noFill/>
        </p:spPr>
        <p:txBody>
          <a:bodyPr wrap="square" lIns="0" tIns="0" rIns="0" bIns="0">
            <a:spAutoFit/>
          </a:bodyPr>
          <a:lstStyle/>
          <a:p>
            <a:pPr algn="l"/>
            <a:r>
              <a:rPr sz="1500" b="1" i="0">
                <a:solidFill>
                  <a:srgbClr val="7E93B8"/>
                </a:solidFill>
                <a:latin typeface="Arial"/>
              </a:rPr>
              <a:t>MODULE 4</a:t>
            </a:r>
          </a:p>
        </p:txBody>
      </p:sp>
      <p:sp>
        <p:nvSpPr>
          <p:cNvPr id="4" name="TextBox 3"/>
          <p:cNvSpPr txBox="1"/>
          <p:nvPr/>
        </p:nvSpPr>
        <p:spPr>
          <a:xfrm>
            <a:off x="640080" y="2194560"/>
            <a:ext cx="6766560" cy="1737360"/>
          </a:xfrm>
          <a:prstGeom prst="rect">
            <a:avLst/>
          </a:prstGeom>
          <a:noFill/>
        </p:spPr>
        <p:txBody>
          <a:bodyPr wrap="square" lIns="0" tIns="0" rIns="0" bIns="0">
            <a:spAutoFit/>
          </a:bodyPr>
          <a:lstStyle/>
          <a:p>
            <a:pPr algn="l"/>
            <a:r>
              <a:rPr sz="4000" b="1" i="0">
                <a:solidFill>
                  <a:srgbClr val="5FD0FF"/>
                </a:solidFill>
                <a:latin typeface="Arial"/>
              </a:rPr>
              <a:t>Maneuvers &amp; Perturbations</a:t>
            </a:r>
          </a:p>
        </p:txBody>
      </p:sp>
      <p:sp>
        <p:nvSpPr>
          <p:cNvPr id="5" name="TextBox 4"/>
          <p:cNvSpPr txBox="1"/>
          <p:nvPr/>
        </p:nvSpPr>
        <p:spPr>
          <a:xfrm>
            <a:off x="640080" y="4160520"/>
            <a:ext cx="5943600" cy="1280160"/>
          </a:xfrm>
          <a:prstGeom prst="rect">
            <a:avLst/>
          </a:prstGeom>
          <a:noFill/>
        </p:spPr>
        <p:txBody>
          <a:bodyPr wrap="square" lIns="0" tIns="0" rIns="0" bIns="0">
            <a:spAutoFit/>
          </a:bodyPr>
          <a:lstStyle/>
          <a:p>
            <a:pPr algn="l"/>
            <a:r>
              <a:rPr sz="1500" b="0" i="1">
                <a:solidFill>
                  <a:srgbClr val="CFE3FF"/>
                </a:solidFill>
                <a:latin typeface="Arial"/>
              </a:rPr>
              <a:t>Delta-v is the currency of spaceflight — learn to spend it wisely, and to notice when someone else is spending theirs.</a:t>
            </a:r>
          </a:p>
        </p:txBody>
      </p:sp>
      <p:sp>
        <p:nvSpPr>
          <p:cNvPr id="6" name="Oval 5"/>
          <p:cNvSpPr/>
          <p:nvPr/>
        </p:nvSpPr>
        <p:spPr>
          <a:xfrm>
            <a:off x="7543800" y="2697479"/>
            <a:ext cx="4206240" cy="1554480"/>
          </a:xfrm>
          <a:prstGeom prst="ellipse">
            <a:avLst/>
          </a:prstGeom>
          <a:noFill/>
          <a:ln w="15875">
            <a:solidFill>
              <a:srgbClr val="5FD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458200" y="2286000"/>
            <a:ext cx="2377440" cy="2377440"/>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0" y="2971800"/>
            <a:ext cx="1005840" cy="1005840"/>
          </a:xfrm>
          <a:prstGeom prst="ellipse">
            <a:avLst/>
          </a:prstGeom>
          <a:solidFill>
            <a:srgbClr val="0E2A4A"/>
          </a:solid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90604" y="341528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596628" y="2235708"/>
            <a:ext cx="100584" cy="100584"/>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4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Why you care</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45920"/>
            <a:ext cx="11064240" cy="1097280"/>
          </a:xfrm>
          <a:prstGeom prst="rect">
            <a:avLst/>
          </a:prstGeom>
          <a:noFill/>
        </p:spPr>
        <p:txBody>
          <a:bodyPr wrap="square" lIns="0" tIns="0" rIns="0" bIns="0">
            <a:spAutoFit/>
          </a:bodyPr>
          <a:lstStyle/>
          <a:p>
            <a:pPr algn="l"/>
            <a:r>
              <a:rPr sz="2100" b="1" i="0">
                <a:solidFill>
                  <a:srgbClr val="EAF4FF"/>
                </a:solidFill>
                <a:latin typeface="Arial"/>
              </a:rPr>
              <a:t>A satellite that maneuvers is a satellite your catalog no longer knows.</a:t>
            </a:r>
          </a:p>
        </p:txBody>
      </p:sp>
      <p:sp>
        <p:nvSpPr>
          <p:cNvPr id="7" name="Rounded Rectangle 6"/>
          <p:cNvSpPr/>
          <p:nvPr/>
        </p:nvSpPr>
        <p:spPr>
          <a:xfrm>
            <a:off x="548640"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The tank is finite</a:t>
            </a:r>
          </a:p>
          <a:p>
            <a:pPr algn="l"/>
            <a:r>
              <a:rPr sz="1250" b="0" i="0">
                <a:solidFill>
                  <a:srgbClr val="CFE3FF"/>
                </a:solidFill>
                <a:latin typeface="Arial"/>
              </a:rPr>
              <a:t>Delta-v is the fuel gauge of a mission. When it's spent, the mission is over.</a:t>
            </a:r>
          </a:p>
        </p:txBody>
      </p:sp>
      <p:sp>
        <p:nvSpPr>
          <p:cNvPr id="9" name="Rounded Rectangle 8"/>
          <p:cNvSpPr/>
          <p:nvPr/>
        </p:nvSpPr>
        <p:spPr>
          <a:xfrm>
            <a:off x="4370831"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6864"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Burns follow rules</a:t>
            </a:r>
          </a:p>
          <a:p>
            <a:pPr algn="l"/>
            <a:r>
              <a:rPr sz="1250" b="0" i="0">
                <a:solidFill>
                  <a:srgbClr val="CFE3FF"/>
                </a:solidFill>
                <a:latin typeface="Arial"/>
              </a:rPr>
              <a:t>orbit changes are physics, not magic — you can predict what a burn can and cannot do.</a:t>
            </a:r>
          </a:p>
        </p:txBody>
      </p:sp>
      <p:sp>
        <p:nvSpPr>
          <p:cNvPr id="11" name="Rounded Rectangle 10"/>
          <p:cNvSpPr/>
          <p:nvPr/>
        </p:nvSpPr>
        <p:spPr>
          <a:xfrm>
            <a:off x="8193023"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49055"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Everything drifts</a:t>
            </a:r>
          </a:p>
          <a:p>
            <a:pPr algn="l"/>
            <a:r>
              <a:rPr sz="1250" b="0" i="0">
                <a:solidFill>
                  <a:srgbClr val="CFE3FF"/>
                </a:solidFill>
                <a:latin typeface="Arial"/>
              </a:rPr>
              <a:t>drag, sunlight, Earth's bulge — even quiet satellites wander off their TLEs.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2" name="Up-Down Arrow 21">
            <a:extLst>
              <a:ext uri="{FF2B5EF4-FFF2-40B4-BE49-F238E27FC236}">
                <a16:creationId xmlns:a16="http://schemas.microsoft.com/office/drawing/2014/main" id="{D62857D8-48D0-541A-0E74-91F51A9787BE}"/>
              </a:ext>
            </a:extLst>
          </p:cNvPr>
          <p:cNvSpPr/>
          <p:nvPr/>
        </p:nvSpPr>
        <p:spPr>
          <a:xfrm rot="5400000">
            <a:off x="9216301" y="1461474"/>
            <a:ext cx="563526" cy="2217952"/>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Up-Down Arrow 20">
            <a:extLst>
              <a:ext uri="{FF2B5EF4-FFF2-40B4-BE49-F238E27FC236}">
                <a16:creationId xmlns:a16="http://schemas.microsoft.com/office/drawing/2014/main" id="{1AC35A8D-AC12-3DE3-DDE7-AE439692B4C9}"/>
              </a:ext>
            </a:extLst>
          </p:cNvPr>
          <p:cNvSpPr/>
          <p:nvPr/>
        </p:nvSpPr>
        <p:spPr>
          <a:xfrm>
            <a:off x="9144000" y="699515"/>
            <a:ext cx="563526" cy="1459412"/>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Arc 17">
            <a:extLst>
              <a:ext uri="{FF2B5EF4-FFF2-40B4-BE49-F238E27FC236}">
                <a16:creationId xmlns:a16="http://schemas.microsoft.com/office/drawing/2014/main" id="{622372F9-189F-1109-3D4F-4BAF75404CD6}"/>
              </a:ext>
            </a:extLst>
          </p:cNvPr>
          <p:cNvSpPr/>
          <p:nvPr/>
        </p:nvSpPr>
        <p:spPr>
          <a:xfrm>
            <a:off x="6528392" y="2556279"/>
            <a:ext cx="5656520" cy="686651"/>
          </a:xfrm>
          <a:prstGeom prst="arc">
            <a:avLst>
              <a:gd name="adj1" fmla="val 11287533"/>
              <a:gd name="adj2" fmla="val 21292019"/>
            </a:avLst>
          </a:prstGeom>
          <a:ln>
            <a:solidFill>
              <a:srgbClr val="FFFF00"/>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Can 14">
            <a:extLst>
              <a:ext uri="{FF2B5EF4-FFF2-40B4-BE49-F238E27FC236}">
                <a16:creationId xmlns:a16="http://schemas.microsoft.com/office/drawing/2014/main" id="{7EE8FF40-3C75-9CB2-80DC-881996542235}"/>
              </a:ext>
            </a:extLst>
          </p:cNvPr>
          <p:cNvSpPr/>
          <p:nvPr/>
        </p:nvSpPr>
        <p:spPr>
          <a:xfrm rot="5400000">
            <a:off x="9235440" y="2084832"/>
            <a:ext cx="482718" cy="941832"/>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4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Spend it tangentially</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080" y="170992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1</a:t>
            </a:r>
          </a:p>
        </p:txBody>
      </p:sp>
      <p:sp>
        <p:nvSpPr>
          <p:cNvPr id="7" name="TextBox 6"/>
          <p:cNvSpPr txBox="1"/>
          <p:nvPr/>
        </p:nvSpPr>
        <p:spPr>
          <a:xfrm>
            <a:off x="1234440" y="1691640"/>
            <a:ext cx="10332720" cy="960120"/>
          </a:xfrm>
          <a:prstGeom prst="rect">
            <a:avLst/>
          </a:prstGeom>
          <a:noFill/>
        </p:spPr>
        <p:txBody>
          <a:bodyPr wrap="square" lIns="0" tIns="0" rIns="0" bIns="0">
            <a:spAutoFit/>
          </a:bodyPr>
          <a:lstStyle/>
          <a:p>
            <a:pPr algn="l"/>
            <a:r>
              <a:rPr sz="1400" b="1" i="0" dirty="0">
                <a:solidFill>
                  <a:srgbClr val="EAF4FF"/>
                </a:solidFill>
                <a:latin typeface="Arial"/>
              </a:rPr>
              <a:t>Prograde / retrograde burns</a:t>
            </a:r>
            <a:r>
              <a:rPr sz="1300" b="0" i="0" dirty="0">
                <a:solidFill>
                  <a:srgbClr val="7E93B8"/>
                </a:solidFill>
                <a:latin typeface="Arial"/>
              </a:rPr>
              <a:t>  —  </a:t>
            </a:r>
            <a:r>
              <a:rPr sz="1250" b="0" i="0" dirty="0">
                <a:solidFill>
                  <a:srgbClr val="CFE3FF"/>
                </a:solidFill>
                <a:latin typeface="Arial"/>
              </a:rPr>
              <a:t>raise or lower the FAR side of the orbit — efficient</a:t>
            </a:r>
          </a:p>
        </p:txBody>
      </p:sp>
      <p:sp>
        <p:nvSpPr>
          <p:cNvPr id="8" name="Oval 7"/>
          <p:cNvSpPr/>
          <p:nvPr/>
        </p:nvSpPr>
        <p:spPr>
          <a:xfrm>
            <a:off x="640080" y="267004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2</a:t>
            </a:r>
          </a:p>
        </p:txBody>
      </p:sp>
      <p:sp>
        <p:nvSpPr>
          <p:cNvPr id="9" name="TextBox 8"/>
          <p:cNvSpPr txBox="1"/>
          <p:nvPr/>
        </p:nvSpPr>
        <p:spPr>
          <a:xfrm>
            <a:off x="1234440" y="2651760"/>
            <a:ext cx="10332720" cy="960120"/>
          </a:xfrm>
          <a:prstGeom prst="rect">
            <a:avLst/>
          </a:prstGeom>
          <a:noFill/>
        </p:spPr>
        <p:txBody>
          <a:bodyPr wrap="square" lIns="0" tIns="0" rIns="0" bIns="0">
            <a:spAutoFit/>
          </a:bodyPr>
          <a:lstStyle/>
          <a:p>
            <a:pPr algn="l"/>
            <a:r>
              <a:rPr sz="1400" b="1" i="0">
                <a:solidFill>
                  <a:srgbClr val="EAF4FF"/>
                </a:solidFill>
                <a:latin typeface="Arial"/>
              </a:rPr>
              <a:t>Radial burns</a:t>
            </a:r>
            <a:r>
              <a:rPr sz="1300" b="0" i="0">
                <a:solidFill>
                  <a:srgbClr val="7E93B8"/>
                </a:solidFill>
                <a:latin typeface="Arial"/>
              </a:rPr>
              <a:t>  —  </a:t>
            </a:r>
            <a:r>
              <a:rPr sz="1250" b="0" i="0">
                <a:solidFill>
                  <a:srgbClr val="CFE3FF"/>
                </a:solidFill>
                <a:latin typeface="Arial"/>
              </a:rPr>
              <a:t>barely change the orbit at all — mostly wasted fuel</a:t>
            </a:r>
          </a:p>
        </p:txBody>
      </p:sp>
      <p:sp>
        <p:nvSpPr>
          <p:cNvPr id="10" name="Oval 9"/>
          <p:cNvSpPr/>
          <p:nvPr/>
        </p:nvSpPr>
        <p:spPr>
          <a:xfrm>
            <a:off x="640080" y="363016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3</a:t>
            </a:r>
          </a:p>
        </p:txBody>
      </p:sp>
      <p:sp>
        <p:nvSpPr>
          <p:cNvPr id="11" name="TextBox 10"/>
          <p:cNvSpPr txBox="1"/>
          <p:nvPr/>
        </p:nvSpPr>
        <p:spPr>
          <a:xfrm>
            <a:off x="1234440" y="3611880"/>
            <a:ext cx="10332720" cy="960120"/>
          </a:xfrm>
          <a:prstGeom prst="rect">
            <a:avLst/>
          </a:prstGeom>
          <a:noFill/>
        </p:spPr>
        <p:txBody>
          <a:bodyPr wrap="square" lIns="0" tIns="0" rIns="0" bIns="0">
            <a:spAutoFit/>
          </a:bodyPr>
          <a:lstStyle/>
          <a:p>
            <a:pPr algn="l"/>
            <a:r>
              <a:rPr sz="1400" b="1" i="0">
                <a:solidFill>
                  <a:srgbClr val="EAF4FF"/>
                </a:solidFill>
                <a:latin typeface="Arial"/>
              </a:rPr>
              <a:t>The paradox</a:t>
            </a:r>
            <a:r>
              <a:rPr sz="1300" b="0" i="0">
                <a:solidFill>
                  <a:srgbClr val="7E93B8"/>
                </a:solidFill>
                <a:latin typeface="Arial"/>
              </a:rPr>
              <a:t>  —  </a:t>
            </a:r>
            <a:r>
              <a:rPr sz="1250" b="0" i="0">
                <a:solidFill>
                  <a:srgbClr val="CFE3FF"/>
                </a:solidFill>
                <a:latin typeface="Arial"/>
              </a:rPr>
              <a:t>pushing straight 'up' can drop your far side into the Earth</a:t>
            </a:r>
          </a:p>
        </p:txBody>
      </p:sp>
      <p:sp>
        <p:nvSpPr>
          <p:cNvPr id="12" name="Oval 11"/>
          <p:cNvSpPr/>
          <p:nvPr/>
        </p:nvSpPr>
        <p:spPr>
          <a:xfrm>
            <a:off x="640080" y="459028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4</a:t>
            </a:r>
          </a:p>
        </p:txBody>
      </p:sp>
      <p:sp>
        <p:nvSpPr>
          <p:cNvPr id="13" name="TextBox 12"/>
          <p:cNvSpPr txBox="1"/>
          <p:nvPr/>
        </p:nvSpPr>
        <p:spPr>
          <a:xfrm>
            <a:off x="1234440" y="4572000"/>
            <a:ext cx="10332720" cy="960120"/>
          </a:xfrm>
          <a:prstGeom prst="rect">
            <a:avLst/>
          </a:prstGeom>
          <a:noFill/>
        </p:spPr>
        <p:txBody>
          <a:bodyPr wrap="square" lIns="0" tIns="0" rIns="0" bIns="0">
            <a:spAutoFit/>
          </a:bodyPr>
          <a:lstStyle/>
          <a:p>
            <a:pPr algn="l"/>
            <a:r>
              <a:rPr sz="1400" b="1" i="0">
                <a:solidFill>
                  <a:srgbClr val="EAF4FF"/>
                </a:solidFill>
                <a:latin typeface="Arial"/>
              </a:rPr>
              <a:t>Kill your sideways speed</a:t>
            </a:r>
            <a:r>
              <a:rPr sz="1300" b="0" i="0">
                <a:solidFill>
                  <a:srgbClr val="7E93B8"/>
                </a:solidFill>
                <a:latin typeface="Arial"/>
              </a:rPr>
              <a:t>  —  </a:t>
            </a:r>
            <a:r>
              <a:rPr sz="1250" b="0" i="0">
                <a:solidFill>
                  <a:srgbClr val="CFE3FF"/>
                </a:solidFill>
                <a:latin typeface="Arial"/>
              </a:rPr>
              <a:t>and nothing holds you up — you fall straight in</a:t>
            </a:r>
          </a:p>
        </p:txBody>
      </p:sp>
      <p:sp>
        <p:nvSpPr>
          <p:cNvPr id="14" name="TextBox 13"/>
          <p:cNvSpPr txBox="1"/>
          <p:nvPr/>
        </p:nvSpPr>
        <p:spPr>
          <a:xfrm>
            <a:off x="548640" y="5806440"/>
            <a:ext cx="11064240" cy="822960"/>
          </a:xfrm>
          <a:prstGeom prst="rect">
            <a:avLst/>
          </a:prstGeom>
          <a:noFill/>
        </p:spPr>
        <p:txBody>
          <a:bodyPr wrap="square" lIns="0" tIns="0" rIns="0" bIns="0">
            <a:spAutoFit/>
          </a:bodyPr>
          <a:lstStyle/>
          <a:p>
            <a:pPr algn="l"/>
            <a:r>
              <a:rPr sz="1350" b="0" i="1">
                <a:solidFill>
                  <a:srgbClr val="CFE3FF"/>
                </a:solidFill>
                <a:latin typeface="Arial"/>
              </a:rPr>
              <a:t>To fight drag, burn prograde.</a:t>
            </a:r>
          </a:p>
        </p:txBody>
      </p:sp>
      <p:sp>
        <p:nvSpPr>
          <p:cNvPr id="19" name="TextBox 18">
            <a:extLst>
              <a:ext uri="{FF2B5EF4-FFF2-40B4-BE49-F238E27FC236}">
                <a16:creationId xmlns:a16="http://schemas.microsoft.com/office/drawing/2014/main" id="{01A1E92F-A44D-BA2A-753D-DC4D155CB82A}"/>
              </a:ext>
            </a:extLst>
          </p:cNvPr>
          <p:cNvSpPr txBox="1"/>
          <p:nvPr/>
        </p:nvSpPr>
        <p:spPr>
          <a:xfrm>
            <a:off x="8035025" y="2843622"/>
            <a:ext cx="2972509" cy="430887"/>
          </a:xfrm>
          <a:prstGeom prst="rect">
            <a:avLst/>
          </a:prstGeom>
          <a:noFill/>
        </p:spPr>
        <p:txBody>
          <a:bodyPr wrap="square" lIns="0" tIns="0" rIns="0" bIns="0">
            <a:spAutoFit/>
          </a:bodyPr>
          <a:lstStyle/>
          <a:p>
            <a:pPr algn="ctr"/>
            <a:r>
              <a:rPr sz="1400" b="1" i="0" dirty="0">
                <a:solidFill>
                  <a:srgbClr val="EAF4FF"/>
                </a:solidFill>
                <a:latin typeface="Arial"/>
              </a:rPr>
              <a:t>Prograde bur</a:t>
            </a:r>
            <a:r>
              <a:rPr lang="en-US" sz="1400" b="1" i="0" dirty="0">
                <a:solidFill>
                  <a:srgbClr val="EAF4FF"/>
                </a:solidFill>
                <a:latin typeface="Arial"/>
              </a:rPr>
              <a:t>n increases speed</a:t>
            </a:r>
          </a:p>
          <a:p>
            <a:pPr algn="ctr"/>
            <a:r>
              <a:rPr lang="en-US" sz="1400" b="1" dirty="0">
                <a:solidFill>
                  <a:srgbClr val="EAF4FF"/>
                </a:solidFill>
                <a:latin typeface="Arial"/>
              </a:rPr>
              <a:t>Retrograde burn decreases speed</a:t>
            </a:r>
            <a:endParaRPr sz="1250" b="0" i="0" dirty="0">
              <a:solidFill>
                <a:srgbClr val="CFE3FF"/>
              </a:solidFill>
              <a:latin typeface="Arial"/>
            </a:endParaRPr>
          </a:p>
        </p:txBody>
      </p:sp>
      <p:sp>
        <p:nvSpPr>
          <p:cNvPr id="20" name="TextBox 19">
            <a:extLst>
              <a:ext uri="{FF2B5EF4-FFF2-40B4-BE49-F238E27FC236}">
                <a16:creationId xmlns:a16="http://schemas.microsoft.com/office/drawing/2014/main" id="{60761A60-0BDF-B7C8-A332-0D30D61F1E7E}"/>
              </a:ext>
            </a:extLst>
          </p:cNvPr>
          <p:cNvSpPr txBox="1"/>
          <p:nvPr/>
        </p:nvSpPr>
        <p:spPr>
          <a:xfrm>
            <a:off x="7614985" y="1382856"/>
            <a:ext cx="3812587" cy="215444"/>
          </a:xfrm>
          <a:prstGeom prst="rect">
            <a:avLst/>
          </a:prstGeom>
          <a:solidFill>
            <a:schemeClr val="tx1"/>
          </a:solidFill>
        </p:spPr>
        <p:txBody>
          <a:bodyPr wrap="square" lIns="0" tIns="0" rIns="0" bIns="0">
            <a:spAutoFit/>
          </a:bodyPr>
          <a:lstStyle/>
          <a:p>
            <a:pPr algn="ctr"/>
            <a:r>
              <a:rPr lang="en-US" sz="1400" b="1" dirty="0">
                <a:solidFill>
                  <a:srgbClr val="EAF4FF"/>
                </a:solidFill>
                <a:latin typeface="Arial"/>
              </a:rPr>
              <a:t>Radial </a:t>
            </a:r>
            <a:r>
              <a:rPr sz="1400" b="1" i="0" dirty="0">
                <a:solidFill>
                  <a:srgbClr val="EAF4FF"/>
                </a:solidFill>
                <a:latin typeface="Arial"/>
              </a:rPr>
              <a:t>bur</a:t>
            </a:r>
            <a:r>
              <a:rPr lang="en-US" sz="1400" b="1" i="0" dirty="0">
                <a:solidFill>
                  <a:srgbClr val="EAF4FF"/>
                </a:solidFill>
                <a:latin typeface="Arial"/>
              </a:rPr>
              <a:t>ns push inwards or outwards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4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The two-step transfer: LEO → GEO</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9514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802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2,400 m/s</a:t>
            </a:r>
          </a:p>
          <a:p>
            <a:pPr algn="ctr"/>
            <a:r>
              <a:rPr sz="1250" b="0" i="0">
                <a:solidFill>
                  <a:srgbClr val="CFE3FF"/>
                </a:solidFill>
                <a:latin typeface="Arial"/>
              </a:rPr>
              <a:t>burn 1 — raise your apogee out to GEO</a:t>
            </a:r>
          </a:p>
        </p:txBody>
      </p:sp>
      <p:sp>
        <p:nvSpPr>
          <p:cNvPr id="8" name="Rounded Rectangle 7"/>
          <p:cNvSpPr/>
          <p:nvPr/>
        </p:nvSpPr>
        <p:spPr>
          <a:xfrm>
            <a:off x="433562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1850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1,460 m/s</a:t>
            </a:r>
          </a:p>
          <a:p>
            <a:pPr algn="ctr"/>
            <a:r>
              <a:rPr sz="1250" b="0" i="0">
                <a:solidFill>
                  <a:srgbClr val="CFE3FF"/>
                </a:solidFill>
                <a:latin typeface="Arial"/>
              </a:rPr>
              <a:t>burn 2 — circularize at apogee</a:t>
            </a:r>
          </a:p>
        </p:txBody>
      </p:sp>
      <p:sp>
        <p:nvSpPr>
          <p:cNvPr id="10" name="Rounded Rectangle 9"/>
          <p:cNvSpPr/>
          <p:nvPr/>
        </p:nvSpPr>
        <p:spPr>
          <a:xfrm>
            <a:off x="817610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5898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 3,860</a:t>
            </a:r>
          </a:p>
          <a:p>
            <a:pPr algn="ctr"/>
            <a:r>
              <a:rPr sz="1250" b="0" i="0">
                <a:solidFill>
                  <a:srgbClr val="CFE3FF"/>
                </a:solidFill>
                <a:latin typeface="Arial"/>
              </a:rPr>
              <a:t>total, against a 4,000 m/s budget</a:t>
            </a:r>
          </a:p>
        </p:txBody>
      </p:sp>
      <p:sp>
        <p:nvSpPr>
          <p:cNvPr id="12" name="TextBox 11"/>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Every big transfer is the same recipe: raise the apogee, coast, then match the circular speed there.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4 · ORBIT ACADEMY</a:t>
            </a:r>
          </a:p>
        </p:txBody>
      </p:sp>
      <p:sp>
        <p:nvSpPr>
          <p:cNvPr id="3" name="TextBox 2"/>
          <p:cNvSpPr txBox="1"/>
          <p:nvPr/>
        </p:nvSpPr>
        <p:spPr>
          <a:xfrm>
            <a:off x="548640" y="676656"/>
            <a:ext cx="10058400" cy="415498"/>
          </a:xfrm>
          <a:prstGeom prst="rect">
            <a:avLst/>
          </a:prstGeom>
          <a:noFill/>
        </p:spPr>
        <p:txBody>
          <a:bodyPr wrap="square" lIns="0" tIns="0" rIns="0" bIns="0">
            <a:spAutoFit/>
          </a:bodyPr>
          <a:lstStyle/>
          <a:p>
            <a:pPr algn="l"/>
            <a:r>
              <a:rPr sz="2700" b="1" i="0" dirty="0">
                <a:solidFill>
                  <a:srgbClr val="5FD0FF"/>
                </a:solidFill>
                <a:latin typeface="Arial"/>
              </a:rPr>
              <a:t>Nature</a:t>
            </a:r>
            <a:r>
              <a:rPr lang="en-US" sz="2700" b="1" i="0" dirty="0">
                <a:solidFill>
                  <a:srgbClr val="5FD0FF"/>
                </a:solidFill>
                <a:latin typeface="Arial"/>
              </a:rPr>
              <a:t> produces orbital</a:t>
            </a:r>
            <a:r>
              <a:rPr sz="2700" b="1" i="0" dirty="0">
                <a:solidFill>
                  <a:srgbClr val="5FD0FF"/>
                </a:solidFill>
                <a:latin typeface="Arial"/>
              </a:rPr>
              <a:t> perturbations</a:t>
            </a:r>
            <a:r>
              <a:rPr lang="en-US" sz="2700" b="1" i="0" dirty="0">
                <a:solidFill>
                  <a:srgbClr val="5FD0FF"/>
                </a:solidFill>
                <a:latin typeface="Arial"/>
              </a:rPr>
              <a:t> too</a:t>
            </a:r>
            <a:endParaRPr sz="2700" b="1" i="0" dirty="0">
              <a:solidFill>
                <a:srgbClr val="5FD0FF"/>
              </a:solidFill>
              <a:latin typeface="Arial"/>
            </a:endParaRP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080" y="170992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1</a:t>
            </a:r>
          </a:p>
        </p:txBody>
      </p:sp>
      <p:sp>
        <p:nvSpPr>
          <p:cNvPr id="7" name="TextBox 6"/>
          <p:cNvSpPr txBox="1"/>
          <p:nvPr/>
        </p:nvSpPr>
        <p:spPr>
          <a:xfrm>
            <a:off x="1234440" y="1691640"/>
            <a:ext cx="10332720" cy="960120"/>
          </a:xfrm>
          <a:prstGeom prst="rect">
            <a:avLst/>
          </a:prstGeom>
          <a:noFill/>
        </p:spPr>
        <p:txBody>
          <a:bodyPr wrap="square" lIns="0" tIns="0" rIns="0" bIns="0">
            <a:spAutoFit/>
          </a:bodyPr>
          <a:lstStyle/>
          <a:p>
            <a:pPr algn="l"/>
            <a:r>
              <a:rPr sz="1400" b="1" i="0">
                <a:solidFill>
                  <a:srgbClr val="EAF4FF"/>
                </a:solidFill>
                <a:latin typeface="Arial"/>
              </a:rPr>
              <a:t>Drag, below ~1,000 km</a:t>
            </a:r>
            <a:r>
              <a:rPr sz="1300" b="0" i="0">
                <a:solidFill>
                  <a:srgbClr val="7E93B8"/>
                </a:solidFill>
                <a:latin typeface="Arial"/>
              </a:rPr>
              <a:t>  —  </a:t>
            </a:r>
            <a:r>
              <a:rPr sz="1250" b="0" i="0">
                <a:solidFill>
                  <a:srgbClr val="CFE3FF"/>
                </a:solidFill>
                <a:latin typeface="Arial"/>
              </a:rPr>
              <a:t>shrinks orbits to re-entry — and paradoxically speeds the satellite up</a:t>
            </a:r>
          </a:p>
        </p:txBody>
      </p:sp>
      <p:sp>
        <p:nvSpPr>
          <p:cNvPr id="8" name="Oval 7"/>
          <p:cNvSpPr/>
          <p:nvPr/>
        </p:nvSpPr>
        <p:spPr>
          <a:xfrm>
            <a:off x="640080" y="267004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2</a:t>
            </a:r>
          </a:p>
        </p:txBody>
      </p:sp>
      <p:sp>
        <p:nvSpPr>
          <p:cNvPr id="9" name="TextBox 8"/>
          <p:cNvSpPr txBox="1"/>
          <p:nvPr/>
        </p:nvSpPr>
        <p:spPr>
          <a:xfrm>
            <a:off x="1234440" y="2651760"/>
            <a:ext cx="10332720" cy="960120"/>
          </a:xfrm>
          <a:prstGeom prst="rect">
            <a:avLst/>
          </a:prstGeom>
          <a:noFill/>
        </p:spPr>
        <p:txBody>
          <a:bodyPr wrap="square" lIns="0" tIns="0" rIns="0" bIns="0">
            <a:spAutoFit/>
          </a:bodyPr>
          <a:lstStyle/>
          <a:p>
            <a:pPr algn="l"/>
            <a:r>
              <a:rPr sz="1400" b="1" i="0">
                <a:solidFill>
                  <a:srgbClr val="EAF4FF"/>
                </a:solidFill>
                <a:latin typeface="Arial"/>
              </a:rPr>
              <a:t>Sunlight pushes</a:t>
            </a:r>
            <a:r>
              <a:rPr sz="1300" b="0" i="0">
                <a:solidFill>
                  <a:srgbClr val="7E93B8"/>
                </a:solidFill>
                <a:latin typeface="Arial"/>
              </a:rPr>
              <a:t>  —  </a:t>
            </a:r>
            <a:r>
              <a:rPr sz="1250" b="0" i="0">
                <a:solidFill>
                  <a:srgbClr val="CFE3FF"/>
                </a:solidFill>
                <a:latin typeface="Arial"/>
              </a:rPr>
              <a:t>flimsy, high area-to-mass junk gets flung around unpredictably</a:t>
            </a:r>
          </a:p>
        </p:txBody>
      </p:sp>
      <p:sp>
        <p:nvSpPr>
          <p:cNvPr id="10" name="Oval 9"/>
          <p:cNvSpPr/>
          <p:nvPr/>
        </p:nvSpPr>
        <p:spPr>
          <a:xfrm>
            <a:off x="640080" y="363016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3</a:t>
            </a:r>
          </a:p>
        </p:txBody>
      </p:sp>
      <p:sp>
        <p:nvSpPr>
          <p:cNvPr id="11" name="TextBox 10"/>
          <p:cNvSpPr txBox="1"/>
          <p:nvPr/>
        </p:nvSpPr>
        <p:spPr>
          <a:xfrm>
            <a:off x="1234440" y="3611880"/>
            <a:ext cx="10332720" cy="960120"/>
          </a:xfrm>
          <a:prstGeom prst="rect">
            <a:avLst/>
          </a:prstGeom>
          <a:noFill/>
        </p:spPr>
        <p:txBody>
          <a:bodyPr wrap="square" lIns="0" tIns="0" rIns="0" bIns="0">
            <a:spAutoFit/>
          </a:bodyPr>
          <a:lstStyle/>
          <a:p>
            <a:pPr algn="l"/>
            <a:r>
              <a:rPr sz="1400" b="1" i="0">
                <a:solidFill>
                  <a:srgbClr val="EAF4FF"/>
                </a:solidFill>
                <a:latin typeface="Arial"/>
              </a:rPr>
              <a:t>Earth's bulge (J2)</a:t>
            </a:r>
            <a:r>
              <a:rPr sz="1300" b="0" i="0">
                <a:solidFill>
                  <a:srgbClr val="7E93B8"/>
                </a:solidFill>
                <a:latin typeface="Arial"/>
              </a:rPr>
              <a:t>  —  </a:t>
            </a:r>
            <a:r>
              <a:rPr sz="1250" b="0" i="0">
                <a:solidFill>
                  <a:srgbClr val="CFE3FF"/>
                </a:solidFill>
                <a:latin typeface="Arial"/>
              </a:rPr>
              <a:t>steadily swivels every orbit plane</a:t>
            </a:r>
          </a:p>
        </p:txBody>
      </p:sp>
      <p:sp>
        <p:nvSpPr>
          <p:cNvPr id="12" name="Oval 11"/>
          <p:cNvSpPr/>
          <p:nvPr/>
        </p:nvSpPr>
        <p:spPr>
          <a:xfrm>
            <a:off x="640080" y="459028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4</a:t>
            </a:r>
          </a:p>
        </p:txBody>
      </p:sp>
      <p:sp>
        <p:nvSpPr>
          <p:cNvPr id="13" name="TextBox 12"/>
          <p:cNvSpPr txBox="1"/>
          <p:nvPr/>
        </p:nvSpPr>
        <p:spPr>
          <a:xfrm>
            <a:off x="1234440" y="4572000"/>
            <a:ext cx="10332720" cy="960120"/>
          </a:xfrm>
          <a:prstGeom prst="rect">
            <a:avLst/>
          </a:prstGeom>
          <a:noFill/>
        </p:spPr>
        <p:txBody>
          <a:bodyPr wrap="square" lIns="0" tIns="0" rIns="0" bIns="0">
            <a:spAutoFit/>
          </a:bodyPr>
          <a:lstStyle/>
          <a:p>
            <a:pPr algn="l"/>
            <a:r>
              <a:rPr sz="1400" b="1" i="0">
                <a:solidFill>
                  <a:srgbClr val="EAF4FF"/>
                </a:solidFill>
                <a:latin typeface="Arial"/>
              </a:rPr>
              <a:t>Escape velocity</a:t>
            </a:r>
            <a:r>
              <a:rPr sz="1300" b="0" i="0">
                <a:solidFill>
                  <a:srgbClr val="7E93B8"/>
                </a:solidFill>
                <a:latin typeface="Arial"/>
              </a:rPr>
              <a:t>  —  </a:t>
            </a:r>
            <a:r>
              <a:rPr sz="1250" b="0" i="0">
                <a:solidFill>
                  <a:srgbClr val="CFE3FF"/>
                </a:solidFill>
                <a:latin typeface="Arial"/>
              </a:rPr>
              <a:t>11.2 km/s at the surface, 10.7 from 600 km — past it, the orbit opens forever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4 · ORBIT ACADEMY</a:t>
            </a:r>
          </a:p>
        </p:txBody>
      </p:sp>
      <p:sp>
        <p:nvSpPr>
          <p:cNvPr id="3" name="TextBox 2"/>
          <p:cNvSpPr txBox="1"/>
          <p:nvPr/>
        </p:nvSpPr>
        <p:spPr>
          <a:xfrm>
            <a:off x="548640" y="676656"/>
            <a:ext cx="10058400" cy="830997"/>
          </a:xfrm>
          <a:prstGeom prst="rect">
            <a:avLst/>
          </a:prstGeom>
          <a:noFill/>
        </p:spPr>
        <p:txBody>
          <a:bodyPr wrap="square" lIns="0" tIns="0" rIns="0" bIns="0">
            <a:spAutoFit/>
          </a:bodyPr>
          <a:lstStyle/>
          <a:p>
            <a:pPr algn="l"/>
            <a:r>
              <a:rPr sz="2700" b="1" i="0" dirty="0">
                <a:solidFill>
                  <a:srgbClr val="5FD0FF"/>
                </a:solidFill>
                <a:latin typeface="Arial"/>
              </a:rPr>
              <a:t>A perturbation as a feature: sun-synchronous</a:t>
            </a:r>
            <a:r>
              <a:rPr lang="en-US" sz="2700" b="1" i="0" dirty="0">
                <a:solidFill>
                  <a:srgbClr val="5FD0FF"/>
                </a:solidFill>
                <a:latin typeface="Arial"/>
              </a:rPr>
              <a:t> precession (rotation) keeps orbital plane locked relative to the sun. </a:t>
            </a:r>
            <a:endParaRPr sz="2700" b="1" i="0" dirty="0">
              <a:solidFill>
                <a:srgbClr val="5FD0FF"/>
              </a:solidFill>
              <a:latin typeface="Arial"/>
            </a:endParaRP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63827" y="2148840"/>
            <a:ext cx="457200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46707" y="2148840"/>
            <a:ext cx="420624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~98°</a:t>
            </a:r>
          </a:p>
          <a:p>
            <a:pPr algn="ctr"/>
            <a:r>
              <a:rPr sz="1250" b="0" i="0">
                <a:solidFill>
                  <a:srgbClr val="CFE3FF"/>
                </a:solidFill>
                <a:latin typeface="Arial"/>
              </a:rPr>
              <a:t>the inclination that turns J2 into a tool</a:t>
            </a:r>
          </a:p>
        </p:txBody>
      </p:sp>
      <p:sp>
        <p:nvSpPr>
          <p:cNvPr id="8" name="Rounded Rectangle 7"/>
          <p:cNvSpPr/>
          <p:nvPr/>
        </p:nvSpPr>
        <p:spPr>
          <a:xfrm>
            <a:off x="6255867" y="2148840"/>
            <a:ext cx="457200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38747" y="2148840"/>
            <a:ext cx="420624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0.9856°/day</a:t>
            </a:r>
          </a:p>
          <a:p>
            <a:pPr algn="ctr"/>
            <a:r>
              <a:rPr sz="1250" b="0" i="0">
                <a:solidFill>
                  <a:srgbClr val="CFE3FF"/>
                </a:solidFill>
                <a:latin typeface="Arial"/>
              </a:rPr>
              <a:t>plane swivel — exactly one lap per year</a:t>
            </a:r>
          </a:p>
        </p:txBody>
      </p:sp>
      <p:sp>
        <p:nvSpPr>
          <p:cNvPr id="10" name="TextBox 9"/>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The orbit crosses every target at the same local sun time — consistent lighting for imagery. And because orbits drift, custody means never looking away.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4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What you'll do</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PREDICT</a:t>
            </a:r>
          </a:p>
          <a:p>
            <a:pPr algn="l"/>
            <a:r>
              <a:rPr sz="1050" b="0" i="0">
                <a:solidFill>
                  <a:srgbClr val="7E93B8"/>
                </a:solidFill>
                <a:latin typeface="Arial"/>
              </a:rPr>
              <a:t>call your shot first</a:t>
            </a:r>
          </a:p>
        </p:txBody>
      </p:sp>
      <p:sp>
        <p:nvSpPr>
          <p:cNvPr id="8" name="TextBox 7"/>
          <p:cNvSpPr txBox="1"/>
          <p:nvPr/>
        </p:nvSpPr>
        <p:spPr>
          <a:xfrm>
            <a:off x="3401568" y="1810512"/>
            <a:ext cx="411480" cy="548640"/>
          </a:xfrm>
          <a:prstGeom prst="rect">
            <a:avLst/>
          </a:prstGeom>
          <a:noFill/>
        </p:spPr>
        <p:txBody>
          <a:bodyPr wrap="square" lIns="0" tIns="0" rIns="0" bIns="0">
            <a:spAutoFit/>
          </a:bodyPr>
          <a:lstStyle/>
          <a:p>
            <a:pPr algn="ctr"/>
            <a:r>
              <a:rPr sz="2200" b="1" i="0">
                <a:solidFill>
                  <a:srgbClr val="FFCF4D"/>
                </a:solidFill>
                <a:latin typeface="Arial"/>
              </a:rPr>
              <a:t>→</a:t>
            </a:r>
          </a:p>
        </p:txBody>
      </p:sp>
      <p:sp>
        <p:nvSpPr>
          <p:cNvPr id="9" name="Rounded Rectangle 8"/>
          <p:cNvSpPr/>
          <p:nvPr/>
        </p:nvSpPr>
        <p:spPr>
          <a:xfrm>
            <a:off x="379475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23359"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TRY</a:t>
            </a:r>
          </a:p>
          <a:p>
            <a:pPr algn="l"/>
            <a:r>
              <a:rPr sz="1050" b="0" i="0">
                <a:solidFill>
                  <a:srgbClr val="7E93B8"/>
                </a:solidFill>
                <a:latin typeface="Arial"/>
              </a:rPr>
              <a:t>run it in the simulator</a:t>
            </a:r>
          </a:p>
        </p:txBody>
      </p:sp>
      <p:sp>
        <p:nvSpPr>
          <p:cNvPr id="11" name="TextBox 10"/>
          <p:cNvSpPr txBox="1"/>
          <p:nvPr/>
        </p:nvSpPr>
        <p:spPr>
          <a:xfrm>
            <a:off x="6647688" y="1810512"/>
            <a:ext cx="411480" cy="548640"/>
          </a:xfrm>
          <a:prstGeom prst="rect">
            <a:avLst/>
          </a:prstGeom>
          <a:noFill/>
        </p:spPr>
        <p:txBody>
          <a:bodyPr wrap="square" lIns="0" tIns="0" rIns="0" bIns="0">
            <a:spAutoFit/>
          </a:bodyPr>
          <a:lstStyle/>
          <a:p>
            <a:pPr algn="ctr"/>
            <a:r>
              <a:rPr sz="2200" b="1" i="0">
                <a:solidFill>
                  <a:srgbClr val="FFCF4D"/>
                </a:solidFill>
                <a:latin typeface="Arial"/>
              </a:rPr>
              <a:t>→</a:t>
            </a:r>
          </a:p>
        </p:txBody>
      </p:sp>
      <p:sp>
        <p:nvSpPr>
          <p:cNvPr id="12" name="Rounded Rectangle 11"/>
          <p:cNvSpPr/>
          <p:nvPr/>
        </p:nvSpPr>
        <p:spPr>
          <a:xfrm>
            <a:off x="704087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69479"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OBSERVE</a:t>
            </a:r>
          </a:p>
          <a:p>
            <a:pPr algn="l"/>
            <a:r>
              <a:rPr sz="1050" b="0" i="0">
                <a:solidFill>
                  <a:srgbClr val="7E93B8"/>
                </a:solidFill>
                <a:latin typeface="Arial"/>
              </a:rPr>
              <a:t>note what actually changed</a:t>
            </a:r>
          </a:p>
        </p:txBody>
      </p:sp>
      <p:sp>
        <p:nvSpPr>
          <p:cNvPr id="14" name="Oval 13"/>
          <p:cNvSpPr/>
          <p:nvPr/>
        </p:nvSpPr>
        <p:spPr>
          <a:xfrm>
            <a:off x="690371" y="327812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200400"/>
            <a:ext cx="10607040" cy="685800"/>
          </a:xfrm>
          <a:prstGeom prst="rect">
            <a:avLst/>
          </a:prstGeom>
          <a:noFill/>
        </p:spPr>
        <p:txBody>
          <a:bodyPr wrap="square" lIns="0" tIns="0" rIns="0" bIns="0">
            <a:spAutoFit/>
          </a:bodyPr>
          <a:lstStyle/>
          <a:p>
            <a:pPr algn="l"/>
            <a:r>
              <a:rPr sz="1350" b="0" i="0">
                <a:solidFill>
                  <a:srgbClr val="CFE3FF"/>
                </a:solidFill>
                <a:latin typeface="Arial"/>
              </a:rPr>
              <a:t>Kill a satellite's sideways speed and watch it fall straight in.</a:t>
            </a:r>
          </a:p>
        </p:txBody>
      </p:sp>
      <p:sp>
        <p:nvSpPr>
          <p:cNvPr id="16" name="Oval 15"/>
          <p:cNvSpPr/>
          <p:nvPr/>
        </p:nvSpPr>
        <p:spPr>
          <a:xfrm>
            <a:off x="690371" y="3991356"/>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913632"/>
            <a:ext cx="10607040" cy="685800"/>
          </a:xfrm>
          <a:prstGeom prst="rect">
            <a:avLst/>
          </a:prstGeom>
          <a:noFill/>
        </p:spPr>
        <p:txBody>
          <a:bodyPr wrap="square" lIns="0" tIns="0" rIns="0" bIns="0">
            <a:spAutoFit/>
          </a:bodyPr>
          <a:lstStyle/>
          <a:p>
            <a:pPr algn="l"/>
            <a:r>
              <a:rPr sz="1350" b="0" i="0">
                <a:solidFill>
                  <a:srgbClr val="CFE3FF"/>
                </a:solidFill>
                <a:latin typeface="Arial"/>
              </a:rPr>
              <a:t>Race the LEO→GEO challenge your own way — then fly the two-step recipe and compare fuel bills.</a:t>
            </a:r>
          </a:p>
        </p:txBody>
      </p:sp>
      <p:sp>
        <p:nvSpPr>
          <p:cNvPr id="18" name="Oval 17"/>
          <p:cNvSpPr/>
          <p:nvPr/>
        </p:nvSpPr>
        <p:spPr>
          <a:xfrm>
            <a:off x="690371" y="4704588"/>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4626864"/>
            <a:ext cx="10607040" cy="685800"/>
          </a:xfrm>
          <a:prstGeom prst="rect">
            <a:avLst/>
          </a:prstGeom>
          <a:noFill/>
        </p:spPr>
        <p:txBody>
          <a:bodyPr wrap="square" lIns="0" tIns="0" rIns="0" bIns="0">
            <a:spAutoFit/>
          </a:bodyPr>
          <a:lstStyle/>
          <a:p>
            <a:pPr algn="l"/>
            <a:r>
              <a:rPr sz="1350" b="0" i="0">
                <a:solidFill>
                  <a:srgbClr val="CFE3FF"/>
                </a:solidFill>
                <a:latin typeface="Arial"/>
              </a:rPr>
              <a:t>Watch a low orbit decay and re-enter; then boost a GEO retiree to the graveyard.</a:t>
            </a:r>
          </a:p>
        </p:txBody>
      </p:sp>
      <p:sp>
        <p:nvSpPr>
          <p:cNvPr id="20" name="Oval 19"/>
          <p:cNvSpPr/>
          <p:nvPr/>
        </p:nvSpPr>
        <p:spPr>
          <a:xfrm>
            <a:off x="690371" y="5417820"/>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340096"/>
            <a:ext cx="10607040" cy="685800"/>
          </a:xfrm>
          <a:prstGeom prst="rect">
            <a:avLst/>
          </a:prstGeom>
          <a:noFill/>
        </p:spPr>
        <p:txBody>
          <a:bodyPr wrap="square" lIns="0" tIns="0" rIns="0" bIns="0">
            <a:spAutoFit/>
          </a:bodyPr>
          <a:lstStyle/>
          <a:p>
            <a:pPr algn="l"/>
            <a:r>
              <a:rPr sz="1350" b="0" i="0">
                <a:solidFill>
                  <a:srgbClr val="CFE3FF"/>
                </a:solidFill>
                <a:latin typeface="Arial"/>
              </a:rPr>
              <a:t>Dial in ~98° and build a sun-synchronous orbit from Earth's bulge.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Oval 1"/>
          <p:cNvSpPr/>
          <p:nvPr/>
        </p:nvSpPr>
        <p:spPr>
          <a:xfrm>
            <a:off x="4953304" y="548640"/>
            <a:ext cx="2286000" cy="822960"/>
          </a:xfrm>
          <a:prstGeom prst="ellipse">
            <a:avLst/>
          </a:prstGeom>
          <a:noFill/>
          <a:ln w="15875">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189012" y="909828"/>
            <a:ext cx="100584" cy="100584"/>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055156" y="507492"/>
            <a:ext cx="82296" cy="82296"/>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37360"/>
            <a:ext cx="9966960" cy="365760"/>
          </a:xfrm>
          <a:prstGeom prst="rect">
            <a:avLst/>
          </a:prstGeom>
          <a:noFill/>
        </p:spPr>
        <p:txBody>
          <a:bodyPr wrap="square" lIns="0" tIns="0" rIns="0" bIns="0">
            <a:spAutoFit/>
          </a:bodyPr>
          <a:lstStyle/>
          <a:p>
            <a:pPr algn="ctr"/>
            <a:r>
              <a:rPr sz="1250" b="1" i="0">
                <a:solidFill>
                  <a:srgbClr val="FFCF4D"/>
                </a:solidFill>
                <a:latin typeface="Arial"/>
              </a:rPr>
              <a:t>THE ONE THING TO REMEMBER</a:t>
            </a:r>
          </a:p>
        </p:txBody>
      </p:sp>
      <p:sp>
        <p:nvSpPr>
          <p:cNvPr id="6" name="TextBox 5"/>
          <p:cNvSpPr txBox="1"/>
          <p:nvPr/>
        </p:nvSpPr>
        <p:spPr>
          <a:xfrm>
            <a:off x="1234440" y="2743200"/>
            <a:ext cx="9692640" cy="2011680"/>
          </a:xfrm>
          <a:prstGeom prst="rect">
            <a:avLst/>
          </a:prstGeom>
          <a:noFill/>
        </p:spPr>
        <p:txBody>
          <a:bodyPr wrap="square" lIns="0" tIns="0" rIns="0" bIns="0">
            <a:spAutoFit/>
          </a:bodyPr>
          <a:lstStyle/>
          <a:p>
            <a:pPr algn="ctr"/>
            <a:r>
              <a:rPr sz="2900" b="1" i="0">
                <a:solidFill>
                  <a:srgbClr val="5FD0FF"/>
                </a:solidFill>
                <a:latin typeface="Arial"/>
              </a:rPr>
              <a:t>Delta-v is money. Tangential burns spend it wisely — and the drift never stops.</a:t>
            </a:r>
          </a:p>
        </p:txBody>
      </p:sp>
      <p:sp>
        <p:nvSpPr>
          <p:cNvPr id="7" name="TextBox 6"/>
          <p:cNvSpPr txBox="1"/>
          <p:nvPr/>
        </p:nvSpPr>
        <p:spPr>
          <a:xfrm>
            <a:off x="1097280" y="5212080"/>
            <a:ext cx="9966960" cy="457200"/>
          </a:xfrm>
          <a:prstGeom prst="rect">
            <a:avLst/>
          </a:prstGeom>
          <a:noFill/>
        </p:spPr>
        <p:txBody>
          <a:bodyPr wrap="square" lIns="0" tIns="0" rIns="0" bIns="0">
            <a:spAutoFit/>
          </a:bodyPr>
          <a:lstStyle/>
          <a:p>
            <a:pPr algn="ctr"/>
            <a:r>
              <a:rPr sz="1500" b="1" i="0">
                <a:solidFill>
                  <a:srgbClr val="39D353"/>
                </a:solidFill>
                <a:latin typeface="Arial"/>
              </a:rPr>
              <a:t>Open Worksheet 4 and keep the simulator beside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988</Words>
  <Application>Microsoft Macintosh PowerPoint</Application>
  <PresentationFormat>Widescreen</PresentationFormat>
  <Paragraphs>78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Stubbs, Christopher William</cp:lastModifiedBy>
  <cp:revision>2</cp:revision>
  <dcterms:created xsi:type="dcterms:W3CDTF">2013-01-27T09:14:16Z</dcterms:created>
  <dcterms:modified xsi:type="dcterms:W3CDTF">2026-07-20T13:29:34Z</dcterms:modified>
  <cp:category/>
</cp:coreProperties>
</file>