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4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806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3 gives orbits a language. Six numbers pin down any Keplerian orbit, and a TLE is just those numbers in a fixed-column text format. The key conceptual move is invariance: which changes reshape an orbit, and which merely turn it in space.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operator's daily reality: the public catalog is literally two-line element sets. Being able to read one — even roughly — turns a wall of digits into an orbit you can picture. Plant the seed that a TLE is only valid near its epoch; staleness is next module's story.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Plain words first, jargon second: size, shape, tilt, swivel, twist, position. The first two set the ellipse, the next three orient it in space, the last says where on it the satellite is now. Students drag one slider at a time in the tool and watch which readouts respond.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heart of Module 3: re-orienting an orbit with RAAN or argument of perigee changes nothing about its size, shape, or period. Only the semi-major axis sets the clock. This distinction pays off in Module 4, where perturbations mostly swivel orbits rather than reshape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TLE packs the six elements plus an epoch and a drag term into two fixed-width lines. Size hides as mean motion in orbits per day, and position as mean anomaly. Stress the epoch: a TLE is a snapshot of an ideal ellipse, correct at that moment and drifting ever after.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Molniya is the showpiece real orbit: highly eccentric, 12-hour period, and inclined at exactly 63.4 degrees — the magic value that stops the perigee from drifting, so apogee stays parked over the north. It gave the Soviets hours of dwell where GEO satellites sit uselessly low on the horizon. In the worksheet students invent it themselves by trial and error — let them.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tool is a six-slider laboratory; the discipline is one slider at a time. The Molniya challenge is the highlight — students who discover the 12-hour, 63.4-degree recipe themselves never forget it. Close by loading real satellites and asking why each orbit was chosen.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Size and shape make the ellipse, three angles aim it, one number places the satellite on it. Everything else — period included — follows from size alone. Worksheet 3 turns this from a claim into muscle memory.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640080" y="777240"/>
            <a:ext cx="8229600" cy="365760"/>
          </a:xfrm>
          <a:prstGeom prst="rect">
            <a:avLst/>
          </a:prstGeom>
          <a:noFill/>
        </p:spPr>
        <p:txBody>
          <a:bodyPr wrap="square" lIns="0" tIns="0" rIns="0" bIns="0">
            <a:spAutoFit/>
          </a:bodyPr>
          <a:lstStyle/>
          <a:p>
            <a:pPr algn="l"/>
            <a:r>
              <a:rPr sz="1300" b="1" i="0">
                <a:solidFill>
                  <a:srgbClr val="FFCF4D"/>
                </a:solidFill>
                <a:latin typeface="Arial"/>
              </a:rPr>
              <a:t>ORBIT ACADEMY — CISLUNAR FUNDAMENTALS</a:t>
            </a:r>
          </a:p>
        </p:txBody>
      </p:sp>
      <p:sp>
        <p:nvSpPr>
          <p:cNvPr id="3" name="TextBox 2"/>
          <p:cNvSpPr txBox="1"/>
          <p:nvPr/>
        </p:nvSpPr>
        <p:spPr>
          <a:xfrm>
            <a:off x="640080" y="1783080"/>
            <a:ext cx="3657600" cy="365760"/>
          </a:xfrm>
          <a:prstGeom prst="rect">
            <a:avLst/>
          </a:prstGeom>
          <a:noFill/>
        </p:spPr>
        <p:txBody>
          <a:bodyPr wrap="square" lIns="0" tIns="0" rIns="0" bIns="0">
            <a:spAutoFit/>
          </a:bodyPr>
          <a:lstStyle/>
          <a:p>
            <a:pPr algn="l"/>
            <a:r>
              <a:rPr sz="1500" b="1" i="0">
                <a:solidFill>
                  <a:srgbClr val="7E93B8"/>
                </a:solidFill>
                <a:latin typeface="Arial"/>
              </a:rPr>
              <a:t>MODULE 3</a:t>
            </a:r>
          </a:p>
        </p:txBody>
      </p:sp>
      <p:sp>
        <p:nvSpPr>
          <p:cNvPr id="4" name="TextBox 3"/>
          <p:cNvSpPr txBox="1"/>
          <p:nvPr/>
        </p:nvSpPr>
        <p:spPr>
          <a:xfrm>
            <a:off x="640080" y="2194560"/>
            <a:ext cx="6766560" cy="1737360"/>
          </a:xfrm>
          <a:prstGeom prst="rect">
            <a:avLst/>
          </a:prstGeom>
          <a:noFill/>
        </p:spPr>
        <p:txBody>
          <a:bodyPr wrap="square" lIns="0" tIns="0" rIns="0" bIns="0">
            <a:spAutoFit/>
          </a:bodyPr>
          <a:lstStyle/>
          <a:p>
            <a:pPr algn="l"/>
            <a:r>
              <a:rPr sz="4000" b="1" i="0">
                <a:solidFill>
                  <a:srgbClr val="5FD0FF"/>
                </a:solidFill>
                <a:latin typeface="Arial"/>
              </a:rPr>
              <a:t>Naming Orbits &amp; TLEs</a:t>
            </a:r>
          </a:p>
        </p:txBody>
      </p:sp>
      <p:sp>
        <p:nvSpPr>
          <p:cNvPr id="5" name="TextBox 4"/>
          <p:cNvSpPr txBox="1"/>
          <p:nvPr/>
        </p:nvSpPr>
        <p:spPr>
          <a:xfrm>
            <a:off x="640080" y="4160520"/>
            <a:ext cx="5943600" cy="461665"/>
          </a:xfrm>
          <a:prstGeom prst="rect">
            <a:avLst/>
          </a:prstGeom>
          <a:noFill/>
        </p:spPr>
        <p:txBody>
          <a:bodyPr wrap="square" lIns="0" tIns="0" rIns="0" bIns="0">
            <a:spAutoFit/>
          </a:bodyPr>
          <a:lstStyle/>
          <a:p>
            <a:pPr algn="l"/>
            <a:r>
              <a:rPr lang="en-US" sz="1500" i="1" dirty="0">
                <a:solidFill>
                  <a:srgbClr val="CFE3FF"/>
                </a:solidFill>
                <a:latin typeface="Arial"/>
              </a:rPr>
              <a:t>Orbits around the Earth</a:t>
            </a:r>
            <a:r>
              <a:rPr sz="1500" b="0" i="1" dirty="0">
                <a:solidFill>
                  <a:srgbClr val="CFE3FF"/>
                </a:solidFill>
                <a:latin typeface="Arial"/>
              </a:rPr>
              <a:t> can </a:t>
            </a:r>
            <a:r>
              <a:rPr lang="en-US" sz="1500" b="0" i="1" dirty="0">
                <a:solidFill>
                  <a:srgbClr val="CFE3FF"/>
                </a:solidFill>
                <a:latin typeface="Arial"/>
              </a:rPr>
              <a:t>typically </a:t>
            </a:r>
            <a:r>
              <a:rPr sz="1500" b="0" i="1" dirty="0">
                <a:solidFill>
                  <a:srgbClr val="CFE3FF"/>
                </a:solidFill>
                <a:latin typeface="Arial"/>
              </a:rPr>
              <a:t>be written down in six numbers — and the Space Force publishes them </a:t>
            </a:r>
            <a:r>
              <a:rPr lang="en-US" sz="1500" i="1" dirty="0">
                <a:solidFill>
                  <a:srgbClr val="CFE3FF"/>
                </a:solidFill>
                <a:latin typeface="Arial"/>
              </a:rPr>
              <a:t>routinely.</a:t>
            </a:r>
            <a:endParaRPr sz="1500" b="0" i="1" dirty="0">
              <a:solidFill>
                <a:srgbClr val="CFE3FF"/>
              </a:solidFill>
              <a:latin typeface="Arial"/>
            </a:endParaRPr>
          </a:p>
        </p:txBody>
      </p:sp>
      <p:sp>
        <p:nvSpPr>
          <p:cNvPr id="6" name="Oval 5"/>
          <p:cNvSpPr/>
          <p:nvPr/>
        </p:nvSpPr>
        <p:spPr>
          <a:xfrm>
            <a:off x="7543800" y="2697479"/>
            <a:ext cx="4206240" cy="1554480"/>
          </a:xfrm>
          <a:prstGeom prst="ellipse">
            <a:avLst/>
          </a:prstGeom>
          <a:noFill/>
          <a:ln w="15875">
            <a:solidFill>
              <a:srgbClr val="5FD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458200" y="2286000"/>
            <a:ext cx="2377440" cy="2377440"/>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0" y="2971800"/>
            <a:ext cx="1005840" cy="1005840"/>
          </a:xfrm>
          <a:prstGeom prst="ellipse">
            <a:avLst/>
          </a:prstGeom>
          <a:solidFill>
            <a:srgbClr val="0E2A4A"/>
          </a:solid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90604" y="341528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596628" y="2235708"/>
            <a:ext cx="100584" cy="100584"/>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3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Why you care</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45920"/>
            <a:ext cx="11064240" cy="646331"/>
          </a:xfrm>
          <a:prstGeom prst="rect">
            <a:avLst/>
          </a:prstGeom>
          <a:noFill/>
        </p:spPr>
        <p:txBody>
          <a:bodyPr wrap="square" lIns="0" tIns="0" rIns="0" bIns="0">
            <a:spAutoFit/>
          </a:bodyPr>
          <a:lstStyle/>
          <a:p>
            <a:pPr algn="l"/>
            <a:r>
              <a:rPr sz="2100" b="1" i="0" dirty="0">
                <a:solidFill>
                  <a:srgbClr val="EAF4FF"/>
                </a:solidFill>
                <a:latin typeface="Arial"/>
              </a:rPr>
              <a:t>The catalog is a stack of TLEs. Read one, and you know where any tracked object will be</a:t>
            </a:r>
            <a:r>
              <a:rPr lang="en-US" sz="2100" b="1" i="0" dirty="0">
                <a:solidFill>
                  <a:srgbClr val="EAF4FF"/>
                </a:solidFill>
                <a:latin typeface="Arial"/>
              </a:rPr>
              <a:t>… up to a certain look-ahead time. </a:t>
            </a:r>
            <a:endParaRPr sz="2100" b="1" i="0" dirty="0">
              <a:solidFill>
                <a:srgbClr val="EAF4FF"/>
              </a:solidFill>
              <a:latin typeface="Arial"/>
            </a:endParaRPr>
          </a:p>
        </p:txBody>
      </p:sp>
      <p:sp>
        <p:nvSpPr>
          <p:cNvPr id="7" name="Rounded Rectangle 6"/>
          <p:cNvSpPr/>
          <p:nvPr/>
        </p:nvSpPr>
        <p:spPr>
          <a:xfrm>
            <a:off x="548640"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Every tracked object</a:t>
            </a:r>
          </a:p>
          <a:p>
            <a:pPr algn="l"/>
            <a:r>
              <a:rPr sz="1250" b="0" i="0">
                <a:solidFill>
                  <a:srgbClr val="CFE3FF"/>
                </a:solidFill>
                <a:latin typeface="Arial"/>
              </a:rPr>
              <a:t>gets a two-line element set — its six-number name tag plus a timestamp.</a:t>
            </a:r>
          </a:p>
        </p:txBody>
      </p:sp>
      <p:sp>
        <p:nvSpPr>
          <p:cNvPr id="9" name="Rounded Rectangle 8"/>
          <p:cNvSpPr/>
          <p:nvPr/>
        </p:nvSpPr>
        <p:spPr>
          <a:xfrm>
            <a:off x="4370831"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6864"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Point the sensor</a:t>
            </a:r>
          </a:p>
          <a:p>
            <a:pPr algn="l"/>
            <a:r>
              <a:rPr sz="1250" b="0" i="0">
                <a:solidFill>
                  <a:srgbClr val="CFE3FF"/>
                </a:solidFill>
                <a:latin typeface="Arial"/>
              </a:rPr>
              <a:t>tasking runs on elements: the TLE says where to look, and when.</a:t>
            </a:r>
          </a:p>
        </p:txBody>
      </p:sp>
      <p:sp>
        <p:nvSpPr>
          <p:cNvPr id="11" name="Rounded Rectangle 10"/>
          <p:cNvSpPr/>
          <p:nvPr/>
        </p:nvSpPr>
        <p:spPr>
          <a:xfrm>
            <a:off x="8193023" y="3063240"/>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49055" y="3337560"/>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Elements go stale</a:t>
            </a:r>
          </a:p>
          <a:p>
            <a:pPr algn="l"/>
            <a:r>
              <a:rPr sz="1250" b="0" i="0">
                <a:solidFill>
                  <a:srgbClr val="CFE3FF"/>
                </a:solidFill>
                <a:latin typeface="Arial"/>
              </a:rPr>
              <a:t>real orbits drift off their ideal ellipse — Module 4 explains why.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3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Six numbers, one orbit</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080" y="170992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1</a:t>
            </a:r>
          </a:p>
        </p:txBody>
      </p:sp>
      <p:sp>
        <p:nvSpPr>
          <p:cNvPr id="7" name="TextBox 6"/>
          <p:cNvSpPr txBox="1"/>
          <p:nvPr/>
        </p:nvSpPr>
        <p:spPr>
          <a:xfrm>
            <a:off x="1234440" y="1691640"/>
            <a:ext cx="10332720" cy="777240"/>
          </a:xfrm>
          <a:prstGeom prst="rect">
            <a:avLst/>
          </a:prstGeom>
          <a:noFill/>
        </p:spPr>
        <p:txBody>
          <a:bodyPr wrap="square" lIns="0" tIns="0" rIns="0" bIns="0">
            <a:spAutoFit/>
          </a:bodyPr>
          <a:lstStyle/>
          <a:p>
            <a:pPr algn="l"/>
            <a:r>
              <a:rPr sz="1400" b="1" i="0">
                <a:solidFill>
                  <a:srgbClr val="EAF4FF"/>
                </a:solidFill>
                <a:latin typeface="Arial"/>
              </a:rPr>
              <a:t>SIZE</a:t>
            </a:r>
            <a:r>
              <a:rPr sz="1300" b="0" i="0">
                <a:solidFill>
                  <a:srgbClr val="7E93B8"/>
                </a:solidFill>
                <a:latin typeface="Arial"/>
              </a:rPr>
              <a:t>  —  </a:t>
            </a:r>
            <a:r>
              <a:rPr sz="1250" b="0" i="0">
                <a:solidFill>
                  <a:srgbClr val="CFE3FF"/>
                </a:solidFill>
                <a:latin typeface="Arial"/>
              </a:rPr>
              <a:t>semi-major axis — how big; this alone sets the period</a:t>
            </a:r>
          </a:p>
        </p:txBody>
      </p:sp>
      <p:sp>
        <p:nvSpPr>
          <p:cNvPr id="8" name="Oval 7"/>
          <p:cNvSpPr/>
          <p:nvPr/>
        </p:nvSpPr>
        <p:spPr>
          <a:xfrm>
            <a:off x="640080" y="248716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2</a:t>
            </a:r>
          </a:p>
        </p:txBody>
      </p:sp>
      <p:sp>
        <p:nvSpPr>
          <p:cNvPr id="9" name="TextBox 8"/>
          <p:cNvSpPr txBox="1"/>
          <p:nvPr/>
        </p:nvSpPr>
        <p:spPr>
          <a:xfrm>
            <a:off x="1234440" y="2468880"/>
            <a:ext cx="10332720" cy="777240"/>
          </a:xfrm>
          <a:prstGeom prst="rect">
            <a:avLst/>
          </a:prstGeom>
          <a:noFill/>
        </p:spPr>
        <p:txBody>
          <a:bodyPr wrap="square" lIns="0" tIns="0" rIns="0" bIns="0">
            <a:spAutoFit/>
          </a:bodyPr>
          <a:lstStyle/>
          <a:p>
            <a:pPr algn="l"/>
            <a:r>
              <a:rPr sz="1400" b="1" i="0">
                <a:solidFill>
                  <a:srgbClr val="EAF4FF"/>
                </a:solidFill>
                <a:latin typeface="Arial"/>
              </a:rPr>
              <a:t>SHAPE</a:t>
            </a:r>
            <a:r>
              <a:rPr sz="1300" b="0" i="0">
                <a:solidFill>
                  <a:srgbClr val="7E93B8"/>
                </a:solidFill>
                <a:latin typeface="Arial"/>
              </a:rPr>
              <a:t>  —  </a:t>
            </a:r>
            <a:r>
              <a:rPr sz="1250" b="0" i="0">
                <a:solidFill>
                  <a:srgbClr val="CFE3FF"/>
                </a:solidFill>
                <a:latin typeface="Arial"/>
              </a:rPr>
              <a:t>eccentricity — circle (0) to cigar (near 1)</a:t>
            </a:r>
          </a:p>
        </p:txBody>
      </p:sp>
      <p:sp>
        <p:nvSpPr>
          <p:cNvPr id="10" name="Oval 9"/>
          <p:cNvSpPr/>
          <p:nvPr/>
        </p:nvSpPr>
        <p:spPr>
          <a:xfrm>
            <a:off x="640080" y="326440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3</a:t>
            </a:r>
          </a:p>
        </p:txBody>
      </p:sp>
      <p:sp>
        <p:nvSpPr>
          <p:cNvPr id="11" name="TextBox 10"/>
          <p:cNvSpPr txBox="1"/>
          <p:nvPr/>
        </p:nvSpPr>
        <p:spPr>
          <a:xfrm>
            <a:off x="1234440" y="3246120"/>
            <a:ext cx="10332720" cy="777240"/>
          </a:xfrm>
          <a:prstGeom prst="rect">
            <a:avLst/>
          </a:prstGeom>
          <a:noFill/>
        </p:spPr>
        <p:txBody>
          <a:bodyPr wrap="square" lIns="0" tIns="0" rIns="0" bIns="0">
            <a:spAutoFit/>
          </a:bodyPr>
          <a:lstStyle/>
          <a:p>
            <a:pPr algn="l"/>
            <a:r>
              <a:rPr sz="1400" b="1" i="0">
                <a:solidFill>
                  <a:srgbClr val="EAF4FF"/>
                </a:solidFill>
                <a:latin typeface="Arial"/>
              </a:rPr>
              <a:t>TILT</a:t>
            </a:r>
            <a:r>
              <a:rPr sz="1300" b="0" i="0">
                <a:solidFill>
                  <a:srgbClr val="7E93B8"/>
                </a:solidFill>
                <a:latin typeface="Arial"/>
              </a:rPr>
              <a:t>  —  </a:t>
            </a:r>
            <a:r>
              <a:rPr sz="1250" b="0" i="0">
                <a:solidFill>
                  <a:srgbClr val="CFE3FF"/>
                </a:solidFill>
                <a:latin typeface="Arial"/>
              </a:rPr>
              <a:t>inclination — the plane's angle to the equator</a:t>
            </a:r>
          </a:p>
        </p:txBody>
      </p:sp>
      <p:sp>
        <p:nvSpPr>
          <p:cNvPr id="12" name="Oval 11"/>
          <p:cNvSpPr/>
          <p:nvPr/>
        </p:nvSpPr>
        <p:spPr>
          <a:xfrm>
            <a:off x="640080" y="404164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4</a:t>
            </a:r>
          </a:p>
        </p:txBody>
      </p:sp>
      <p:sp>
        <p:nvSpPr>
          <p:cNvPr id="13" name="TextBox 12"/>
          <p:cNvSpPr txBox="1"/>
          <p:nvPr/>
        </p:nvSpPr>
        <p:spPr>
          <a:xfrm>
            <a:off x="1234440" y="4023360"/>
            <a:ext cx="10332720" cy="777240"/>
          </a:xfrm>
          <a:prstGeom prst="rect">
            <a:avLst/>
          </a:prstGeom>
          <a:noFill/>
        </p:spPr>
        <p:txBody>
          <a:bodyPr wrap="square" lIns="0" tIns="0" rIns="0" bIns="0">
            <a:spAutoFit/>
          </a:bodyPr>
          <a:lstStyle/>
          <a:p>
            <a:pPr algn="l"/>
            <a:r>
              <a:rPr sz="1400" b="1" i="0">
                <a:solidFill>
                  <a:srgbClr val="EAF4FF"/>
                </a:solidFill>
                <a:latin typeface="Arial"/>
              </a:rPr>
              <a:t>SWIVEL</a:t>
            </a:r>
            <a:r>
              <a:rPr sz="1300" b="0" i="0">
                <a:solidFill>
                  <a:srgbClr val="7E93B8"/>
                </a:solidFill>
                <a:latin typeface="Arial"/>
              </a:rPr>
              <a:t>  —  </a:t>
            </a:r>
            <a:r>
              <a:rPr sz="1250" b="0" i="0">
                <a:solidFill>
                  <a:srgbClr val="CFE3FF"/>
                </a:solidFill>
                <a:latin typeface="Arial"/>
              </a:rPr>
              <a:t>RAAN — where the plane points among the stars</a:t>
            </a:r>
          </a:p>
        </p:txBody>
      </p:sp>
      <p:sp>
        <p:nvSpPr>
          <p:cNvPr id="14" name="Oval 13"/>
          <p:cNvSpPr/>
          <p:nvPr/>
        </p:nvSpPr>
        <p:spPr>
          <a:xfrm>
            <a:off x="640080" y="481888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5</a:t>
            </a:r>
          </a:p>
        </p:txBody>
      </p:sp>
      <p:sp>
        <p:nvSpPr>
          <p:cNvPr id="15" name="TextBox 14"/>
          <p:cNvSpPr txBox="1"/>
          <p:nvPr/>
        </p:nvSpPr>
        <p:spPr>
          <a:xfrm>
            <a:off x="1234440" y="4800600"/>
            <a:ext cx="10332720" cy="777240"/>
          </a:xfrm>
          <a:prstGeom prst="rect">
            <a:avLst/>
          </a:prstGeom>
          <a:noFill/>
        </p:spPr>
        <p:txBody>
          <a:bodyPr wrap="square" lIns="0" tIns="0" rIns="0" bIns="0">
            <a:spAutoFit/>
          </a:bodyPr>
          <a:lstStyle/>
          <a:p>
            <a:pPr algn="l"/>
            <a:r>
              <a:rPr sz="1400" b="1" i="0">
                <a:solidFill>
                  <a:srgbClr val="EAF4FF"/>
                </a:solidFill>
                <a:latin typeface="Arial"/>
              </a:rPr>
              <a:t>TWIST</a:t>
            </a:r>
            <a:r>
              <a:rPr sz="1300" b="0" i="0">
                <a:solidFill>
                  <a:srgbClr val="7E93B8"/>
                </a:solidFill>
                <a:latin typeface="Arial"/>
              </a:rPr>
              <a:t>  —  </a:t>
            </a:r>
            <a:r>
              <a:rPr sz="1250" b="0" i="0">
                <a:solidFill>
                  <a:srgbClr val="CFE3FF"/>
                </a:solidFill>
                <a:latin typeface="Arial"/>
              </a:rPr>
              <a:t>argument of perigee — where the low point sits on the ring</a:t>
            </a:r>
          </a:p>
        </p:txBody>
      </p:sp>
      <p:sp>
        <p:nvSpPr>
          <p:cNvPr id="16" name="Oval 15"/>
          <p:cNvSpPr/>
          <p:nvPr/>
        </p:nvSpPr>
        <p:spPr>
          <a:xfrm>
            <a:off x="640080" y="5596127"/>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6</a:t>
            </a:r>
          </a:p>
        </p:txBody>
      </p:sp>
      <p:sp>
        <p:nvSpPr>
          <p:cNvPr id="17" name="TextBox 16"/>
          <p:cNvSpPr txBox="1"/>
          <p:nvPr/>
        </p:nvSpPr>
        <p:spPr>
          <a:xfrm>
            <a:off x="1234440" y="5577840"/>
            <a:ext cx="10332720" cy="777240"/>
          </a:xfrm>
          <a:prstGeom prst="rect">
            <a:avLst/>
          </a:prstGeom>
          <a:noFill/>
        </p:spPr>
        <p:txBody>
          <a:bodyPr wrap="square" lIns="0" tIns="0" rIns="0" bIns="0">
            <a:spAutoFit/>
          </a:bodyPr>
          <a:lstStyle/>
          <a:p>
            <a:pPr algn="l"/>
            <a:r>
              <a:rPr sz="1400" b="1" i="0">
                <a:solidFill>
                  <a:srgbClr val="EAF4FF"/>
                </a:solidFill>
                <a:latin typeface="Arial"/>
              </a:rPr>
              <a:t>POSITION</a:t>
            </a:r>
            <a:r>
              <a:rPr sz="1300" b="0" i="0">
                <a:solidFill>
                  <a:srgbClr val="7E93B8"/>
                </a:solidFill>
                <a:latin typeface="Arial"/>
              </a:rPr>
              <a:t>  —  </a:t>
            </a:r>
            <a:r>
              <a:rPr sz="1250" b="0" i="0">
                <a:solidFill>
                  <a:srgbClr val="CFE3FF"/>
                </a:solidFill>
                <a:latin typeface="Arial"/>
              </a:rPr>
              <a:t>anomaly — where the satellite is right now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3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Reshaping vs re-orienting</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783080"/>
            <a:ext cx="5358384" cy="28346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2057400"/>
            <a:ext cx="4773168" cy="2286000"/>
          </a:xfrm>
          <a:prstGeom prst="rect">
            <a:avLst/>
          </a:prstGeom>
          <a:noFill/>
        </p:spPr>
        <p:txBody>
          <a:bodyPr wrap="square" lIns="0" tIns="0" rIns="0" bIns="0">
            <a:spAutoFit/>
          </a:bodyPr>
          <a:lstStyle/>
          <a:p>
            <a:pPr algn="l">
              <a:spcAft>
                <a:spcPts val="1200"/>
              </a:spcAft>
            </a:pPr>
            <a:r>
              <a:rPr sz="1650" b="1" i="0">
                <a:solidFill>
                  <a:srgbClr val="5FD0FF"/>
                </a:solidFill>
                <a:latin typeface="Arial"/>
              </a:rPr>
              <a:t>Change the SIZE</a:t>
            </a:r>
          </a:p>
          <a:p>
            <a:pPr algn="l">
              <a:spcAft>
                <a:spcPts val="900"/>
              </a:spcAft>
            </a:pPr>
            <a:r>
              <a:rPr sz="1300" b="0" i="0">
                <a:solidFill>
                  <a:srgbClr val="CFE3FF"/>
                </a:solidFill>
                <a:latin typeface="Arial"/>
              </a:rPr>
              <a:t>the period changes</a:t>
            </a:r>
          </a:p>
          <a:p>
            <a:pPr algn="l">
              <a:spcAft>
                <a:spcPts val="900"/>
              </a:spcAft>
            </a:pPr>
            <a:r>
              <a:rPr sz="1300" b="0" i="0">
                <a:solidFill>
                  <a:srgbClr val="CFE3FF"/>
                </a:solidFill>
                <a:latin typeface="Arial"/>
              </a:rPr>
              <a:t>size alone sets the clock</a:t>
            </a:r>
          </a:p>
          <a:p>
            <a:pPr algn="l">
              <a:spcAft>
                <a:spcPts val="900"/>
              </a:spcAft>
            </a:pPr>
            <a:r>
              <a:rPr sz="1300" b="0" i="0">
                <a:solidFill>
                  <a:srgbClr val="CFE3FF"/>
                </a:solidFill>
                <a:latin typeface="Arial"/>
              </a:rPr>
              <a:t>apogee and perigee move</a:t>
            </a:r>
          </a:p>
        </p:txBody>
      </p:sp>
      <p:sp>
        <p:nvSpPr>
          <p:cNvPr id="8" name="Rounded Rectangle 7"/>
          <p:cNvSpPr/>
          <p:nvPr/>
        </p:nvSpPr>
        <p:spPr>
          <a:xfrm>
            <a:off x="6281928" y="1783080"/>
            <a:ext cx="5358384" cy="28346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74536" y="2057400"/>
            <a:ext cx="4773168" cy="2286000"/>
          </a:xfrm>
          <a:prstGeom prst="rect">
            <a:avLst/>
          </a:prstGeom>
          <a:noFill/>
        </p:spPr>
        <p:txBody>
          <a:bodyPr wrap="square" lIns="0" tIns="0" rIns="0" bIns="0">
            <a:spAutoFit/>
          </a:bodyPr>
          <a:lstStyle/>
          <a:p>
            <a:pPr algn="l">
              <a:spcAft>
                <a:spcPts val="1200"/>
              </a:spcAft>
            </a:pPr>
            <a:r>
              <a:rPr sz="1650" b="1" i="0">
                <a:solidFill>
                  <a:srgbClr val="FFCF4D"/>
                </a:solidFill>
                <a:latin typeface="Arial"/>
              </a:rPr>
              <a:t>Swivel or twist it</a:t>
            </a:r>
          </a:p>
          <a:p>
            <a:pPr algn="l">
              <a:spcAft>
                <a:spcPts val="900"/>
              </a:spcAft>
            </a:pPr>
            <a:r>
              <a:rPr sz="1300" b="0" i="0">
                <a:solidFill>
                  <a:srgbClr val="CFE3FF"/>
                </a:solidFill>
                <a:latin typeface="Arial"/>
              </a:rPr>
              <a:t>period: unchanged</a:t>
            </a:r>
          </a:p>
          <a:p>
            <a:pPr algn="l">
              <a:spcAft>
                <a:spcPts val="900"/>
              </a:spcAft>
            </a:pPr>
            <a:r>
              <a:rPr sz="1300" b="0" i="0">
                <a:solidFill>
                  <a:srgbClr val="CFE3FF"/>
                </a:solidFill>
                <a:latin typeface="Arial"/>
              </a:rPr>
              <a:t>apogee &amp; perigee: unchanged</a:t>
            </a:r>
          </a:p>
          <a:p>
            <a:pPr algn="l">
              <a:spcAft>
                <a:spcPts val="900"/>
              </a:spcAft>
            </a:pPr>
            <a:r>
              <a:rPr sz="1300" b="0" i="0">
                <a:solidFill>
                  <a:srgbClr val="CFE3FF"/>
                </a:solidFill>
                <a:latin typeface="Arial"/>
              </a:rPr>
              <a:t>same orbit — new orientation in space</a:t>
            </a:r>
          </a:p>
        </p:txBody>
      </p:sp>
      <p:sp>
        <p:nvSpPr>
          <p:cNvPr id="10" name="TextBox 9"/>
          <p:cNvSpPr txBox="1"/>
          <p:nvPr/>
        </p:nvSpPr>
        <p:spPr>
          <a:xfrm>
            <a:off x="548640" y="4983480"/>
            <a:ext cx="11064240" cy="822960"/>
          </a:xfrm>
          <a:prstGeom prst="rect">
            <a:avLst/>
          </a:prstGeom>
          <a:noFill/>
        </p:spPr>
        <p:txBody>
          <a:bodyPr wrap="square" lIns="0" tIns="0" rIns="0" bIns="0">
            <a:spAutoFit/>
          </a:bodyPr>
          <a:lstStyle/>
          <a:p>
            <a:pPr algn="l"/>
            <a:r>
              <a:rPr sz="1350" b="0" i="1">
                <a:solidFill>
                  <a:srgbClr val="CFE3FF"/>
                </a:solidFill>
                <a:latin typeface="Arial"/>
              </a:rPr>
              <a:t>Invariance is the heart of the module: turning an orbit is not the same as changing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3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The TLE: an orbit in two text lines</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63827" y="2148840"/>
            <a:ext cx="457200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46707" y="2148840"/>
            <a:ext cx="420624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6 + 2</a:t>
            </a:r>
          </a:p>
          <a:p>
            <a:pPr algn="ctr"/>
            <a:r>
              <a:rPr sz="1250" b="0" i="0">
                <a:solidFill>
                  <a:srgbClr val="CFE3FF"/>
                </a:solidFill>
                <a:latin typeface="Arial"/>
              </a:rPr>
              <a:t>the six elements, plus epoch and a drag term</a:t>
            </a:r>
          </a:p>
        </p:txBody>
      </p:sp>
      <p:sp>
        <p:nvSpPr>
          <p:cNvPr id="8" name="Rounded Rectangle 7"/>
          <p:cNvSpPr/>
          <p:nvPr/>
        </p:nvSpPr>
        <p:spPr>
          <a:xfrm>
            <a:off x="6255867" y="2148840"/>
            <a:ext cx="457200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38747" y="2148840"/>
            <a:ext cx="420624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orbits/day</a:t>
            </a:r>
          </a:p>
          <a:p>
            <a:pPr algn="ctr"/>
            <a:r>
              <a:rPr sz="1250" b="0" i="0">
                <a:solidFill>
                  <a:srgbClr val="CFE3FF"/>
                </a:solidFill>
                <a:latin typeface="Arial"/>
              </a:rPr>
              <a:t>mean motion — how a TLE encodes the size</a:t>
            </a:r>
          </a:p>
        </p:txBody>
      </p:sp>
      <p:sp>
        <p:nvSpPr>
          <p:cNvPr id="10" name="TextBox 9"/>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Fixed columns, no labels — a format from the punch-card era, still the standard. A TLE describes the ideal Keplerian ellipse at one timestamp.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3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Molniya: the magic inclination</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63827" y="2148840"/>
            <a:ext cx="457200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46707" y="2148840"/>
            <a:ext cx="420624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63.4°</a:t>
            </a:r>
          </a:p>
          <a:p>
            <a:pPr algn="ctr"/>
            <a:r>
              <a:rPr sz="1250" b="0" i="0">
                <a:solidFill>
                  <a:srgbClr val="CFE3FF"/>
                </a:solidFill>
                <a:latin typeface="Arial"/>
              </a:rPr>
              <a:t>freezes the perigee — apogee stays parked</a:t>
            </a:r>
          </a:p>
        </p:txBody>
      </p:sp>
      <p:sp>
        <p:nvSpPr>
          <p:cNvPr id="8" name="Rounded Rectangle 7"/>
          <p:cNvSpPr/>
          <p:nvPr/>
        </p:nvSpPr>
        <p:spPr>
          <a:xfrm>
            <a:off x="6255867" y="2148840"/>
            <a:ext cx="457200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38747" y="2148840"/>
            <a:ext cx="420624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12 h</a:t>
            </a:r>
          </a:p>
          <a:p>
            <a:pPr algn="ctr"/>
            <a:r>
              <a:rPr sz="1250" b="0" i="0">
                <a:solidFill>
                  <a:srgbClr val="CFE3FF"/>
                </a:solidFill>
                <a:latin typeface="Arial"/>
              </a:rPr>
              <a:t>period; it loiters for hours over the far north</a:t>
            </a:r>
          </a:p>
        </p:txBody>
      </p:sp>
      <p:sp>
        <p:nvSpPr>
          <p:cNvPr id="10" name="TextBox 9"/>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Two designer orbits from one perturbation: J2 parks Molniya’s apogee over the north — and precesses a 98.2° sun-synchronous orbit to track the Sun at +0.9856°/day, same lighting every pass.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3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What you'll do</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PREDICT</a:t>
            </a:r>
          </a:p>
          <a:p>
            <a:pPr algn="l"/>
            <a:r>
              <a:rPr sz="1050" b="0" i="0">
                <a:solidFill>
                  <a:srgbClr val="7E93B8"/>
                </a:solidFill>
                <a:latin typeface="Arial"/>
              </a:rPr>
              <a:t>call your shot first</a:t>
            </a:r>
          </a:p>
        </p:txBody>
      </p:sp>
      <p:sp>
        <p:nvSpPr>
          <p:cNvPr id="8" name="TextBox 7"/>
          <p:cNvSpPr txBox="1"/>
          <p:nvPr/>
        </p:nvSpPr>
        <p:spPr>
          <a:xfrm>
            <a:off x="3401568" y="1810512"/>
            <a:ext cx="411480" cy="548640"/>
          </a:xfrm>
          <a:prstGeom prst="rect">
            <a:avLst/>
          </a:prstGeom>
          <a:noFill/>
        </p:spPr>
        <p:txBody>
          <a:bodyPr wrap="square" lIns="0" tIns="0" rIns="0" bIns="0">
            <a:spAutoFit/>
          </a:bodyPr>
          <a:lstStyle/>
          <a:p>
            <a:pPr algn="ctr"/>
            <a:r>
              <a:rPr sz="2200" b="1" i="0">
                <a:solidFill>
                  <a:srgbClr val="FFCF4D"/>
                </a:solidFill>
                <a:latin typeface="Arial"/>
              </a:rPr>
              <a:t>→</a:t>
            </a:r>
          </a:p>
        </p:txBody>
      </p:sp>
      <p:sp>
        <p:nvSpPr>
          <p:cNvPr id="9" name="Rounded Rectangle 8"/>
          <p:cNvSpPr/>
          <p:nvPr/>
        </p:nvSpPr>
        <p:spPr>
          <a:xfrm>
            <a:off x="379475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23359"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TRY</a:t>
            </a:r>
          </a:p>
          <a:p>
            <a:pPr algn="l"/>
            <a:r>
              <a:rPr sz="1050" b="0" i="0">
                <a:solidFill>
                  <a:srgbClr val="7E93B8"/>
                </a:solidFill>
                <a:latin typeface="Arial"/>
              </a:rPr>
              <a:t>run it in the simulator</a:t>
            </a:r>
          </a:p>
        </p:txBody>
      </p:sp>
      <p:sp>
        <p:nvSpPr>
          <p:cNvPr id="11" name="TextBox 10"/>
          <p:cNvSpPr txBox="1"/>
          <p:nvPr/>
        </p:nvSpPr>
        <p:spPr>
          <a:xfrm>
            <a:off x="6647688" y="1810512"/>
            <a:ext cx="411480" cy="548640"/>
          </a:xfrm>
          <a:prstGeom prst="rect">
            <a:avLst/>
          </a:prstGeom>
          <a:noFill/>
        </p:spPr>
        <p:txBody>
          <a:bodyPr wrap="square" lIns="0" tIns="0" rIns="0" bIns="0">
            <a:spAutoFit/>
          </a:bodyPr>
          <a:lstStyle/>
          <a:p>
            <a:pPr algn="ctr"/>
            <a:r>
              <a:rPr sz="2200" b="1" i="0">
                <a:solidFill>
                  <a:srgbClr val="FFCF4D"/>
                </a:solidFill>
                <a:latin typeface="Arial"/>
              </a:rPr>
              <a:t>→</a:t>
            </a:r>
          </a:p>
        </p:txBody>
      </p:sp>
      <p:sp>
        <p:nvSpPr>
          <p:cNvPr id="12" name="Rounded Rectangle 11"/>
          <p:cNvSpPr/>
          <p:nvPr/>
        </p:nvSpPr>
        <p:spPr>
          <a:xfrm>
            <a:off x="704087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69479"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OBSERVE</a:t>
            </a:r>
          </a:p>
          <a:p>
            <a:pPr algn="l"/>
            <a:r>
              <a:rPr sz="1050" b="0" i="0">
                <a:solidFill>
                  <a:srgbClr val="7E93B8"/>
                </a:solidFill>
                <a:latin typeface="Arial"/>
              </a:rPr>
              <a:t>note what actually changed</a:t>
            </a:r>
          </a:p>
        </p:txBody>
      </p:sp>
      <p:sp>
        <p:nvSpPr>
          <p:cNvPr id="14" name="Oval 13"/>
          <p:cNvSpPr/>
          <p:nvPr/>
        </p:nvSpPr>
        <p:spPr>
          <a:xfrm>
            <a:off x="690371" y="327812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200400"/>
            <a:ext cx="10607040" cy="685800"/>
          </a:xfrm>
          <a:prstGeom prst="rect">
            <a:avLst/>
          </a:prstGeom>
          <a:noFill/>
        </p:spPr>
        <p:txBody>
          <a:bodyPr wrap="square" lIns="0" tIns="0" rIns="0" bIns="0">
            <a:spAutoFit/>
          </a:bodyPr>
          <a:lstStyle/>
          <a:p>
            <a:pPr algn="l"/>
            <a:r>
              <a:rPr sz="1350" b="0" i="0">
                <a:solidFill>
                  <a:srgbClr val="CFE3FF"/>
                </a:solidFill>
                <a:latin typeface="Arial"/>
              </a:rPr>
              <a:t>Drag one element slider at a time and watch which readouts respond.</a:t>
            </a:r>
          </a:p>
        </p:txBody>
      </p:sp>
      <p:sp>
        <p:nvSpPr>
          <p:cNvPr id="16" name="Oval 15"/>
          <p:cNvSpPr/>
          <p:nvPr/>
        </p:nvSpPr>
        <p:spPr>
          <a:xfrm>
            <a:off x="690371" y="3991356"/>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913632"/>
            <a:ext cx="10607040" cy="685800"/>
          </a:xfrm>
          <a:prstGeom prst="rect">
            <a:avLst/>
          </a:prstGeom>
          <a:noFill/>
        </p:spPr>
        <p:txBody>
          <a:bodyPr wrap="square" lIns="0" tIns="0" rIns="0" bIns="0">
            <a:spAutoFit/>
          </a:bodyPr>
          <a:lstStyle/>
          <a:p>
            <a:pPr algn="l"/>
            <a:r>
              <a:rPr sz="1350" b="0" i="0">
                <a:solidFill>
                  <a:srgbClr val="CFE3FF"/>
                </a:solidFill>
                <a:latin typeface="Arial"/>
              </a:rPr>
              <a:t>Verify the invariants: swivel and twist the orbit — period, apogee, perigee hold still.</a:t>
            </a:r>
          </a:p>
        </p:txBody>
      </p:sp>
      <p:sp>
        <p:nvSpPr>
          <p:cNvPr id="18" name="Oval 17"/>
          <p:cNvSpPr/>
          <p:nvPr/>
        </p:nvSpPr>
        <p:spPr>
          <a:xfrm>
            <a:off x="690371" y="4704588"/>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4626864"/>
            <a:ext cx="10607040" cy="685800"/>
          </a:xfrm>
          <a:prstGeom prst="rect">
            <a:avLst/>
          </a:prstGeom>
          <a:noFill/>
        </p:spPr>
        <p:txBody>
          <a:bodyPr wrap="square" lIns="0" tIns="0" rIns="0" bIns="0">
            <a:spAutoFit/>
          </a:bodyPr>
          <a:lstStyle/>
          <a:p>
            <a:pPr algn="l"/>
            <a:r>
              <a:rPr sz="1350" b="0" i="0">
                <a:solidFill>
                  <a:srgbClr val="CFE3FF"/>
                </a:solidFill>
                <a:latin typeface="Arial"/>
              </a:rPr>
              <a:t>Read your own orbit written out as a live TLE.</a:t>
            </a:r>
          </a:p>
        </p:txBody>
      </p:sp>
      <p:sp>
        <p:nvSpPr>
          <p:cNvPr id="20" name="Oval 19"/>
          <p:cNvSpPr/>
          <p:nvPr/>
        </p:nvSpPr>
        <p:spPr>
          <a:xfrm>
            <a:off x="690371" y="5417820"/>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340096"/>
            <a:ext cx="10607040" cy="685800"/>
          </a:xfrm>
          <a:prstGeom prst="rect">
            <a:avLst/>
          </a:prstGeom>
          <a:noFill/>
        </p:spPr>
        <p:txBody>
          <a:bodyPr wrap="square" lIns="0" tIns="0" rIns="0" bIns="0">
            <a:spAutoFit/>
          </a:bodyPr>
          <a:lstStyle/>
          <a:p>
            <a:pPr algn="l"/>
            <a:r>
              <a:rPr sz="1350" b="0" i="0">
                <a:solidFill>
                  <a:srgbClr val="CFE3FF"/>
                </a:solidFill>
                <a:latin typeface="Arial"/>
              </a:rPr>
              <a:t>Invent Molniya by trial and error — then ride a sun-synchronous orbit and watch its plane track the Sun.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Oval 1"/>
          <p:cNvSpPr/>
          <p:nvPr/>
        </p:nvSpPr>
        <p:spPr>
          <a:xfrm>
            <a:off x="4953304" y="548640"/>
            <a:ext cx="2286000" cy="822960"/>
          </a:xfrm>
          <a:prstGeom prst="ellipse">
            <a:avLst/>
          </a:prstGeom>
          <a:noFill/>
          <a:ln w="15875">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189012" y="909828"/>
            <a:ext cx="100584" cy="100584"/>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055156" y="507492"/>
            <a:ext cx="82296" cy="82296"/>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37360"/>
            <a:ext cx="9966960" cy="365760"/>
          </a:xfrm>
          <a:prstGeom prst="rect">
            <a:avLst/>
          </a:prstGeom>
          <a:noFill/>
        </p:spPr>
        <p:txBody>
          <a:bodyPr wrap="square" lIns="0" tIns="0" rIns="0" bIns="0">
            <a:spAutoFit/>
          </a:bodyPr>
          <a:lstStyle/>
          <a:p>
            <a:pPr algn="ctr"/>
            <a:r>
              <a:rPr sz="1250" b="1" i="0">
                <a:solidFill>
                  <a:srgbClr val="FFCF4D"/>
                </a:solidFill>
                <a:latin typeface="Arial"/>
              </a:rPr>
              <a:t>THE ONE THING TO REMEMBER</a:t>
            </a:r>
          </a:p>
        </p:txBody>
      </p:sp>
      <p:sp>
        <p:nvSpPr>
          <p:cNvPr id="6" name="TextBox 5"/>
          <p:cNvSpPr txBox="1"/>
          <p:nvPr/>
        </p:nvSpPr>
        <p:spPr>
          <a:xfrm>
            <a:off x="1234440" y="2743200"/>
            <a:ext cx="9692640" cy="892552"/>
          </a:xfrm>
          <a:prstGeom prst="rect">
            <a:avLst/>
          </a:prstGeom>
          <a:noFill/>
        </p:spPr>
        <p:txBody>
          <a:bodyPr wrap="square" lIns="0" tIns="0" rIns="0" bIns="0">
            <a:spAutoFit/>
          </a:bodyPr>
          <a:lstStyle/>
          <a:p>
            <a:pPr algn="ctr"/>
            <a:r>
              <a:rPr sz="2900" b="1" i="0">
                <a:solidFill>
                  <a:srgbClr val="5FD0FF"/>
                </a:solidFill>
                <a:latin typeface="Arial"/>
              </a:rPr>
              <a:t>Six numbers name any orbit — </a:t>
            </a:r>
            <a:endParaRPr lang="en-US" sz="2900" b="1" i="0">
              <a:solidFill>
                <a:srgbClr val="5FD0FF"/>
              </a:solidFill>
              <a:latin typeface="Arial"/>
            </a:endParaRPr>
          </a:p>
          <a:p>
            <a:pPr algn="ctr"/>
            <a:r>
              <a:rPr sz="2900" b="1" i="0">
                <a:solidFill>
                  <a:srgbClr val="5FD0FF"/>
                </a:solidFill>
                <a:latin typeface="Arial"/>
              </a:rPr>
              <a:t>and only the size sets the clock.</a:t>
            </a:r>
          </a:p>
        </p:txBody>
      </p:sp>
      <p:sp>
        <p:nvSpPr>
          <p:cNvPr id="7" name="TextBox 6"/>
          <p:cNvSpPr txBox="1"/>
          <p:nvPr/>
        </p:nvSpPr>
        <p:spPr>
          <a:xfrm>
            <a:off x="1097280" y="5212080"/>
            <a:ext cx="9966960" cy="457200"/>
          </a:xfrm>
          <a:prstGeom prst="rect">
            <a:avLst/>
          </a:prstGeom>
          <a:noFill/>
        </p:spPr>
        <p:txBody>
          <a:bodyPr wrap="square" lIns="0" tIns="0" rIns="0" bIns="0">
            <a:spAutoFit/>
          </a:bodyPr>
          <a:lstStyle/>
          <a:p>
            <a:pPr algn="ctr"/>
            <a:r>
              <a:rPr sz="1500" b="1" i="0">
                <a:solidFill>
                  <a:srgbClr val="39D353"/>
                </a:solidFill>
                <a:latin typeface="Arial"/>
              </a:rPr>
              <a:t>Open Worksheet 3 and keep the simulator beside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944</Words>
  <Application>Microsoft Macintosh PowerPoint</Application>
  <PresentationFormat>Widescreen</PresentationFormat>
  <Paragraphs>78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Stubbs, Christopher William</cp:lastModifiedBy>
  <cp:revision>2</cp:revision>
  <dcterms:created xsi:type="dcterms:W3CDTF">2013-01-27T09:14:16Z</dcterms:created>
  <dcterms:modified xsi:type="dcterms:W3CDTF">2026-07-20T13:20:36Z</dcterms:modified>
  <cp:category/>
</cp:coreProperties>
</file>