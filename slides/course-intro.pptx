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jasonss26.github.io/orbit-academy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jasonss26.github.io/orbit-academy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1080000">
            <a:off x="8503920" y="502920"/>
            <a:ext cx="5120640" cy="2160270"/>
          </a:xfrm>
          <a:prstGeom prst="ellipse">
            <a:avLst/>
          </a:prstGeom>
          <a:ln w="15240">
            <a:solidFill>
              <a:srgbClr val="5FD0FF"/>
            </a:solidFill>
            <a:prstDash val="dash"/>
          </a:ln>
        </p:spPr>
      </p:sp>
      <p:sp>
        <p:nvSpPr>
          <p:cNvPr id="3" name="Shape 1"/>
          <p:cNvSpPr/>
          <p:nvPr/>
        </p:nvSpPr>
        <p:spPr>
          <a:xfrm>
            <a:off x="10664190" y="1255014"/>
            <a:ext cx="800100" cy="80010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144500" y="790956"/>
            <a:ext cx="208026" cy="208026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659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30175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orbital dynamics for non-specialists — from “what is an orbit?” to the cislunar regime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3886200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 ·  each pairs a guided worksheet with a live 3-D simulator
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entirely offline — nothing to install, nothing to download, ever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13232" y="5029200"/>
            <a:ext cx="7315200" cy="777240"/>
          </a:xfrm>
          <a:prstGeom prst="roundRect">
            <a:avLst>
              <a:gd name="adj" fmla="val 14118"/>
            </a:avLst>
          </a:prstGeom>
          <a:solidFill>
            <a:srgbClr val="1B2E4D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513892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everything:   </a:t>
            </a:r>
            <a:pPr indent="0" marL="0">
              <a:buNone/>
            </a:pPr>
            <a:r>
              <a:rPr lang="en-US" sz="1700" b="1" u="sng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jasonss26.github.io/orbit-academy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v5.5 · built for JASON / U.S. Space Force technical-staff training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course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66928" y="1325880"/>
            <a:ext cx="566928" cy="566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3258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44168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 </a:t>
            </a:r>
            <a:pPr indent="0" marL="0">
              <a:buNone/>
            </a:pPr>
            <a:r>
              <a:rPr lang="en-US" sz="15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worksheet teaches one idea at a time, in plain language and analogies.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2496312"/>
            <a:ext cx="566928" cy="566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66928" y="2496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51460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 </a:t>
            </a:r>
            <a:pPr indent="0" marL="0">
              <a:buNone/>
            </a:pPr>
            <a:r>
              <a:rPr lang="en-US" sz="15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a control, the student commits to a hypothesis.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66928" y="3666744"/>
            <a:ext cx="566928" cy="566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66928" y="36667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685032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   </a:t>
            </a:r>
            <a:pPr indent="0" marL="0">
              <a:buNone/>
            </a:pPr>
            <a:r>
              <a:rPr lang="en-US" sz="15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3-D simulator puts the idea in their hands — launch it, break it, watch it.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66928" y="4837176"/>
            <a:ext cx="566928" cy="566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66928" y="48371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4855464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 </a:t>
            </a:r>
            <a:pPr indent="0" marL="0">
              <a:buNone/>
            </a:pPr>
            <a:r>
              <a:rPr lang="en-US" sz="15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self-checking question closes each exercise; the module completes when all pass.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589520" y="132588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111E33"/>
          </a:solidFill>
          <a:ln w="12700">
            <a:solidFill>
              <a:srgbClr val="2B4A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first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057400"/>
            <a:ext cx="36118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qualitative — nothing beyond simple arithmetic ever appears.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a working gut feel for orbitology, through the cislunar regime.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is something the student can SEE happen in the simulator.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Course-wide final quiz and a printable completion certificate.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classroom model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1143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is designed as a half-day, hands-on interactive session.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111E33"/>
          </a:solidFill>
          <a:ln w="12700">
            <a:solidFill>
              <a:srgbClr val="2B4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9568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per student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340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flies their own simulator — orbits are learned by hand, not by watching.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82880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111E33"/>
          </a:solidFill>
          <a:ln w="12700">
            <a:solidFill>
              <a:srgbClr val="2B4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5681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Instructor-led, discussion-heavy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6492240" y="234086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instructor works through the material live, with extensive discussion and Q&amp;A. Ready-made 10-minute intro slide decks ship with the course — one per module, plus this overview.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52044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111E33"/>
          </a:solidFill>
          <a:ln w="12700">
            <a:solidFill>
              <a:srgbClr val="2B4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6484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hours per module</a:t>
            </a:r>
            <a:endParaRPr lang="en-US" sz="165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03250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five for Modules 6 and 8 (cislunar chaos, and the hand-flown capstone). Modules unlock in order.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63640" y="3520440"/>
            <a:ext cx="5440680" cy="1463040"/>
          </a:xfrm>
          <a:prstGeom prst="roundRect">
            <a:avLst>
              <a:gd name="adj" fmla="val 6250"/>
            </a:avLst>
          </a:prstGeom>
          <a:solidFill>
            <a:srgbClr val="111E33"/>
          </a:solidFill>
          <a:ln w="12700">
            <a:solidFill>
              <a:srgbClr val="2B4A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92240" y="364845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fallback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032504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worksheets run solo — a student can also take the whole course alone, at home or in a vault.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5486400"/>
            <a:ext cx="11155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 is for:  </a:t>
            </a:r>
            <a:pPr indent="0" marL="0">
              <a:buNone/>
            </a:pPr>
            <a:r>
              <a:rPr lang="en-US" sz="15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good command of English, a basic high-school education, and a desire to learn. No physics, math, or space background assumed.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run it — same course in both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111E33"/>
          </a:solidFill>
          <a:ln w="19050">
            <a:solidFill>
              <a:srgbClr val="FFCF4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 MODE — “just the course”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488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Unzip, open START-HERE.html. That is the whole installation.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HTML + JavaScript in the browser — no server, no accounts, no internet, ever.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saved in the student's own browser.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for solo learners, review, or an air-gapped laptop.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Download: the ~15 MB “standalone” zip.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440680" cy="4572000"/>
          </a:xfrm>
          <a:prstGeom prst="roundRect">
            <a:avLst>
              <a:gd name="adj" fmla="val 2400"/>
            </a:avLst>
          </a:prstGeom>
          <a:solidFill>
            <a:srgbClr val="111E33"/>
          </a:solidFill>
          <a:ln w="19050">
            <a:solidFill>
              <a:srgbClr val="5FD0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15727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 MODE — course + management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488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one small server (Node.js — also JavaScript; zero other dependencies).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accounts; progress follows the student to any machine.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unlock in order — enforced by the server, not the browser.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dashboard: roster, per-question analytics, worksheet editor.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52578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Download: the ~16 MB full zip. First account registered becomes the instructor.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1554480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 rot="-1080000">
            <a:off x="320040" y="3154680"/>
            <a:ext cx="2779776" cy="1172718"/>
          </a:xfrm>
          <a:prstGeom prst="ellipse">
            <a:avLst/>
          </a:prstGeom>
          <a:ln w="15240">
            <a:solidFill>
              <a:srgbClr val="2B4A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92758" y="3562960"/>
            <a:ext cx="434340" cy="43434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9212" y="3311042"/>
            <a:ext cx="112928" cy="112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simulator: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00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launch, crash, circularize — a sandbox Earth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Orbits Work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students leave able to explain: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860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orbit is falling sideways fast enough to keep missing the Earth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speed sets the whole shape: crash, circle, ellipse, or escape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through perigee, crawling at apogee — farther out means slower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Inclination and launch geography — why Florida and Vandenberg aim where they do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gut sense of scale: how close “space” (and the ISS) really is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1554480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 rot="-1080000">
            <a:off x="320040" y="3154680"/>
            <a:ext cx="2779776" cy="1172718"/>
          </a:xfrm>
          <a:prstGeom prst="ellipse">
            <a:avLst/>
          </a:prstGeom>
          <a:ln w="15240">
            <a:solidFill>
              <a:srgbClr val="2B4A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92758" y="3562960"/>
            <a:ext cx="434340" cy="43434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9212" y="3311042"/>
            <a:ext cx="112928" cy="112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simulator: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00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 belt, ground tracks, satellite phases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Rates &amp; the Geosynchronous Belt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students leave able to explain: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860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rate: how fast a satellite sweeps across your sky, and why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GEO belt: 360 one-degree slots of prized, finite real estate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Geosynchronous vs geostationary — and what inclination does to each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needs a reference frame: still vs the ground, turning vs the stars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stars streak in a telescope while a GEO satellite holds still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1554480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 rot="-1080000">
            <a:off x="320040" y="3154680"/>
            <a:ext cx="2779776" cy="1172718"/>
          </a:xfrm>
          <a:prstGeom prst="ellipse">
            <a:avLst/>
          </a:prstGeom>
          <a:ln w="15240">
            <a:solidFill>
              <a:srgbClr val="2B4A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92758" y="3562960"/>
            <a:ext cx="434340" cy="43434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9212" y="3311042"/>
            <a:ext cx="112928" cy="112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simulator: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00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 all six orbital elements live; ISS to Molniya presets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 Orbits &amp; TLEs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students leave able to explain: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860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numbers pin down any orbit: size, shape, tilt, swivel, twist, position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alone sets the period; re-aiming the ellipse changes nothing else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TLE — the format Space Force publishes for every tracked object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ISS, GPS, GEO, Molniya and sun-synchronous orbits look the way they do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1554480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 rot="-1080000">
            <a:off x="320040" y="3154680"/>
            <a:ext cx="2779776" cy="1172718"/>
          </a:xfrm>
          <a:prstGeom prst="ellipse">
            <a:avLst/>
          </a:prstGeom>
          <a:ln w="15240">
            <a:solidFill>
              <a:srgbClr val="2B4A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92758" y="3562960"/>
            <a:ext cx="434340" cy="43434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9212" y="3311042"/>
            <a:ext cx="112928" cy="112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simulator: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00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delta-v, watch drag and J2 bend the orbit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Maneuvers &amp; Perturbations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students leave able to explain: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860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Delta-v: the finite currency a satellite spends to reshape its orbit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 along-track, not “up” — the radial-burn paradox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big change is two burns: raise apogee, then circularize (LEO to GEO)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Drag, J2, and sunlight: why real orbits — and TLEs — go stale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drag surprise: losing energy makes the satellite move faster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1554480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 rot="-1080000">
            <a:off x="320040" y="3154680"/>
            <a:ext cx="2779776" cy="1172718"/>
          </a:xfrm>
          <a:prstGeom prst="ellipse">
            <a:avLst/>
          </a:prstGeom>
          <a:ln w="15240">
            <a:solidFill>
              <a:srgbClr val="2B4A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92758" y="3562960"/>
            <a:ext cx="434340" cy="43434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9212" y="3311042"/>
            <a:ext cx="112928" cy="112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simulator: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00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Earth–Moon system in four switchable frames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xGEO / Cislunar Space &amp; Reference Frames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students leave able to explain: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860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Moon's Hill sphere: whose gravity owns you, and where that changes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Earth–Moon balance point sits 85% of the way to the Moon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xGEO: where cislunar space begins and ends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reference frame turns a tangle of motion into a steady picture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Reaching the Moon means leading it — like a duck hunter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1554480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 rot="-1080000">
            <a:off x="320040" y="3154680"/>
            <a:ext cx="2779776" cy="1172718"/>
          </a:xfrm>
          <a:prstGeom prst="ellipse">
            <a:avLst/>
          </a:prstGeom>
          <a:ln w="15240">
            <a:solidFill>
              <a:srgbClr val="2B4A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92758" y="3562960"/>
            <a:ext cx="434340" cy="43434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9212" y="3311042"/>
            <a:ext cx="112928" cy="112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simulator: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00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 lab: release object clouds into cislunar chaos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Lagrange Points &amp; Complex Orbits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students leave able to explain: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860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points that keep the Moon's 27.3-day period at the “wrong” distance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L1/L2 are unstable (a golf ball on a basketball) — hence halo orbits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L4/L5 are stable: tadpoles, and captured “minimoons”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resonance: TESS's 2:1 lock with the Moon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Chaos: tiny differences blow up — why cislunar custody is genuinely hard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1554480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 rot="-1080000">
            <a:off x="320040" y="3154680"/>
            <a:ext cx="2779776" cy="1172718"/>
          </a:xfrm>
          <a:prstGeom prst="ellipse">
            <a:avLst/>
          </a:prstGeom>
          <a:ln w="15240">
            <a:solidFill>
              <a:srgbClr val="2B4A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92758" y="3562960"/>
            <a:ext cx="434340" cy="43434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9212" y="3311042"/>
            <a:ext cx="112928" cy="112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simulator: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00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telescope, plate-solver, orbit fitter, radar A-scope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students leave able to explain: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860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Radar's range-to-the-fourth law: LEO easy, GEO hard, xGEO nearly out of reach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sees only sunlit objects; thermal-IR sees warm ones in shadow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gives range, optical gives angles — parallax stitches them together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Custody and cadence: re-observe before the prediction goes stale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ladder of knowing: orbitology, characterization, inferring intent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6858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566928" y="1051560"/>
            <a:ext cx="1554480" cy="1554480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66928" y="1051560"/>
            <a:ext cx="1554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A1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6400" dirty="0"/>
          </a:p>
        </p:txBody>
      </p:sp>
      <p:sp>
        <p:nvSpPr>
          <p:cNvPr id="5" name="Shape 3"/>
          <p:cNvSpPr/>
          <p:nvPr/>
        </p:nvSpPr>
        <p:spPr>
          <a:xfrm rot="-1080000">
            <a:off x="320040" y="3154680"/>
            <a:ext cx="2779776" cy="1172718"/>
          </a:xfrm>
          <a:prstGeom prst="ellipse">
            <a:avLst/>
          </a:prstGeom>
          <a:ln w="15240">
            <a:solidFill>
              <a:srgbClr val="2B4A70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492758" y="3562960"/>
            <a:ext cx="434340" cy="434340"/>
          </a:xfrm>
          <a:prstGeom prst="ellipse">
            <a:avLst/>
          </a:prstGeom>
          <a:solidFill>
            <a:srgbClr val="1F5A8A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9212" y="3311042"/>
            <a:ext cx="112928" cy="112928"/>
          </a:xfrm>
          <a:prstGeom prst="ellipse">
            <a:avLst/>
          </a:prstGeom>
          <a:solidFill>
            <a:srgbClr val="FFCF4D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66928" y="4480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simulator: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48006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cockpit flight deck: fly every burn yourself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6400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Transfers &amp; Artemis  —  the capstone</a:t>
            </a:r>
            <a:endParaRPr lang="en-US" sz="31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1783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— students leave able to explain: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22860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cockpit, a delta-v budget, and a flight computer to measure yourself against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Rendezvous intuition earned by hand: to catch up, burn REVERSE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burns to GEO; three to the Moon, leading a moving target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and precision get real — then compare your flying to the computer's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6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Graduation: an Artemis-class mission, hand-flown to lunar orbit</a:t>
            </a:r>
            <a:endParaRPr lang="en-US" sz="16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41148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modules — and why you can trust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111E33"/>
          </a:solidFill>
          <a:ln w="12700">
            <a:solidFill>
              <a:srgbClr val="2B4A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72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C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add-ons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 editor — revise any exercise, publish per-class workbooks, revert any edit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analytics — see exactly which questions the class got wrong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worksheet PDFs and a 10-minute intro deck per module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Course-wide final quiz and completion certificate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63640" y="1371600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111E33"/>
          </a:solidFill>
          <a:ln w="12700">
            <a:solidFill>
              <a:srgbClr val="5FD0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37960" y="157276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trust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37960" y="2103120"/>
            <a:ext cx="4892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 + JavaScript — no packages, no build step, no database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offline / air-gap ready: every byte ships in the folder, zero outbound network calls (verified by automated test)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Cybersecurity-audited at every release during development — 48 automated security checks plus functional suites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DF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inspectable source — the audit log ships with the course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A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— both editions, PDFs, decks:   </a:t>
            </a:r>
            <a:pPr indent="0" marL="0">
              <a:buNone/>
            </a:pPr>
            <a:r>
              <a:rPr lang="en-US" sz="1600" b="1" u="sng" dirty="0">
                <a:solidFill>
                  <a:srgbClr val="5FD0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jasonss26.github.io/orbit-academy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6446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 Academy v5.5  ·  jasonss26.github.io/orbit-academy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56716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368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2026-09-21T10:20:27Z</dcterms:created>
  <dcterms:modified xsi:type="dcterms:W3CDTF">2026-09-21T10:20:27Z</dcterms:modified>
</cp:coreProperties>
</file>