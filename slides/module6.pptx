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44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1899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Module 6 is the most conceptually demanding in the course. Earth and Moon together create five balance points, halo orbits around nothing, resonant locks, and genuine chaos. Hard language rule the module obeys: explain all motion as real gravity plus sideways speed — the fictitious spin-force vocabulary is banned in this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Gateway and CAPSTONE make this immediately real: actual missions live at these mathematical points. Loiter points that are cheap to hold and far from our sensors are exactly where surprises could sit. And chaotic dynamics put a hard shelf life on any prediction — a theme Module 7 picks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Lagrange point is where Earth and Moon together give an object exactly the Moon's 27.3-day period, so it holds station on the rotating Earth-Moon line. At L1 the Moon cancels part of Earth's pull — a closer-in orbit can afford the slower beat; at L2 the pulls add and the farther point still matches it. Insist that balance never means zero net pull.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triangular points L4 and L5 are genuinely stable — nudge an object and it stays, which is why debris can collect there. The in-line points are golf-ball-on-a-basketball unstable, so spacecraft fly looping halo orbits around them and correct regularly. Near-rectilinear halo orbits — CAPSTONE now, Gateway next — are the flight-proven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Resonance is the other route to stability: TESS orbits Earth twice per lunar month, meeting the Moon on a schedule that makes its tugs cancel over time. No fuel, no balance point — just rhythm. It has kept a highly elongated science orbit stable for years.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Away from the special solutions, combined Earth-Moon gravity is chaotic in the technical sense: tiny initial differences grow exponentially. A close lunar flyby acts as a slingshot that can redirect or even eject an object entirely. The operational consequence is blunt — cislunar predictions expire quickly, so you must re-observe often.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force-balance scene answers the question every student asks — what exactly balances at L1 and L2. The fan-release chaos sandbox is live RK4 integration; let them re-run it and see different scatter. The libration zoo is maximum weirdness and a fitting finale; section 11 of the instructor guide is a deep-dive if questions get subtle.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Lagrange point is a place where combined gravity happens to demand the lunar period, so the point rides the rotating line forever. Stability is a separate question — two points forgive, three punish. Worksheet 6 lets students feel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777240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00" b="1" i="0">
                <a:solidFill>
                  <a:srgbClr val="FFCF4D"/>
                </a:solidFill>
                <a:latin typeface="Arial"/>
              </a:rPr>
              <a:t>ORBIT ACADEMY — CISLUNAR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7830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1" i="0">
                <a:solidFill>
                  <a:srgbClr val="7E93B8"/>
                </a:solidFill>
                <a:latin typeface="Arial"/>
              </a:rPr>
              <a:t>MODULE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6766560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4000" b="1" i="0">
                <a:solidFill>
                  <a:srgbClr val="5FD0FF"/>
                </a:solidFill>
                <a:latin typeface="Arial"/>
              </a:rPr>
              <a:t>Lagrange Points &amp; Complex Orbits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60520"/>
            <a:ext cx="59436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500" b="0" i="1">
                <a:solidFill>
                  <a:srgbClr val="CFE3FF"/>
                </a:solidFill>
                <a:latin typeface="Arial"/>
              </a:rPr>
              <a:t>Five points that keep the Moon's pace, orbits around empty space — and the chaos in between.</a:t>
            </a:r>
          </a:p>
        </p:txBody>
      </p:sp>
      <p:sp>
        <p:nvSpPr>
          <p:cNvPr id="6" name="Oval 5"/>
          <p:cNvSpPr/>
          <p:nvPr/>
        </p:nvSpPr>
        <p:spPr>
          <a:xfrm>
            <a:off x="7543800" y="2697479"/>
            <a:ext cx="4206240" cy="1554480"/>
          </a:xfrm>
          <a:prstGeom prst="ellipse">
            <a:avLst/>
          </a:prstGeom>
          <a:noFill/>
          <a:ln w="15875">
            <a:solidFill>
              <a:srgbClr val="5FD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458200" y="2286000"/>
            <a:ext cx="2377440" cy="2377440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0" y="2971800"/>
            <a:ext cx="1005840" cy="1005840"/>
          </a:xfrm>
          <a:prstGeom prst="ellipse">
            <a:avLst/>
          </a:prstGeom>
          <a:solidFill>
            <a:srgbClr val="0E2A4A"/>
          </a:solidFill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1690604" y="341528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9596628" y="2235708"/>
            <a:ext cx="100584" cy="100584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Why you care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1106424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100" b="1" i="0" dirty="0">
                <a:solidFill>
                  <a:srgbClr val="EAF4FF"/>
                </a:solidFill>
                <a:latin typeface="Arial"/>
              </a:rPr>
              <a:t>The next high ground is a halo orbit around a point </a:t>
            </a:r>
            <a:r>
              <a:rPr lang="en-US" sz="2100" b="1" dirty="0">
                <a:solidFill>
                  <a:srgbClr val="EAF4FF"/>
                </a:solidFill>
                <a:latin typeface="Arial"/>
              </a:rPr>
              <a:t>in empty space</a:t>
            </a:r>
            <a:r>
              <a:rPr sz="2100" b="1" i="0" dirty="0">
                <a:solidFill>
                  <a:srgbClr val="EAF4FF"/>
                </a:solidFill>
                <a:latin typeface="Arial"/>
              </a:rPr>
              <a:t>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2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Gateway flies one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NASA's lunar station will loop an unstable point (an NRHO) and nudge to stay.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1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626864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Natural loiter spots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cheap to stay near, hard for ground sensors to watch — on every planner's map.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93023" y="3063240"/>
            <a:ext cx="3593592" cy="228600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49055" y="3337560"/>
            <a:ext cx="3081528" cy="1737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 i="0">
                <a:solidFill>
                  <a:srgbClr val="FFCF4D"/>
                </a:solidFill>
                <a:latin typeface="Arial"/>
              </a:rPr>
              <a:t>Chaos is real</a:t>
            </a:r>
          </a:p>
          <a:p>
            <a:pPr algn="l"/>
            <a:r>
              <a:rPr sz="1250" b="0" i="0">
                <a:solidFill>
                  <a:srgbClr val="CFE3FF"/>
                </a:solidFill>
                <a:latin typeface="Arial"/>
              </a:rPr>
              <a:t>near-identical cislunar starts diverge within days; prediction has a shelf life.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39" y="676656"/>
            <a:ext cx="10817565" cy="12464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 dirty="0">
                <a:solidFill>
                  <a:srgbClr val="5FD0FF"/>
                </a:solidFill>
                <a:latin typeface="Arial"/>
              </a:rPr>
              <a:t>Five points, one beat: 27.3 days</a:t>
            </a:r>
            <a:r>
              <a:rPr lang="en-US" sz="2700" b="1" i="0" dirty="0">
                <a:solidFill>
                  <a:srgbClr val="5FD0FF"/>
                </a:solidFill>
                <a:latin typeface="Arial"/>
              </a:rPr>
              <a:t>. </a:t>
            </a:r>
            <a:br>
              <a:rPr lang="en-US" sz="2700" b="1" i="0" dirty="0">
                <a:solidFill>
                  <a:srgbClr val="5FD0FF"/>
                </a:solidFill>
                <a:latin typeface="Arial"/>
              </a:rPr>
            </a:br>
            <a:r>
              <a:rPr lang="en-US" sz="2700" b="1" i="0" dirty="0">
                <a:solidFill>
                  <a:srgbClr val="5FD0FF"/>
                </a:solidFill>
                <a:latin typeface="Arial"/>
              </a:rPr>
              <a:t>The “Lagrange points” are orbital locations where the combined effect of Earth and moon conspire to produce one-month periods</a:t>
            </a:r>
            <a:endParaRPr sz="2700" b="1" i="0" dirty="0">
              <a:solidFill>
                <a:srgbClr val="5FD0FF"/>
              </a:solidFill>
              <a:latin typeface="Arial"/>
            </a:endParaRP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9514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802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L1 ~84.9%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of the way to the Moon (~326,000 km)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3562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1850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L2 ~116.8%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beyond the Moon, on the same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76107" y="2148840"/>
            <a:ext cx="352044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358987" y="2148840"/>
            <a:ext cx="315468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27.3 d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every Lagrange point keeps the Moon's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At L1 the Moon's pull opposes Earth's; at L2 it adds. Either way the leftover pull is exactly what a 27.3-day loop needs — 'balance' never means zero gravity.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Stable vs unstable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783080"/>
            <a:ext cx="5358384" cy="28346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2057400"/>
            <a:ext cx="4773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50" b="1" i="0">
                <a:solidFill>
                  <a:srgbClr val="5FD0FF"/>
                </a:solidFill>
                <a:latin typeface="Arial"/>
              </a:rPr>
              <a:t>L4 / L5 — stable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a ball resting in a bowl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nudged objects stay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dust and debris can gather there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1928" y="1783080"/>
            <a:ext cx="5358384" cy="28346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74536" y="2057400"/>
            <a:ext cx="4773168" cy="2286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1200"/>
              </a:spcAft>
            </a:pPr>
            <a:r>
              <a:rPr sz="1650" b="1" i="0">
                <a:solidFill>
                  <a:srgbClr val="FFCF4D"/>
                </a:solidFill>
                <a:latin typeface="Arial"/>
              </a:rPr>
              <a:t>L1 / L2 / L3 — unstable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a golf ball balanced on a basketball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drift grows — you must correct</a:t>
            </a:r>
          </a:p>
          <a:p>
            <a:pPr algn="l">
              <a:spcAft>
                <a:spcPts val="900"/>
              </a:spcAft>
            </a:pPr>
            <a:r>
              <a:rPr sz="1300" b="0" i="0">
                <a:solidFill>
                  <a:srgbClr val="CFE3FF"/>
                </a:solidFill>
                <a:latin typeface="Arial"/>
              </a:rPr>
              <a:t>missions fly halo / NRHO loops and nudge often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11064240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Gateway's NRHO is exactly this: a looping orbit around an unstable point, plus regular station-keeping.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Resonance: TESS's 2:1 lock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36382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54670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2 : 1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two TESS orbits for every lunar month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55867" y="2148840"/>
            <a:ext cx="4572000" cy="214884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38747" y="2148840"/>
            <a:ext cx="4206240" cy="21488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Aft>
                <a:spcPts val="800"/>
              </a:spcAft>
            </a:pPr>
            <a:r>
              <a:rPr sz="3300" b="1" i="0">
                <a:solidFill>
                  <a:srgbClr val="FFCF4D"/>
                </a:solidFill>
                <a:latin typeface="Arial"/>
              </a:rPr>
              <a:t>13.66 d</a:t>
            </a:r>
          </a:p>
          <a:p>
            <a:pPr algn="ctr"/>
            <a:r>
              <a:rPr sz="1250" b="0" i="0">
                <a:solidFill>
                  <a:srgbClr val="CFE3FF"/>
                </a:solidFill>
                <a:latin typeface="Arial"/>
              </a:rPr>
              <a:t>its period — exactly half the Moon's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709160"/>
            <a:ext cx="110642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1">
                <a:solidFill>
                  <a:srgbClr val="CFE3FF"/>
                </a:solidFill>
                <a:latin typeface="Arial"/>
              </a:rPr>
              <a:t>The rhythm arranges the Moon's repeated tugs to cancel over time — stability by timing, not by balance.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And in between: chaos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640080" y="170992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9164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Tiny differences blow up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near-identical releases scatter beyond recognition within days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267004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65176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Slingshots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a close lunar pass can fling an object anywhere — even out of the Earth–Moon system</a:t>
            </a:r>
          </a:p>
        </p:txBody>
      </p:sp>
      <p:sp>
        <p:nvSpPr>
          <p:cNvPr id="10" name="Oval 9"/>
          <p:cNvSpPr/>
          <p:nvPr/>
        </p:nvSpPr>
        <p:spPr>
          <a:xfrm>
            <a:off x="640080" y="3630168"/>
            <a:ext cx="384048" cy="384048"/>
          </a:xfrm>
          <a:prstGeom prst="ellipse">
            <a:avLst/>
          </a:prstGeom>
          <a:solidFill>
            <a:srgbClr val="13294A"/>
          </a:solidFill>
          <a:ln w="12700">
            <a:solidFill>
              <a:srgbClr val="FFCF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sz="1300" b="1" i="0">
                <a:solidFill>
                  <a:srgbClr val="FFCF4D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611880"/>
            <a:ext cx="10332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400" b="1" i="0">
                <a:solidFill>
                  <a:srgbClr val="EAF4FF"/>
                </a:solidFill>
                <a:latin typeface="Arial"/>
              </a:rPr>
              <a:t>The SDA cost</a:t>
            </a:r>
            <a:r>
              <a:rPr sz="1300" b="0" i="0">
                <a:solidFill>
                  <a:srgbClr val="7E93B8"/>
                </a:solidFill>
                <a:latin typeface="Arial"/>
              </a:rPr>
              <a:t>  —  </a:t>
            </a:r>
            <a:r>
              <a:rPr sz="1250" b="0" i="0">
                <a:solidFill>
                  <a:srgbClr val="CFE3FF"/>
                </a:solidFill>
                <a:latin typeface="Arial"/>
              </a:rPr>
              <a:t>chaotic orbits go stale fast, so cislunar custody demands frequent looks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84048"/>
            <a:ext cx="8686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100" b="1" i="0">
                <a:solidFill>
                  <a:srgbClr val="FFCF4D"/>
                </a:solidFill>
                <a:latin typeface="Arial"/>
              </a:rPr>
              <a:t>MODULE 6 · ORBIT ACADEMY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76656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700" b="1" i="0">
                <a:solidFill>
                  <a:srgbClr val="5FD0FF"/>
                </a:solidFill>
                <a:latin typeface="Arial"/>
              </a:rPr>
              <a:t>What you'll do</a:t>
            </a:r>
          </a:p>
        </p:txBody>
      </p:sp>
      <p:sp>
        <p:nvSpPr>
          <p:cNvPr id="4" name="Oval 3"/>
          <p:cNvSpPr/>
          <p:nvPr/>
        </p:nvSpPr>
        <p:spPr>
          <a:xfrm>
            <a:off x="10835640" y="484632"/>
            <a:ext cx="914400" cy="347472"/>
          </a:xfrm>
          <a:prstGeom prst="ellipse">
            <a:avLst/>
          </a:prstGeom>
          <a:noFill/>
          <a:ln w="12700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708892" y="617219"/>
            <a:ext cx="82296" cy="82296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48640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77240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PREDICT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call your shot first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0156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9475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02335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TRY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run it in the simulator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810512"/>
            <a:ext cx="411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200" b="1" i="0">
                <a:solidFill>
                  <a:srgbClr val="FFCF4D"/>
                </a:solidFill>
                <a:latin typeface="Arial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040879" y="1645920"/>
            <a:ext cx="2834640" cy="960120"/>
          </a:xfrm>
          <a:prstGeom prst="roundRect">
            <a:avLst>
              <a:gd name="adj" fmla="val 7000"/>
            </a:avLst>
          </a:prstGeom>
          <a:solidFill>
            <a:srgbClr val="0A1830"/>
          </a:solidFill>
          <a:ln w="12700">
            <a:solidFill>
              <a:srgbClr val="1E3A5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69479" y="1645920"/>
            <a:ext cx="2377440" cy="9601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 i="0">
                <a:solidFill>
                  <a:srgbClr val="39D353"/>
                </a:solidFill>
                <a:latin typeface="Arial"/>
              </a:rPr>
              <a:t>OBSERVE</a:t>
            </a:r>
          </a:p>
          <a:p>
            <a:pPr algn="l"/>
            <a:r>
              <a:rPr sz="1050" b="0" i="0">
                <a:solidFill>
                  <a:srgbClr val="7E93B8"/>
                </a:solidFill>
                <a:latin typeface="Arial"/>
              </a:rPr>
              <a:t>note what actually changed</a:t>
            </a:r>
          </a:p>
        </p:txBody>
      </p:sp>
      <p:sp>
        <p:nvSpPr>
          <p:cNvPr id="14" name="Oval 13"/>
          <p:cNvSpPr/>
          <p:nvPr/>
        </p:nvSpPr>
        <p:spPr>
          <a:xfrm>
            <a:off x="690371" y="3278124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05840" y="3200400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Read the 1-D force-balance view at L1 and L2 — see whose pull does what.</a:t>
            </a:r>
          </a:p>
        </p:txBody>
      </p:sp>
      <p:sp>
        <p:nvSpPr>
          <p:cNvPr id="16" name="Oval 15"/>
          <p:cNvSpPr/>
          <p:nvPr/>
        </p:nvSpPr>
        <p:spPr>
          <a:xfrm>
            <a:off x="690371" y="3991356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05840" y="3913632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Fly a near-rectilinear halo orbit, the path Gateway will use.</a:t>
            </a:r>
          </a:p>
        </p:txBody>
      </p:sp>
      <p:sp>
        <p:nvSpPr>
          <p:cNvPr id="18" name="Oval 17"/>
          <p:cNvSpPr/>
          <p:nvPr/>
        </p:nvSpPr>
        <p:spPr>
          <a:xfrm>
            <a:off x="690371" y="4704588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626864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Release a cluster of objects and watch it scatter — rotate for the 3-D view.</a:t>
            </a:r>
          </a:p>
        </p:txBody>
      </p:sp>
      <p:sp>
        <p:nvSpPr>
          <p:cNvPr id="20" name="Oval 19"/>
          <p:cNvSpPr/>
          <p:nvPr/>
        </p:nvSpPr>
        <p:spPr>
          <a:xfrm>
            <a:off x="690371" y="5417820"/>
            <a:ext cx="118872" cy="118872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5340096"/>
            <a:ext cx="1060704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1350" b="0" i="0">
                <a:solidFill>
                  <a:srgbClr val="CFE3FF"/>
                </a:solidFill>
                <a:latin typeface="Arial"/>
              </a:rPr>
              <a:t>Tour the libration zoo: whole families of orbits around empty points, set by two knobs.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4953304" y="548640"/>
            <a:ext cx="2286000" cy="822960"/>
          </a:xfrm>
          <a:prstGeom prst="ellipse">
            <a:avLst/>
          </a:prstGeom>
          <a:noFill/>
          <a:ln w="15875">
            <a:solidFill>
              <a:srgbClr val="2A4A7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7189012" y="909828"/>
            <a:ext cx="100584" cy="100584"/>
          </a:xfrm>
          <a:prstGeom prst="ellipse">
            <a:avLst/>
          </a:prstGeom>
          <a:solidFill>
            <a:srgbClr val="FFCF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6055156" y="507492"/>
            <a:ext cx="82296" cy="82296"/>
          </a:xfrm>
          <a:prstGeom prst="ellipse">
            <a:avLst/>
          </a:prstGeom>
          <a:solidFill>
            <a:srgbClr val="39D3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50" b="1" i="0">
                <a:solidFill>
                  <a:srgbClr val="FFCF4D"/>
                </a:solidFill>
                <a:latin typeface="Arial"/>
              </a:rPr>
              <a:t>THE ONE THING TO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743200"/>
            <a:ext cx="969264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900" b="1" i="0">
                <a:solidFill>
                  <a:srgbClr val="5FD0FF"/>
                </a:solidFill>
                <a:latin typeface="Arial"/>
              </a:rPr>
              <a:t>A Lagrange point isn't zero gravity — it's where the leftover pull is exactly the Moon's 27.3-day beat.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12080"/>
            <a:ext cx="99669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500" b="1" i="0">
                <a:solidFill>
                  <a:srgbClr val="39D353"/>
                </a:solidFill>
                <a:latin typeface="Arial"/>
              </a:rPr>
              <a:t>Open Worksheet 6 and keep the simulator beside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977</Words>
  <Application>Microsoft Macintosh PowerPoint</Application>
  <PresentationFormat>Widescreen</PresentationFormat>
  <Paragraphs>73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Stubbs, Christopher William</cp:lastModifiedBy>
  <cp:revision>2</cp:revision>
  <dcterms:created xsi:type="dcterms:W3CDTF">2013-01-27T09:14:16Z</dcterms:created>
  <dcterms:modified xsi:type="dcterms:W3CDTF">2026-07-20T13:34:53Z</dcterms:modified>
  <cp:category/>
</cp:coreProperties>
</file>